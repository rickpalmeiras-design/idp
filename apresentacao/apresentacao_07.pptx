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07205e0-aed2-a25e-ccc7-0809e7ec4ae1}">
          <p14:sldIdLst>
            <p14:sldId id="256"/>
            <p14:sldId id="257"/>
            <p14:sldId id="258"/>
          </p14:sldIdLst>
        </p14:section>
        <p14:section name="Dados e método" id="{4fe7eb8e-0078-e5ed-1814-83f35fcddd14}">
          <p14:sldIdLst>
            <p14:sldId id="259"/>
            <p14:sldId id="260"/>
            <p14:sldId id="261"/>
            <p14:sldId id="262"/>
          </p14:sldIdLst>
        </p14:section>
        <p14:section name="Resultados" id="{3aa4f296-f69e-6f97-d85b-3bbcd9cf56c3}">
          <p14:sldIdLst>
            <p14:sldId id="263"/>
            <p14:sldId id="264"/>
            <p14:sldId id="265"/>
          </p14:sldIdLst>
        </p14:section>
        <p14:section name="Conclusão" id="{a52fc53e-a935-c5a7-b1e1-277593d98ed7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Pessoas-transições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Pareamento (todas as origens)</c:v>
                  </c:pt>
                  <c:pt idx="1">
                    <c:v>Saída do emprego (pares)</c:v>
                  </c:pt>
                  <c:pt idx="2">
                    <c:v>Muda de ocupação (destino ocupado)</c:v>
                  </c:pt>
                  <c:pt idx="3">
                    <c:v>Margens direcionais (AIOE nos dois lados)</c:v>
                  </c:pt>
                  <c:pt idx="4">
                    <c:v>Informalização (origem formal)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3963359</c:v>
                </c:pt>
                <c:pt idx="1">
                  <c:v>3178582</c:v>
                </c:pt>
                <c:pt idx="2">
                  <c:v>2882225</c:v>
                </c:pt>
                <c:pt idx="3">
                  <c:v>2879139</c:v>
                </c:pt>
                <c:pt idx="4">
                  <c:v>1677310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000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Ocupações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Sheet1!$A$2:$A$26</c:f>
              <c:multiLvlStrCache>
                <c:ptCount val="25"/>
                <c:lvl>
                  <c:pt idx="0">
                    <c:v>-2,1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-1,6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-1,0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>-0,4</c:v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>0,2</c:v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>0,7</c:v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>1,3</c:v>
                  </c:pt>
                </c:lvl>
              </c:multiLvlStrCache>
            </c:multiLvl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</c:v>
                </c:pt>
                <c:pt idx="1">
                  <c:v>1</c:v>
                </c:pt>
                <c:pt idx="2">
                  <c:v>5</c:v>
                </c:pt>
                <c:pt idx="3">
                  <c:v>6</c:v>
                </c:pt>
                <c:pt idx="4">
                  <c:v>11</c:v>
                </c:pt>
                <c:pt idx="5">
                  <c:v>12</c:v>
                </c:pt>
                <c:pt idx="6">
                  <c:v>13</c:v>
                </c:pt>
                <c:pt idx="7">
                  <c:v>42</c:v>
                </c:pt>
                <c:pt idx="8">
                  <c:v>18</c:v>
                </c:pt>
                <c:pt idx="9">
                  <c:v>13</c:v>
                </c:pt>
                <c:pt idx="10">
                  <c:v>23</c:v>
                </c:pt>
                <c:pt idx="11">
                  <c:v>19</c:v>
                </c:pt>
                <c:pt idx="12">
                  <c:v>14</c:v>
                </c:pt>
                <c:pt idx="13">
                  <c:v>11</c:v>
                </c:pt>
                <c:pt idx="14">
                  <c:v>17</c:v>
                </c:pt>
                <c:pt idx="15">
                  <c:v>25</c:v>
                </c:pt>
                <c:pt idx="16">
                  <c:v>13</c:v>
                </c:pt>
                <c:pt idx="17">
                  <c:v>12</c:v>
                </c:pt>
                <c:pt idx="18">
                  <c:v>18</c:v>
                </c:pt>
                <c:pt idx="19">
                  <c:v>11</c:v>
                </c:pt>
                <c:pt idx="20">
                  <c:v>7</c:v>
                </c:pt>
                <c:pt idx="21">
                  <c:v>34</c:v>
                </c:pt>
                <c:pt idx="22">
                  <c:v>32</c:v>
                </c:pt>
                <c:pt idx="23">
                  <c:v>38</c:v>
                </c:pt>
                <c:pt idx="24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9525" cap="flat">
              <a:solidFill>
                <a:srgbClr val="DCE6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Pré (2019T1 a 2022T3)</c:v>
                </c:pt>
              </c:strCache>
            </c:strRef>
          </c:tx>
          <c:spPr>
            <a:solidFill>
              <a:srgbClr val="A9CD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23.6</c:v>
                </c:pt>
                <c:pt idx="1">
                  <c:v>20.9</c:v>
                </c:pt>
                <c:pt idx="2">
                  <c:v>12.8</c:v>
                </c:pt>
                <c:pt idx="3">
                  <c:v>12.9</c:v>
                </c:pt>
                <c:pt idx="4">
                  <c:v>5.2</c:v>
                </c:pt>
                <c:pt idx="5">
                  <c:v>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Pós (2022T4 a 2025T3)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Muda de ocupação (3 dígitos)</c:v>
                  </c:pt>
                  <c:pt idx="1">
                    <c:v>Muda de ocupação (2 dígitos)</c:v>
                  </c:pt>
                  <c:pt idx="2">
                    <c:v>Transição para menor AIOE</c:v>
                  </c:pt>
                  <c:pt idx="3">
                    <c:v>Transição para maior AIOE</c:v>
                  </c:pt>
                  <c:pt idx="4">
                    <c:v>De formal para informal</c:v>
                  </c:pt>
                  <c:pt idx="5">
                    <c:v>Saída do emprego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31.8</c:v>
                </c:pt>
                <c:pt idx="1">
                  <c:v>28</c:v>
                </c:pt>
                <c:pt idx="2">
                  <c:v>17.4</c:v>
                </c:pt>
                <c:pt idx="3">
                  <c:v>17.4</c:v>
                </c:pt>
                <c:pt idx="4">
                  <c:v>8.8</c:v>
                </c:pt>
                <c:pt idx="5">
                  <c:v>8.1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0281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Pós − pré</c:v>
                </c:pt>
              </c:strCache>
            </c:strRef>
          </c:tx>
          <c:spPr>
            <a:solidFill>
              <a:srgbClr val="00643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028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6437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  <c:pt idx="4">
                    <c:v>Q5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-3.6</c:v>
                </c:pt>
                <c:pt idx="1">
                  <c:v>-4.97</c:v>
                </c:pt>
                <c:pt idx="2">
                  <c:v>-6.42</c:v>
                </c:pt>
                <c:pt idx="3">
                  <c:v>-8.06</c:v>
                </c:pt>
                <c:pt idx="4">
                  <c:v>-5.79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1028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0281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736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 de 12 · tempo previsto 0:30 · ao terminar, o relógio marca 0:30]
Obrigado a todos pela presença, e obrigado ao professor Danny, meu orientador. Sou Ricardo Carvalho. Nos próximos quinze minutos, vou contar uma história em três partes: o contexto, a tensão e a resposta. A pergunta é simples. Depois do ChatGPT, o trabalho no Brasil mudou mais para quem está nas ocupações mais expostas à inteligência artificial?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2 de 12 · CONTEXTO · tempo previsto 1:40 · ao terminar, o relógio marca 2:10]
Começo pelo contexto. Em 30 de novembro de 2022, o ChatGPT foi aberto ao público. De um dia para o outro, uma ferramenta que escreve, resume e programa ficou ao alcance de qualquer pessoa.
Para quem estuda o mercado de trabalho, esse marco é útil. Ele tem data certa, vale para o país inteiro e não depende da decisão de nenhum trabalhador da pesquisa.
Daí vem a pergunta da dissertação: quem trabalha em ocupações mais expostas à IA passou a mudar de trabalho de um jeito diferente depois desse marco?
Por que isso importa? Porque mudar de trabalho mexe com renda, com informalidade e com o tipo de qualificação que o país precisa oferecer. E quase tudo o que se sabe vem de países ricos.
Duas palavras são importantes. Exposição é uma característica da ocupação, e não da pessoa. Ela mede o quanto as tarefas da ocupação se parecem com o que a IA faz. Não diz se a pessoa usa IA, nem se ela vai perder o emprego. E transição é o que acontece com a mesma pessoa de um trimestre para o seguinte.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3 de 12 · CONTEXTO · tempo previsto 1:15 · ao terminar, o relógio marca 3:25]
O que já se sabe sobre isso? A literatura anda em três frentes.
A primeira mede a exposição. Felten, Raj e Seamans criaram o índice que eu uso, chamado AIOE. Ele liga as habilidades de cada ocupação ao que a IA consegue fazer. Eloundou e coautores fizeram algo parecido para os modelos de linguagem.
A segunda observa quem já adotou a IA. Numa central de atendimento, a produtividade subiu. Na Dinamarca, dois anos depois, salários e horas praticamente não mudaram.
A terceira me dá o método e o contexto brasileiro, em que as pessoas entram e saem da informalidade com frequência.
E aqui está a lacuna. No Brasil, não existe uma pesquisa grande que pergunte quem usa IA no trabalho. Então eu uso o que existe: a exposição da ocupação, numa pesquisa feita nos domicílios.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4 de 12 · TENSÃO · tempo previsto 1:10 · ao terminar, o relógio marca 4:35]
Agora começa a tensão, porque responder a essa pergunta não é simples. O primeiro obstáculo está nos dados.
Uso a PNAD Contínua do IBGE, de 2019 a 2025. Cada domicílio é entrevistado cinco vezes, uma por trimestre. Isso permite acompanhar a mesma pessoa. O problema é que a pesquisa não traz um número de identificação confiável para cada pessoa. Então eu reconstruí os pares: mesmo domicílio, mesmo sexo, mesma data de aniversário e idade coerente.
O gráfico mostra o tamanho da base. São quase quatro milhões de pares possíveis, e cerca de oitenta por cento encontram a entrevista seguinte. Cada desfecho usa a sua própria parte da base, por isso as barras têm tamanhos diferentes.
Um detalhe: eu conto transições, e não pessoas. A mesma pessoa pode aparecer até quatro vezes.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5 de 12 · TENSÃO · tempo previsto 1:20 · ao terminar, o relógio marca 5:55]
O segundo obstáculo é a medida. O índice de exposição foi feito para as ocupações dos Estados Unidos, e a PNAD usa a classificação brasileira. Por isso construí uma ponte em duas etapas: da classificação brasileira para a internacional, e da internacional para a americana. Quando uma ocupação brasileira corresponde a várias americanas, cada uma recebe o mesmo peso. É uma escolha minha, e eu a declaro.
A cobertura ficou boa: 416 ocupações recebem o índice, e só cerca de um por cento da amostra fica de fora. [Aponte para o histograma.] O gráfico mostra que as ocupações se espalham por toda a escala.
E há um terceiro obstáculo. As ocupações mais expostas à IA também são as que mais podem ser feitas de casa. A correlação é de 0,7. Por isso o teletrabalho entra no modelo, para que a IA não leve o crédito pelo que foi efeito da pandemia.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6 de 12 · TENSÃO · tempo previsto 1:00 · ao terminar, o relógio marca 6:55]
Para saber se o trabalho mudou, olho para sete desfechos, em três grupos.
O primeiro é o vínculo. A pessoa saiu do emprego? Passou do emprego formal para o informal? E, como controle, ela foi encontrada de novo na entrevista seguinte?
O segundo é a mobilidade: a pessoa mudou de ocupação?
O terceiro é a direção: ela foi para uma ocupação menos exposta à IA, ou para uma mais exposta?
Duas regras. Quando não vejo o destino, não conto como se a pessoa tivesse ficado parada. E as duas direções sempre se leem juntas, porque quem está no topo da exposição tem mais espaço para descer do que para subir.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7 de 12 · TENSÃO · tempo previsto 1:20 · ao terminar, o relógio marca 8:15]
O último obstáculo é o desenho. Não existe um grupo que recebeu a IA e outro que não recebeu. O ChatGPT chegou para todos no mesmo dia. O que muda é a intensidade: algumas ocupações estão mais expostas do que outras.
Por isso uso diferenças em diferenças com tratamento contínuo. Em palavras simples: comparo o antes e o depois do marco, e pergunto se essa mudança foi maior nas ocupações mais expostas. O antes tem quinze trimestres, e o depois tem doze.
O número que importa é o beta, em destaque na equação. Ele diz quantos pontos percentuais a mais cada desfecho mudou, para cada unidade a mais de exposição.
O modelo também leva em conta o teletrabalho, a idade, a ocupação de origem, o estado em cada trimestre e características como sexo, escolaridade e setor. E os erros são calculados por área de coleta, em mais de trinta mil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8 de 12 · TENSÃO · tempo previsto 1:15 · ao terminar, o relógio marca 9:30]
Antes de qualquer modelo, vamos olhar os dados brutos. E aqui a tensão aumenta.
[Aponte para o gráfico de barras deitadas.] Aqui estão as médias antes e depois do marco. Mudar de ocupação ficou bem mais comum: passou de cerca de 24 para 32 por cento. Ir para uma ocupação menos exposta subiu, mas ir para uma mais exposta subiu na mesma medida. A passagem do formal para o informal também subiu. Só a saída do emprego ficou praticamente parada.
[Aponte para o gráfico das cinco faixas, Q1 a Q5.] Agora, as cinco faixas de exposição, da menor para a maior. Em todas elas, ficar na mesma faixa ficou menos comum.
Ou seja: a mobilidade subiu para todo mundo, e não só para quem está mais exposto à IA. Essa é a tensão do trabalho. Se tudo se mexeu, a IA explica alguma parte desse movimento? É isso que o modelo vai responder.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9 de 12 · RESOLUÇÃO · tempo previsto 1:30 · ao terminar, o relógio marca 11:00]
E esta é a resposta principal. Cada ponto do gráfico é o beta de um desfecho, e a linha em volta é a margem de erro.
[Aponte para o primeiro ponto do gráfico.] O resultado mais forte é a direção. Quanto mais exposta a ocupação de origem, mais as pessoas passaram a ir para ocupações menos expostas. Para cada unidade a mais de exposição, essa transição subiu cerca de 2,2 pontos percentuais a mais. Não é pouco: equivale a cerca de um oitavo da taxa do período depois do marco. [Aponte para o último ponto do gráfico.] E o movimento contrário, ir para uma ocupação mais exposta, ficou 1,4 ponto menor.
Mudar de ocupação também ficou um pouco mais comum nas ocupações mais expostas, quase um ponto a mais.
Agora, duas ressalvas, para ser honesto. A primeira: parte do resultado de direção é mecânica, porque quem já está no topo tem mais espaço para descer. A segunda: são sete testes ao mesmo tempo, sem correção para isso. O resultado mais fraco, o de mudança de ocupação em dois dígitos, não deve ser citado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10 de 12 · RESOLUÇÃO · tempo previsto 1:20 · ao terminar, o relógio marca 12:20]
E o emprego? Aqui está a surpresa. [Aponte para os dois primeiros números.] Era de se esperar que os mais expostos perdessem o emprego ou caíssem na informalidade. Não foi o que apareceu. Mais exposição veio junto com um pouco menos de saída do emprego e menos passagem do formal para o informal.
O terceiro número mostra que, na informalidade, quem aparece associado a mais informalização é o teletrabalho, e não a IA. Como os dois índices têm escalas diferentes, não dá para dizer qual força pesa mais.
Uma explicação possível vem de Autor e Thompson: a tecnologia pode manter o emprego e mudar o salário. Mas eu não observo salários. Então isso é uma hipótese, e não um teste.
Por fim, o controle. A chance de reencontrar a pessoa quase variou com a exposição, perto do limite de significância. Por isso não posso descartar que as perdas de entrevista influenciem o resultado.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11 de 12 · RESOLUÇÃO · tempo previsto 1:20 · ao terminar, o relógio marca 13:40]
Então, o que esses resultados permitem dizer, e o que não permitem?
Eles permitem dizer três coisas. A mobilidade subiu para todos. Existe um gradiente: quanto mais exposta a ocupação, mais as pessoas foram para ocupações menos expostas, cerca de dois pontos por unidade de exposição. E o vínculo dos mais expostos não piorou.
Eles não permitem dizer que a IA causou isso. Ainda falta o estudo de evento, que testa se as ocupações já se comportavam de forma diferente antes do marco. Eu não observo quem usa IA, só quem está exposto. E o marco é um só, para o país inteiro.
E há o limite mais sério. No começo de 2020, justamente quando a entrevista passou a ser por telefone, a taxa medida de mudança de ocupação caiu pela metade, de 30 para 15 por cento. Ela só voltou no fim de 2021. A causa dessa quebra ainda não está demonstrada.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 12 de 12 · RESOLUÇÃO · tempo previsto 1:20 · ao terminar, o relógio marca 15:00]
Para fechar, a resposta em três níveis.
Primeiro, o que os dados mostram: depois do ChatGPT, a mobilidade subiu para todos, e não só para os mais expostos.
Segundo, a associação: existe um gradiente de cerca de dois pontos por unidade de exposição, em direção a ocupações menos expostas. E o vínculo não piorou.
Terceiro, a causalidade: o desenho atual ainda não permite afirmá-la.
O que eu entrego hoje é uma descrição cuidadosa e um caminho claro para chegar à resposta causal, se ela existir. Esse caminho tem cinco passos, em ordem. Primeiro, tratar a quebra de 2020 e 2021. Segundo, o estudo de evento. Terceiro, os testes de sensibilidade. Quarto, uma medida feita para modelos de linguagem e um placebo com o teletrabalho. Quinto, métodos próprios para tratamento contínuo. Salários e outras extensões vêm depois.
Muito obrigado. Fico à disposição para as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ERT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Título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Subtítulo</a:t>
            </a: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Título do slide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Exposição ocupacional à IA e transições no mercado de trabalho brasileiro · IDP ·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nferência maior"/>
          <p:cNvSpPr/>
          <p:nvPr/>
        </p:nvSpPr>
        <p:spPr>
          <a:xfrm>
            <a:off x="9052560" y="2743200"/>
            <a:ext cx="5852160" cy="5852160"/>
          </a:xfrm>
          <a:prstGeom prst="ellipse">
            <a:avLst/>
          </a:prstGeom>
          <a:solidFill>
            <a:schemeClr val="accent1">
              <a:alpha val="30000"/>
            </a:schemeClr>
          </a:solidFill>
          <a:ln w="19050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3" name="Circunferência menor"/>
          <p:cNvSpPr/>
          <p:nvPr/>
        </p:nvSpPr>
        <p:spPr>
          <a:xfrm>
            <a:off x="10241280" y="4114800"/>
            <a:ext cx="3657600" cy="3657600"/>
          </a:xfrm>
          <a:prstGeom prst="ellipse">
            <a:avLst/>
          </a:prstGeom>
          <a:solidFill>
            <a:schemeClr val="accent1">
              <a:alpha val="40000"/>
            </a:schemeClr>
          </a:solidFill>
          <a:ln w="12700">
            <a:solidFill>
              <a:schemeClr val="accent4">
                <a:alpha val="50000"/>
              </a:schemeClr>
            </a:solidFill>
            <a:prstDash val="solid"/>
          </a:ln>
        </p:spPr>
      </p:sp>
      <p:sp>
        <p:nvSpPr>
          <p:cNvPr id="4" name="Rótulo"/>
          <p:cNvSpPr txBox="1"/>
          <p:nvPr/>
        </p:nvSpPr>
        <p:spPr>
          <a:xfrm>
            <a:off x="822960" y="86868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DISSERTAÇÃO DE MESTRADO · RESULTADOS PRELIMINARES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1417320"/>
            <a:ext cx="8778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Exposição ocupacional à inteligência artificial e transições no mercado de trabalho brasileiro</a:t>
            </a:r>
            <a:endParaRPr lang="en-US" sz="3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384048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evidências de painel da PNAD Contínua após o lançamento público do ChatGPT</a:t>
            </a:r>
            <a:endParaRPr lang="en-US" sz="2000" dirty="0"/>
          </a:p>
        </p:txBody>
      </p:sp>
      <p:sp>
        <p:nvSpPr>
          <p:cNvPr id="7" name="Autoria"/>
          <p:cNvSpPr txBox="1"/>
          <p:nvPr/>
        </p:nvSpPr>
        <p:spPr>
          <a:xfrm>
            <a:off x="822960" y="50749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Ricardo Carvalho</a:t>
            </a:r>
            <a:endParaRPr lang="en-US" sz="2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4"/>
                </a:solidFill>
              </a:rPr>
              <a:t>Orientador: Prof. Dr. Danny de Castro Soares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Instituto Brasileiro de Ensino, Desenvolvimento e Pesquisa · Brasília · 2026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IA chegou para todos no mesmo dia. O trabalho mudou?</a:t>
            </a:r>
            <a:endParaRPr lang="en-US" sz="3000" dirty="0"/>
          </a:p>
        </p:txBody>
      </p:sp>
      <p:sp>
        <p:nvSpPr>
          <p:cNvPr id="3" name="Carta: Contexto"/>
          <p:cNvSpPr/>
          <p:nvPr/>
        </p:nvSpPr>
        <p:spPr>
          <a:xfrm>
            <a:off x="548640" y="1371600"/>
            <a:ext cx="11091672" cy="960120"/>
          </a:xfrm>
          <a:prstGeom prst="roundRect">
            <a:avLst>
              <a:gd name="adj" fmla="val 9524"/>
            </a:avLst>
          </a:prstGeom>
          <a:solidFill>
            <a:schemeClr val="accent2"/>
          </a:solidFill>
          <a:ln/>
        </p:spPr>
        <p:txBody>
          <a:bodyPr wrap="square" lIns="1524" tIns="3810" rIns="3810" bIns="1524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CONTEXTO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dirty="0">
                <a:solidFill>
                  <a:schemeClr val="bg1"/>
                </a:solidFill>
              </a:rPr>
              <a:t>Em 30/11/2022, o ChatGPT chegou ao público: uma IA que escreve, resume e programa ficou ao alcance de qualquer trabalhador.</a:t>
            </a:r>
            <a:endParaRPr lang="en-US" sz="1300" dirty="0"/>
          </a:p>
        </p:txBody>
      </p:sp>
      <p:sp>
        <p:nvSpPr>
          <p:cNvPr id="4" name="Rótulo"/>
          <p:cNvSpPr txBox="1"/>
          <p:nvPr/>
        </p:nvSpPr>
        <p:spPr>
          <a:xfrm>
            <a:off x="548640" y="2450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A PERGUNTA</a:t>
            </a:r>
            <a:endParaRPr lang="en-US" sz="1200" dirty="0"/>
          </a:p>
        </p:txBody>
      </p:sp>
      <p:sp>
        <p:nvSpPr>
          <p:cNvPr id="5" name="Pergunta de pesquisa"/>
          <p:cNvSpPr txBox="1"/>
          <p:nvPr/>
        </p:nvSpPr>
        <p:spPr>
          <a:xfrm>
            <a:off x="548640" y="2697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Quem trabalha em ocupações mais expostas à IA passou a mudar de trabalho de um jeito diferente depois desse marco?</a:t>
            </a:r>
            <a:endParaRPr lang="en-US" sz="2200" dirty="0"/>
          </a:p>
        </p:txBody>
      </p:sp>
      <p:sp>
        <p:nvSpPr>
          <p:cNvPr id="6" name="Período pré"/>
          <p:cNvSpPr/>
          <p:nvPr/>
        </p:nvSpPr>
        <p:spPr>
          <a:xfrm>
            <a:off x="548640" y="3840480"/>
            <a:ext cx="6162040" cy="420624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ANTES · 15 trimestres</a:t>
            </a:r>
            <a:endParaRPr lang="en-US" sz="1400" dirty="0"/>
          </a:p>
        </p:txBody>
      </p:sp>
      <p:sp>
        <p:nvSpPr>
          <p:cNvPr id="7" name="Período pós"/>
          <p:cNvSpPr/>
          <p:nvPr/>
        </p:nvSpPr>
        <p:spPr>
          <a:xfrm>
            <a:off x="6710680" y="3840480"/>
            <a:ext cx="4929632" cy="420624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DEPOIS · 12 trimestres</a:t>
            </a:r>
            <a:endParaRPr lang="en-US" sz="1400" dirty="0"/>
          </a:p>
        </p:txBody>
      </p:sp>
      <p:sp>
        <p:nvSpPr>
          <p:cNvPr id="8" name="Marco"/>
          <p:cNvSpPr/>
          <p:nvPr/>
        </p:nvSpPr>
        <p:spPr>
          <a:xfrm>
            <a:off x="6710680" y="3749040"/>
            <a:ext cx="0" cy="621792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9" name="Rótulo do marco"/>
          <p:cNvSpPr txBox="1"/>
          <p:nvPr/>
        </p:nvSpPr>
        <p:spPr>
          <a:xfrm>
            <a:off x="4333240" y="351129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30/11/2022 · ChatGPT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2019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68712" y="42976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2025</a:t>
            </a:r>
            <a:endParaRPr lang="en-US" sz="1200" dirty="0"/>
          </a:p>
        </p:txBody>
      </p:sp>
      <p:sp>
        <p:nvSpPr>
          <p:cNvPr id="12" name="Definição: Exposição"/>
          <p:cNvSpPr/>
          <p:nvPr/>
        </p:nvSpPr>
        <p:spPr>
          <a:xfrm>
            <a:off x="54864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Exposição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Quanto as tarefas da ocupação se parecem com o que a IA faz. Não é uso de IA nem risco de demissão.</a:t>
            </a:r>
            <a:endParaRPr lang="en-US" sz="1400" dirty="0"/>
          </a:p>
        </p:txBody>
      </p:sp>
      <p:sp>
        <p:nvSpPr>
          <p:cNvPr id="13" name="Definição: Transição"/>
          <p:cNvSpPr/>
          <p:nvPr/>
        </p:nvSpPr>
        <p:spPr>
          <a:xfrm>
            <a:off x="431292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Transição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que acontece com a mesma pessoa de um trimestre para o seguinte.</a:t>
            </a:r>
            <a:endParaRPr lang="en-US" sz="1400" dirty="0"/>
          </a:p>
        </p:txBody>
      </p:sp>
      <p:sp>
        <p:nvSpPr>
          <p:cNvPr id="14" name="Definição: Marco"/>
          <p:cNvSpPr/>
          <p:nvPr/>
        </p:nvSpPr>
        <p:spPr>
          <a:xfrm>
            <a:off x="8077200" y="4709160"/>
            <a:ext cx="3563112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Marco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 lançamento do ChatGPT: data certa, vale para o país inteiro e ninguém da amostra o escolheu.</a:t>
            </a:r>
            <a:endParaRPr lang="en-US" sz="1400" dirty="0"/>
          </a:p>
        </p:txBody>
      </p:sp>
      <p:sp>
        <p:nvSpPr>
          <p:cNvPr id="15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literatura mede a exposição; o Brasil não mede o uso</a:t>
            </a:r>
            <a:endParaRPr lang="en-US" sz="3000" dirty="0"/>
          </a:p>
        </p:txBody>
      </p:sp>
      <p:sp>
        <p:nvSpPr>
          <p:cNvPr id="3" name="Coluna 1"/>
          <p:cNvSpPr/>
          <p:nvPr/>
        </p:nvSpPr>
        <p:spPr>
          <a:xfrm>
            <a:off x="54864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Número 1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ítulo da coluna 1"/>
          <p:cNvSpPr txBox="1"/>
          <p:nvPr/>
        </p:nvSpPr>
        <p:spPr>
          <a:xfrm>
            <a:off x="129844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Medir a exposição</a:t>
            </a:r>
            <a:endParaRPr lang="en-US" sz="1800" dirty="0"/>
          </a:p>
        </p:txBody>
      </p:sp>
      <p:sp>
        <p:nvSpPr>
          <p:cNvPr id="6" name="Itens da coluna 1"/>
          <p:cNvSpPr txBox="1"/>
          <p:nvPr/>
        </p:nvSpPr>
        <p:spPr>
          <a:xfrm>
            <a:off x="73152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Felten, Raj e Seamans (2021)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AIOE: liga as habilidades de cada ocupação a aplicações de IA.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Eloundou et al. (2024)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Exposição tarefa a tarefa, específica para modelos de linguagem.</a:t>
            </a:r>
            <a:endParaRPr lang="en-US" sz="1600" dirty="0"/>
          </a:p>
        </p:txBody>
      </p:sp>
      <p:sp>
        <p:nvSpPr>
          <p:cNvPr id="7" name="Coluna 2"/>
          <p:cNvSpPr/>
          <p:nvPr/>
        </p:nvSpPr>
        <p:spPr>
          <a:xfrm>
            <a:off x="431292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Número 2"/>
          <p:cNvSpPr/>
          <p:nvPr/>
        </p:nvSpPr>
        <p:spPr>
          <a:xfrm>
            <a:off x="44958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ítulo da coluna 2"/>
          <p:cNvSpPr txBox="1"/>
          <p:nvPr/>
        </p:nvSpPr>
        <p:spPr>
          <a:xfrm>
            <a:off x="506272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Observar adoção e resultados</a:t>
            </a:r>
            <a:endParaRPr lang="en-US" sz="1800" dirty="0"/>
          </a:p>
        </p:txBody>
      </p:sp>
      <p:sp>
        <p:nvSpPr>
          <p:cNvPr id="10" name="Itens da coluna 2"/>
          <p:cNvSpPr txBox="1"/>
          <p:nvPr/>
        </p:nvSpPr>
        <p:spPr>
          <a:xfrm>
            <a:off x="449580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Brynjolfsson, Li e Raymond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Ganho de produtividade numa central de atendimento.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Humlum e Vestergaard (2025)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Dinamarca: efeitos nulos e precisos sobre rendimentos e horas.</a:t>
            </a:r>
            <a:endParaRPr lang="en-US" sz="1600" dirty="0"/>
          </a:p>
        </p:txBody>
      </p:sp>
      <p:sp>
        <p:nvSpPr>
          <p:cNvPr id="11" name="Coluna 3"/>
          <p:cNvSpPr/>
          <p:nvPr/>
        </p:nvSpPr>
        <p:spPr>
          <a:xfrm>
            <a:off x="8077200" y="1417320"/>
            <a:ext cx="3563112" cy="3429000"/>
          </a:xfrm>
          <a:prstGeom prst="roundRect">
            <a:avLst>
              <a:gd name="adj" fmla="val 2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Número 3"/>
          <p:cNvSpPr/>
          <p:nvPr/>
        </p:nvSpPr>
        <p:spPr>
          <a:xfrm>
            <a:off x="826008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ítulo da coluna 3"/>
          <p:cNvSpPr txBox="1"/>
          <p:nvPr/>
        </p:nvSpPr>
        <p:spPr>
          <a:xfrm>
            <a:off x="8827008" y="1600200"/>
            <a:ext cx="264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Desenho e contexto brasileiro</a:t>
            </a:r>
            <a:endParaRPr lang="en-US" sz="1800" dirty="0"/>
          </a:p>
        </p:txBody>
      </p:sp>
      <p:sp>
        <p:nvSpPr>
          <p:cNvPr id="14" name="Itens da coluna 3"/>
          <p:cNvSpPr txBox="1"/>
          <p:nvPr/>
        </p:nvSpPr>
        <p:spPr>
          <a:xfrm>
            <a:off x="8260080" y="2240280"/>
            <a:ext cx="319735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Acemoglu e Restrepo (2020)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Identificação por exposição diferencial.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Ulyssea (2020); Meghir, Narita e Robin (2015)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Informalidade heterogênea; fronteira com o setor formal atravessada com frequência.</a:t>
            </a:r>
            <a:endParaRPr lang="en-US" sz="1600" dirty="0"/>
          </a:p>
        </p:txBody>
      </p:sp>
      <p:sp>
        <p:nvSpPr>
          <p:cNvPr id="15" name="Lacuna"/>
          <p:cNvSpPr/>
          <p:nvPr/>
        </p:nvSpPr>
        <p:spPr>
          <a:xfrm>
            <a:off x="548640" y="5074920"/>
            <a:ext cx="11091672" cy="91440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5"/>
                </a:solidFill>
              </a:rPr>
              <a:t>LACUNA E RELEVÂNCIA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Com tanta informalidade, o Brasil pode reagir à IA de outro jeito que os países ricos, mas não há medida direta do uso de IA. Por isso: exposição ocupacional num painel domiciliar.</a:t>
            </a:r>
            <a:endParaRPr lang="en-US" sz="13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PNAD Contínua segue a mesma pessoa por cinco trimestres</a:t>
            </a:r>
            <a:endParaRPr lang="en-US" sz="3000" dirty="0"/>
          </a:p>
        </p:txBody>
      </p:sp>
      <p:sp>
        <p:nvSpPr>
          <p:cNvPr id="3" name="Número-chave 1"/>
          <p:cNvSpPr/>
          <p:nvPr/>
        </p:nvSpPr>
        <p:spPr>
          <a:xfrm>
            <a:off x="548640" y="1417320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731520" y="14904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27</a:t>
            </a:r>
            <a:endParaRPr lang="en-US" sz="3800" dirty="0"/>
          </a:p>
        </p:txBody>
      </p:sp>
      <p:sp>
        <p:nvSpPr>
          <p:cNvPr id="5" name="Rótulo 1"/>
          <p:cNvSpPr txBox="1"/>
          <p:nvPr/>
        </p:nvSpPr>
        <p:spPr>
          <a:xfrm>
            <a:off x="731520" y="2057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trimestres de origem, de 2019T1 a 2025T3</a:t>
            </a:r>
            <a:endParaRPr lang="en-US" sz="1400" dirty="0"/>
          </a:p>
        </p:txBody>
      </p:sp>
      <p:sp>
        <p:nvSpPr>
          <p:cNvPr id="6" name="Número-chave 2"/>
          <p:cNvSpPr/>
          <p:nvPr/>
        </p:nvSpPr>
        <p:spPr>
          <a:xfrm>
            <a:off x="548640" y="2587752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731520" y="2660904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3800" dirty="0"/>
          </a:p>
        </p:txBody>
      </p:sp>
      <p:sp>
        <p:nvSpPr>
          <p:cNvPr id="8" name="Rótulo 2"/>
          <p:cNvSpPr txBox="1"/>
          <p:nvPr/>
        </p:nvSpPr>
        <p:spPr>
          <a:xfrm>
            <a:off x="731520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ocupações na estimação</a:t>
            </a:r>
            <a:endParaRPr lang="en-US" sz="1400" dirty="0"/>
          </a:p>
        </p:txBody>
      </p:sp>
      <p:sp>
        <p:nvSpPr>
          <p:cNvPr id="9" name="Número-chave 3"/>
          <p:cNvSpPr/>
          <p:nvPr/>
        </p:nvSpPr>
        <p:spPr>
          <a:xfrm>
            <a:off x="548640" y="3758184"/>
            <a:ext cx="356616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731520" y="3831336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31.145</a:t>
            </a:r>
            <a:endParaRPr lang="en-US" sz="3800" dirty="0"/>
          </a:p>
        </p:txBody>
      </p:sp>
      <p:sp>
        <p:nvSpPr>
          <p:cNvPr id="11" name="Rótulo 3"/>
          <p:cNvSpPr txBox="1"/>
          <p:nvPr/>
        </p:nvSpPr>
        <p:spPr>
          <a:xfrm>
            <a:off x="731520" y="439826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unidades primárias de amostragem (UPAs)</a:t>
            </a:r>
            <a:endParaRPr lang="en-US" sz="1400" dirty="0"/>
          </a:p>
        </p:txBody>
      </p:sp>
      <p:sp>
        <p:nvSpPr>
          <p:cNvPr id="12" name="Regra do par"/>
          <p:cNvSpPr/>
          <p:nvPr/>
        </p:nvSpPr>
        <p:spPr>
          <a:xfrm>
            <a:off x="548640" y="4983480"/>
            <a:ext cx="3566160" cy="1005840"/>
          </a:xfrm>
          <a:prstGeom prst="roundRect">
            <a:avLst>
              <a:gd name="adj" fmla="val 9091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524" tIns="2540" rIns="2540" bIns="127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Par pessoa-trimestre reconstruído: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UPA, domicílio, ordem, sexo, dia e mês de nascimento e idade coerentes.</a:t>
            </a:r>
            <a:endParaRPr lang="en-US" sz="1400" dirty="0"/>
          </a:p>
        </p:txBody>
      </p:sp>
      <p:sp>
        <p:nvSpPr>
          <p:cNvPr id="13" name="Título do gráfico"/>
          <p:cNvSpPr txBox="1"/>
          <p:nvPr/>
        </p:nvSpPr>
        <p:spPr>
          <a:xfrm>
            <a:off x="4434840" y="1371600"/>
            <a:ext cx="7205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Cada desfecho usa a sua parte da base (pessoas-transições)</a:t>
            </a:r>
            <a:endParaRPr lang="en-US" sz="1600" dirty="0"/>
          </a:p>
        </p:txBody>
      </p:sp>
      <p:graphicFrame>
        <p:nvGraphicFramePr>
          <p:cNvPr id="14" name="Chart 0" descr="Barras horizontais com as pessoas-transições de cada domínio de estimação, de 3,96 milhões a 1,68 milhão."/>
          <p:cNvGraphicFramePr/>
          <p:nvPr/>
        </p:nvGraphicFramePr>
        <p:xfrm>
          <a:off x="4434840" y="1783080"/>
          <a:ext cx="7205472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São pessoas-transições, e não pessoas únicas: o mesmo indivíduo contribui com até quatro pares.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exposição à IA varia muito entre as ocupações</a:t>
            </a:r>
            <a:endParaRPr lang="en-US" sz="3000" dirty="0"/>
          </a:p>
        </p:txBody>
      </p:sp>
      <p:sp>
        <p:nvSpPr>
          <p:cNvPr id="3" name="Etapa da ponte 1"/>
          <p:cNvSpPr/>
          <p:nvPr/>
        </p:nvSpPr>
        <p:spPr>
          <a:xfrm>
            <a:off x="548640" y="146304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COD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da PNAD Contínua</a:t>
            </a:r>
            <a:endParaRPr lang="en-US" sz="1800" dirty="0"/>
          </a:p>
        </p:txBody>
      </p:sp>
      <p:sp>
        <p:nvSpPr>
          <p:cNvPr id="4" name="Seta 1"/>
          <p:cNvSpPr/>
          <p:nvPr/>
        </p:nvSpPr>
        <p:spPr>
          <a:xfrm>
            <a:off x="2560320" y="223113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5" name="Etapa da ponte 2"/>
          <p:cNvSpPr/>
          <p:nvPr/>
        </p:nvSpPr>
        <p:spPr>
          <a:xfrm>
            <a:off x="548640" y="246888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ISCO-08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classificação internacional</a:t>
            </a:r>
            <a:endParaRPr lang="en-US" sz="1800" dirty="0"/>
          </a:p>
        </p:txBody>
      </p:sp>
      <p:sp>
        <p:nvSpPr>
          <p:cNvPr id="6" name="Seta 2"/>
          <p:cNvSpPr/>
          <p:nvPr/>
        </p:nvSpPr>
        <p:spPr>
          <a:xfrm>
            <a:off x="2560320" y="3236976"/>
            <a:ext cx="457200" cy="219456"/>
          </a:xfrm>
          <a:prstGeom prst="downArrow">
            <a:avLst/>
          </a:prstGeom>
          <a:solidFill>
            <a:schemeClr val="accent3"/>
          </a:solidFill>
          <a:ln/>
        </p:spPr>
      </p:sp>
      <p:sp>
        <p:nvSpPr>
          <p:cNvPr id="7" name="Etapa da ponte 3"/>
          <p:cNvSpPr/>
          <p:nvPr/>
        </p:nvSpPr>
        <p:spPr>
          <a:xfrm>
            <a:off x="548640" y="3474720"/>
            <a:ext cx="4480560" cy="749808"/>
          </a:xfrm>
          <a:prstGeom prst="roundRect">
            <a:avLst>
              <a:gd name="adj" fmla="val 12195"/>
            </a:avLst>
          </a:prstGeom>
          <a:solidFill>
            <a:schemeClr val="accent1"/>
          </a:solidFill>
          <a:ln/>
        </p:spPr>
        <p:txBody>
          <a:bodyPr wrap="square" lIns="762" tIns="3175" rIns="3175" bIns="762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SOC 2010 → AIOE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índice de Felten, Raj e Seamans (2021)</a:t>
            </a:r>
            <a:endParaRPr lang="en-US" sz="1800" dirty="0"/>
          </a:p>
        </p:txBody>
      </p:sp>
      <p:sp>
        <p:nvSpPr>
          <p:cNvPr id="8" name="Nota da ponte"/>
          <p:cNvSpPr txBox="1"/>
          <p:nvPr/>
        </p:nvSpPr>
        <p:spPr>
          <a:xfrm>
            <a:off x="548640" y="44988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Entre os códigos SOC ligados a um mesmo COD, o peso é uniforme: hipótese de construção, declarada como tal.</a:t>
            </a:r>
            <a:endParaRPr lang="en-US" sz="1400" dirty="0"/>
          </a:p>
        </p:txBody>
      </p:sp>
      <p:sp>
        <p:nvSpPr>
          <p:cNvPr id="9" name="Cobertura 1"/>
          <p:cNvSpPr/>
          <p:nvPr/>
        </p:nvSpPr>
        <p:spPr>
          <a:xfrm>
            <a:off x="548640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416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códigos com AIOE</a:t>
            </a:r>
            <a:endParaRPr lang="en-US" sz="1200" dirty="0"/>
          </a:p>
        </p:txBody>
      </p:sp>
      <p:sp>
        <p:nvSpPr>
          <p:cNvPr id="12" name="Cobertura 2"/>
          <p:cNvSpPr/>
          <p:nvPr/>
        </p:nvSpPr>
        <p:spPr>
          <a:xfrm>
            <a:off x="2087880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087880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413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087880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na estimação</a:t>
            </a:r>
            <a:endParaRPr lang="en-US" sz="1200" dirty="0"/>
          </a:p>
        </p:txBody>
      </p:sp>
      <p:sp>
        <p:nvSpPr>
          <p:cNvPr id="15" name="Cobertura 3"/>
          <p:cNvSpPr/>
          <p:nvPr/>
        </p:nvSpPr>
        <p:spPr>
          <a:xfrm>
            <a:off x="3627120" y="5120640"/>
            <a:ext cx="1402080" cy="896112"/>
          </a:xfrm>
          <a:prstGeom prst="roundRect">
            <a:avLst>
              <a:gd name="adj" fmla="val 1020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27120" y="5157216"/>
            <a:ext cx="140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1,08%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627120" y="5614416"/>
            <a:ext cx="140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do peso sem AIOE</a:t>
            </a:r>
            <a:endParaRPr lang="en-US" sz="1200" dirty="0"/>
          </a:p>
        </p:txBody>
      </p:sp>
      <p:sp>
        <p:nvSpPr>
          <p:cNvPr id="18" name="Título do gráfico"/>
          <p:cNvSpPr txBox="1"/>
          <p:nvPr/>
        </p:nvSpPr>
        <p:spPr>
          <a:xfrm>
            <a:off x="5394960" y="1371600"/>
            <a:ext cx="6245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 ocupações se espalham por toda a escala do AIOE</a:t>
            </a:r>
            <a:endParaRPr lang="en-US" sz="1600" dirty="0"/>
          </a:p>
        </p:txBody>
      </p:sp>
      <p:graphicFrame>
        <p:nvGraphicFramePr>
          <p:cNvPr id="19" name="Chart 0" descr="Histograma do AIOE entre 416 códigos ocupacionais, com valores de cerca de menos 2,1 a 1,4 e pico de 42 ocupações perto de menos 1."/>
          <p:cNvGraphicFramePr/>
          <p:nvPr/>
        </p:nvGraphicFramePr>
        <p:xfrm>
          <a:off x="5394960" y="1783080"/>
          <a:ext cx="6245352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entido do eixo"/>
          <p:cNvSpPr txBox="1"/>
          <p:nvPr/>
        </p:nvSpPr>
        <p:spPr>
          <a:xfrm>
            <a:off x="5394960" y="5029200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← menos exposta</a:t>
            </a:r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                                                                         </a:t>
            </a:r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mais exposta →</a:t>
            </a:r>
            <a:endParaRPr lang="en-US" sz="1200" dirty="0"/>
          </a:p>
        </p:txBody>
      </p:sp>
      <p:sp>
        <p:nvSpPr>
          <p:cNvPr id="21" name="Estatísticas do AIOE"/>
          <p:cNvSpPr txBox="1"/>
          <p:nvPr/>
        </p:nvSpPr>
        <p:spPr>
          <a:xfrm>
            <a:off x="5394960" y="5321808"/>
            <a:ext cx="6245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média 0,0053 · desvio-padrão 0,9445 · correlação com a teletrabalhabilidade: 0,702</a:t>
            </a:r>
            <a:endParaRPr lang="en-US" sz="1300" dirty="0"/>
          </a:p>
        </p:txBody>
      </p:sp>
      <p:sp>
        <p:nvSpPr>
          <p:cNvPr id="22" name="Aviso de leitura"/>
          <p:cNvSpPr txBox="1"/>
          <p:nvPr/>
        </p:nvSpPr>
        <p:spPr>
          <a:xfrm>
            <a:off x="5394960" y="5669280"/>
            <a:ext cx="6245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Menor AIOE quer dizer menos exposição, e não emprego pior.</a:t>
            </a:r>
            <a:endParaRPr lang="en-US" sz="1400" dirty="0"/>
          </a:p>
        </p:txBody>
      </p:sp>
      <p:sp>
        <p:nvSpPr>
          <p:cNvPr id="23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de Felten, Raj e Seamans (2021), Dingel e Neiman (2020) e da PNADC/IBGE. Distribuição entre códigos, e não entre trabalhadores.</a:t>
            </a:r>
            <a:endParaRPr lang="en-US" sz="11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Sete desfechos: vínculo, mobilidade e direção</a:t>
            </a:r>
            <a:endParaRPr lang="en-US" sz="3000" dirty="0"/>
          </a:p>
        </p:txBody>
      </p:sp>
      <p:sp>
        <p:nvSpPr>
          <p:cNvPr id="3" name="Família I"/>
          <p:cNvSpPr/>
          <p:nvPr/>
        </p:nvSpPr>
        <p:spPr>
          <a:xfrm>
            <a:off x="54864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Família I (número)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</a:t>
            </a:r>
            <a:endParaRPr lang="en-US" sz="1600" dirty="0"/>
          </a:p>
        </p:txBody>
      </p:sp>
      <p:sp>
        <p:nvSpPr>
          <p:cNvPr id="5" name="Título da família I"/>
          <p:cNvSpPr txBox="1"/>
          <p:nvPr/>
        </p:nvSpPr>
        <p:spPr>
          <a:xfrm>
            <a:off x="137160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Continuidade e vínculo</a:t>
            </a:r>
            <a:endParaRPr lang="en-US" sz="1800" dirty="0"/>
          </a:p>
        </p:txBody>
      </p:sp>
      <p:sp>
        <p:nvSpPr>
          <p:cNvPr id="6" name="Desfechos da família I"/>
          <p:cNvSpPr txBox="1"/>
          <p:nvPr/>
        </p:nvSpPr>
        <p:spPr>
          <a:xfrm>
            <a:off x="77724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Pareamento (teste de atrito)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a entrevista seguinte foi encontrada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Saída do emprego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não está ocupado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De formal para informal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destino é ocupado e informal, entre origens formais</a:t>
            </a:r>
            <a:endParaRPr lang="en-US" sz="1600" dirty="0"/>
          </a:p>
        </p:txBody>
      </p:sp>
      <p:sp>
        <p:nvSpPr>
          <p:cNvPr id="7" name="Família II"/>
          <p:cNvSpPr/>
          <p:nvPr/>
        </p:nvSpPr>
        <p:spPr>
          <a:xfrm>
            <a:off x="431292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Família II (número)"/>
          <p:cNvSpPr/>
          <p:nvPr/>
        </p:nvSpPr>
        <p:spPr>
          <a:xfrm>
            <a:off x="449580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</a:t>
            </a:r>
            <a:endParaRPr lang="en-US" sz="1600" dirty="0"/>
          </a:p>
        </p:txBody>
      </p:sp>
      <p:sp>
        <p:nvSpPr>
          <p:cNvPr id="9" name="Título da família II"/>
          <p:cNvSpPr txBox="1"/>
          <p:nvPr/>
        </p:nvSpPr>
        <p:spPr>
          <a:xfrm>
            <a:off x="513588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Mobilidade ocupacional</a:t>
            </a:r>
            <a:endParaRPr lang="en-US" sz="1800" dirty="0"/>
          </a:p>
        </p:txBody>
      </p:sp>
      <p:sp>
        <p:nvSpPr>
          <p:cNvPr id="10" name="Desfechos da família II"/>
          <p:cNvSpPr txBox="1"/>
          <p:nvPr/>
        </p:nvSpPr>
        <p:spPr>
          <a:xfrm>
            <a:off x="454152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(2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dois primeiros dígitos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Muda de ocupação (3 dígitos)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código muda nos três primeiros dígitos</a:t>
            </a:r>
            <a:endParaRPr lang="en-US" sz="1600" dirty="0"/>
          </a:p>
        </p:txBody>
      </p:sp>
      <p:sp>
        <p:nvSpPr>
          <p:cNvPr id="11" name="Família III"/>
          <p:cNvSpPr/>
          <p:nvPr/>
        </p:nvSpPr>
        <p:spPr>
          <a:xfrm>
            <a:off x="8077200" y="1417320"/>
            <a:ext cx="3563112" cy="3611880"/>
          </a:xfrm>
          <a:prstGeom prst="roundRect">
            <a:avLst>
              <a:gd name="adj" fmla="val 256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2" name="Família III (número)"/>
          <p:cNvSpPr/>
          <p:nvPr/>
        </p:nvSpPr>
        <p:spPr>
          <a:xfrm>
            <a:off x="8260080" y="1600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III</a:t>
            </a:r>
            <a:endParaRPr lang="en-US" sz="1600" dirty="0"/>
          </a:p>
        </p:txBody>
      </p:sp>
      <p:sp>
        <p:nvSpPr>
          <p:cNvPr id="13" name="Título da família III"/>
          <p:cNvSpPr txBox="1"/>
          <p:nvPr/>
        </p:nvSpPr>
        <p:spPr>
          <a:xfrm>
            <a:off x="8900160" y="1554480"/>
            <a:ext cx="2557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Deslocamento no gradiente de exposição</a:t>
            </a:r>
            <a:endParaRPr lang="en-US" sz="1800" dirty="0"/>
          </a:p>
        </p:txBody>
      </p:sp>
      <p:sp>
        <p:nvSpPr>
          <p:cNvPr id="14" name="Desfechos da família III"/>
          <p:cNvSpPr txBox="1"/>
          <p:nvPr/>
        </p:nvSpPr>
        <p:spPr>
          <a:xfrm>
            <a:off x="8305800" y="2377440"/>
            <a:ext cx="310591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Menos exposta (descendente)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menor que o da origem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Mais exposta (ascendente)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 se o AIOE do destino é maior que o da origem</a:t>
            </a:r>
            <a:endParaRPr lang="en-US" sz="1600" dirty="0"/>
          </a:p>
        </p:txBody>
      </p:sp>
      <p:sp>
        <p:nvSpPr>
          <p:cNvPr id="15" name="Observação"/>
          <p:cNvSpPr/>
          <p:nvPr/>
        </p:nvSpPr>
        <p:spPr>
          <a:xfrm>
            <a:off x="548640" y="5212080"/>
            <a:ext cx="11091672" cy="822960"/>
          </a:xfrm>
          <a:prstGeom prst="roundRect">
            <a:avLst>
              <a:gd name="adj" fmla="val 11111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Duas regras.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Destino não observado nunca vira zero. As duas direções se leem juntas: quem está no topo da exposição tem mais espaço para descer do que para subir.</a:t>
            </a:r>
            <a:endParaRPr lang="en-US" sz="16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Sem grupo de controle, comparo intensidades de exposição</a:t>
            </a:r>
            <a:endParaRPr lang="en-US" sz="3000" dirty="0"/>
          </a:p>
        </p:txBody>
      </p:sp>
      <p:sp>
        <p:nvSpPr>
          <p:cNvPr id="3" name="Equação estimada"/>
          <p:cNvSpPr/>
          <p:nvPr/>
        </p:nvSpPr>
        <p:spPr>
          <a:xfrm>
            <a:off x="548640" y="1417320"/>
            <a:ext cx="11091672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2540" tIns="4445" rIns="4445" bIns="254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300" i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y  =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β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(AIOE × Pós)  +  </a:t>
            </a:r>
            <a:pPr indent="0" marL="0">
              <a:lnSpc>
                <a:spcPct val="125000"/>
              </a:lnSpc>
              <a:buNone/>
            </a:pPr>
            <a:r>
              <a:rPr lang="en-US" sz="23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γ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(Teletrabalho × Pós)  +  idade  +  idade²</a:t>
            </a:r>
            <a:endParaRPr lang="en-US" sz="2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      +  α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ocupação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λ</a:t>
            </a:r>
            <a:pPr indent="0" marL="0">
              <a:lnSpc>
                <a:spcPct val="125000"/>
              </a:lnSpc>
              <a:buNone/>
            </a:pPr>
            <a:r>
              <a:rPr lang="en-US" sz="2300" baseline="-400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UF×trimestre</a:t>
            </a:r>
            <a:pPr indent="0" marL="0">
              <a:lnSpc>
                <a:spcPct val="125000"/>
              </a:lnSpc>
              <a:buNone/>
            </a:pPr>
            <a:r>
              <a:rPr lang="en-US" sz="2300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  +  efeitos fixos categóricos  +  ε</a:t>
            </a:r>
            <a:endParaRPr lang="en-US" sz="2300" dirty="0"/>
          </a:p>
        </p:txBody>
      </p:sp>
      <p:sp>
        <p:nvSpPr>
          <p:cNvPr id="4" name="Bloco: β: parâmetro de interesse"/>
          <p:cNvSpPr/>
          <p:nvPr/>
        </p:nvSpPr>
        <p:spPr>
          <a:xfrm>
            <a:off x="54864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β: parâmetro de interesse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Mudança entre pré e pós, em pontos percentuais por unidade de AIOE (cerca de um desvio-padrão entre ocupações).</a:t>
            </a:r>
            <a:endParaRPr lang="en-US" sz="1400" dirty="0"/>
          </a:p>
        </p:txBody>
      </p:sp>
      <p:sp>
        <p:nvSpPr>
          <p:cNvPr id="5" name="Bloco: Efeitos fixos"/>
          <p:cNvSpPr/>
          <p:nvPr/>
        </p:nvSpPr>
        <p:spPr>
          <a:xfrm>
            <a:off x="431292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Efeitos fixos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Ocupação de origem · UF × trimestre · sexo, cor ou raça, escolaridade, tempo no emprego, tamanho do estabelecimento e setor.</a:t>
            </a:r>
            <a:endParaRPr lang="en-US" sz="1400" dirty="0"/>
          </a:p>
        </p:txBody>
      </p:sp>
      <p:sp>
        <p:nvSpPr>
          <p:cNvPr id="6" name="Bloco: Estimação e inferência"/>
          <p:cNvSpPr/>
          <p:nvPr/>
        </p:nvSpPr>
        <p:spPr>
          <a:xfrm>
            <a:off x="8077200" y="3246120"/>
            <a:ext cx="3563112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Estimação e inferência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Modelo de probabilidade linear ponderado pelo peso da origem. Erros-padrão por UPA, de 30.360 a 31.145 grupos.</a:t>
            </a:r>
            <a:endParaRPr lang="en-US" sz="1400" dirty="0"/>
          </a:p>
        </p:txBody>
      </p:sp>
      <p:sp>
        <p:nvSpPr>
          <p:cNvPr id="7" name="Período pré"/>
          <p:cNvSpPr/>
          <p:nvPr/>
        </p:nvSpPr>
        <p:spPr>
          <a:xfrm>
            <a:off x="548640" y="5212080"/>
            <a:ext cx="6162040" cy="457200"/>
          </a:xfrm>
          <a:prstGeom prst="rect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Pré · 2019T1 a 2022T3 · 15 trimestres</a:t>
            </a:r>
            <a:endParaRPr lang="en-US" sz="1400" dirty="0"/>
          </a:p>
        </p:txBody>
      </p:sp>
      <p:sp>
        <p:nvSpPr>
          <p:cNvPr id="8" name="Período pós"/>
          <p:cNvSpPr/>
          <p:nvPr/>
        </p:nvSpPr>
        <p:spPr>
          <a:xfrm>
            <a:off x="6710680" y="5212080"/>
            <a:ext cx="4929632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Pós · 2022T4 a 2025T3 · 12 trimestres</a:t>
            </a:r>
            <a:endParaRPr lang="en-US" sz="1400" dirty="0"/>
          </a:p>
        </p:txBody>
      </p:sp>
      <p:sp>
        <p:nvSpPr>
          <p:cNvPr id="9" name="Marco"/>
          <p:cNvSpPr/>
          <p:nvPr/>
        </p:nvSpPr>
        <p:spPr>
          <a:xfrm>
            <a:off x="6710680" y="5074920"/>
            <a:ext cx="0" cy="731520"/>
          </a:xfrm>
          <a:prstGeom prst="line">
            <a:avLst/>
          </a:prstGeom>
          <a:noFill/>
          <a:ln w="31750">
            <a:solidFill>
              <a:schemeClr val="accent5"/>
            </a:solidFill>
            <a:prstDash val="solid"/>
          </a:ln>
        </p:spPr>
      </p:sp>
      <p:sp>
        <p:nvSpPr>
          <p:cNvPr id="10" name="Nota do desenho"/>
          <p:cNvSpPr txBox="1"/>
          <p:nvPr/>
        </p:nvSpPr>
        <p:spPr>
          <a:xfrm>
            <a:off x="548640" y="58704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Tratamento contínuo: não há grupo tratado e grupo de controle, e sim uma intensidade de exposição que varia entre ocupações.</a:t>
            </a:r>
            <a:endParaRPr lang="en-US" sz="13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 mobilidade subiu em todas as faixas de exposição</a:t>
            </a:r>
            <a:endParaRPr lang="en-US" sz="3000" dirty="0"/>
          </a:p>
        </p:txBody>
      </p:sp>
      <p:sp>
        <p:nvSpPr>
          <p:cNvPr id="3" name="Título do gráfico"/>
          <p:cNvSpPr txBox="1"/>
          <p:nvPr/>
        </p:nvSpPr>
        <p:spPr>
          <a:xfrm>
            <a:off x="54864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Quase tudo subiu; só a saída do emprego ficou parada (%)</a:t>
            </a:r>
            <a:endParaRPr lang="en-US" sz="1600" dirty="0"/>
          </a:p>
        </p:txBody>
      </p:sp>
      <p:graphicFrame>
        <p:nvGraphicFramePr>
          <p:cNvPr id="4" name="Chart 0" descr="Barras agrupadas com as médias de seis desfechos antes e depois do marco; todas aumentam, exceto a saída do emprego, que quase não muda."/>
          <p:cNvGraphicFramePr/>
          <p:nvPr/>
        </p:nvGraphicFramePr>
        <p:xfrm>
          <a:off x="548640" y="1737360"/>
          <a:ext cx="59436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ítulo do gráfico"/>
          <p:cNvSpPr txBox="1"/>
          <p:nvPr/>
        </p:nvSpPr>
        <p:spPr>
          <a:xfrm>
            <a:off x="6903720" y="1371600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Ficar na mesma faixa caiu em todas (pós − pré, p.p.)</a:t>
            </a:r>
            <a:endParaRPr lang="en-US" sz="1600" dirty="0"/>
          </a:p>
        </p:txBody>
      </p:sp>
      <p:graphicFrame>
        <p:nvGraphicFramePr>
          <p:cNvPr id="6" name="Chart 1" descr="Colunas com a variação da permanência na mesma faixa de exposição: negativa nas cinco faixas, de menos 3,6 a menos 8,1 pontos percentuais."/>
          <p:cNvGraphicFramePr/>
          <p:nvPr/>
        </p:nvGraphicFramePr>
        <p:xfrm>
          <a:off x="6903720" y="2011680"/>
          <a:ext cx="4736592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Legenda das faixas"/>
          <p:cNvSpPr txBox="1"/>
          <p:nvPr/>
        </p:nvSpPr>
        <p:spPr>
          <a:xfrm>
            <a:off x="6903720" y="17373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Q1 = menor exposição · Q5 = maior exposição</a:t>
            </a:r>
            <a:endParaRPr lang="en-US" sz="1200" dirty="0"/>
          </a:p>
        </p:txBody>
      </p:sp>
      <p:sp>
        <p:nvSpPr>
          <p:cNvPr id="8" name="Carta: Tensão"/>
          <p:cNvSpPr/>
          <p:nvPr/>
        </p:nvSpPr>
        <p:spPr>
          <a:xfrm>
            <a:off x="6903720" y="4709160"/>
            <a:ext cx="4736592" cy="1298448"/>
          </a:xfrm>
          <a:prstGeom prst="roundRect">
            <a:avLst>
              <a:gd name="adj" fmla="val 7042"/>
            </a:avLst>
          </a:prstGeom>
          <a:solidFill>
            <a:schemeClr val="accent2"/>
          </a:solidFill>
          <a:ln/>
        </p:spPr>
        <p:txBody>
          <a:bodyPr wrap="square" lIns="1270" tIns="2794" rIns="2794" bIns="127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spc="300" kern="0" dirty="0">
                <a:solidFill>
                  <a:schemeClr val="accent4"/>
                </a:solidFill>
              </a:rPr>
              <a:t>TENSÃO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A mobilidade subiu em todas as faixas, e não só nas mais expostas. Então, a IA explica alguma parte desse movimento?</a:t>
            </a:r>
            <a:endParaRPr lang="en-US" sz="1300" dirty="0"/>
          </a:p>
        </p:txBody>
      </p:sp>
      <p:sp>
        <p:nvSpPr>
          <p:cNvPr id="9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Médias ponderadas pelo peso da origem. Teste de Wald de igualdade das matrizes: χ² = 3.040,1 (20 g.l.).</a:t>
            </a:r>
            <a:endParaRPr lang="en-US" sz="1100" dirty="0"/>
          </a:p>
        </p:txBody>
      </p:sp>
      <p:sp>
        <p:nvSpPr>
          <p:cNvPr id="10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exposição, mais mudança para ocupações menos expostas</a:t>
            </a:r>
            <a:endParaRPr lang="en-US" sz="3000" dirty="0"/>
          </a:p>
        </p:txBody>
      </p:sp>
      <p:sp>
        <p:nvSpPr>
          <p:cNvPr id="3" name="Legenda: Deslocamento no gradiente"/>
          <p:cNvSpPr/>
          <p:nvPr/>
        </p:nvSpPr>
        <p:spPr>
          <a:xfrm>
            <a:off x="548640" y="1481328"/>
            <a:ext cx="146304" cy="146304"/>
          </a:xfrm>
          <a:prstGeom prst="ellipse">
            <a:avLst/>
          </a:prstGeom>
          <a:solidFill>
            <a:srgbClr val="00643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498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Deslocamento no gradiente</a:t>
            </a:r>
            <a:endParaRPr lang="en-US" sz="1200" dirty="0"/>
          </a:p>
        </p:txBody>
      </p:sp>
      <p:sp>
        <p:nvSpPr>
          <p:cNvPr id="5" name="Legenda: Mobilidade ocupacional"/>
          <p:cNvSpPr/>
          <p:nvPr/>
        </p:nvSpPr>
        <p:spPr>
          <a:xfrm>
            <a:off x="2948940" y="1481328"/>
            <a:ext cx="146304" cy="146304"/>
          </a:xfrm>
          <a:prstGeom prst="ellipse">
            <a:avLst/>
          </a:prstGeom>
          <a:solidFill>
            <a:srgbClr val="3F8F6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150108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Mobilidade ocupacional</a:t>
            </a:r>
            <a:endParaRPr lang="en-US" sz="1200" dirty="0"/>
          </a:p>
        </p:txBody>
      </p:sp>
      <p:sp>
        <p:nvSpPr>
          <p:cNvPr id="7" name="Legenda: Vínculo"/>
          <p:cNvSpPr/>
          <p:nvPr/>
        </p:nvSpPr>
        <p:spPr>
          <a:xfrm>
            <a:off x="5121554" y="1481328"/>
            <a:ext cx="146304" cy="146304"/>
          </a:xfrm>
          <a:prstGeom prst="ellipse">
            <a:avLst/>
          </a:prstGeom>
          <a:solidFill>
            <a:srgbClr val="143B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22722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Vínculo</a:t>
            </a:r>
            <a:endParaRPr lang="en-US" sz="1200" dirty="0"/>
          </a:p>
        </p:txBody>
      </p:sp>
      <p:sp>
        <p:nvSpPr>
          <p:cNvPr id="9" name="Legenda: Teste de atrito"/>
          <p:cNvSpPr/>
          <p:nvPr/>
        </p:nvSpPr>
        <p:spPr>
          <a:xfrm>
            <a:off x="6155741" y="1481328"/>
            <a:ext cx="146304" cy="146304"/>
          </a:xfrm>
          <a:prstGeom prst="ellipse">
            <a:avLst/>
          </a:prstGeom>
          <a:solidFill>
            <a:srgbClr val="5F73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6909" y="1417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Teste de atrito</a:t>
            </a:r>
            <a:endParaRPr lang="en-US" sz="1200" dirty="0"/>
          </a:p>
        </p:txBody>
      </p:sp>
      <p:sp>
        <p:nvSpPr>
          <p:cNvPr id="11" name="Grade -2"/>
          <p:cNvSpPr/>
          <p:nvPr/>
        </p:nvSpPr>
        <p:spPr>
          <a:xfrm>
            <a:off x="388620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1188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−2</a:t>
            </a:r>
            <a:endParaRPr lang="en-US" sz="1200" dirty="0"/>
          </a:p>
        </p:txBody>
      </p:sp>
      <p:sp>
        <p:nvSpPr>
          <p:cNvPr id="13" name="Grade -1"/>
          <p:cNvSpPr/>
          <p:nvPr/>
        </p:nvSpPr>
        <p:spPr>
          <a:xfrm>
            <a:off x="4672584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98264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−1</a:t>
            </a:r>
            <a:endParaRPr lang="en-US" sz="1200" dirty="0"/>
          </a:p>
        </p:txBody>
      </p:sp>
      <p:sp>
        <p:nvSpPr>
          <p:cNvPr id="15" name="Grade 0"/>
          <p:cNvSpPr/>
          <p:nvPr/>
        </p:nvSpPr>
        <p:spPr>
          <a:xfrm>
            <a:off x="5458968" y="1783080"/>
            <a:ext cx="0" cy="3611880"/>
          </a:xfrm>
          <a:prstGeom prst="line">
            <a:avLst/>
          </a:prstGeom>
          <a:noFill/>
          <a:ln w="19050">
            <a:solidFill>
              <a:srgbClr val="10281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184648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0</a:t>
            </a:r>
            <a:endParaRPr lang="en-US" sz="1200" dirty="0"/>
          </a:p>
        </p:txBody>
      </p:sp>
      <p:sp>
        <p:nvSpPr>
          <p:cNvPr id="17" name="Grade 1"/>
          <p:cNvSpPr/>
          <p:nvPr/>
        </p:nvSpPr>
        <p:spPr>
          <a:xfrm>
            <a:off x="6245352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71032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+1</a:t>
            </a:r>
            <a:endParaRPr lang="en-US" sz="1200" dirty="0"/>
          </a:p>
        </p:txBody>
      </p:sp>
      <p:sp>
        <p:nvSpPr>
          <p:cNvPr id="19" name="Grade 2"/>
          <p:cNvSpPr/>
          <p:nvPr/>
        </p:nvSpPr>
        <p:spPr>
          <a:xfrm>
            <a:off x="7031736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57416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+2</a:t>
            </a:r>
            <a:endParaRPr lang="en-US" sz="1200" dirty="0"/>
          </a:p>
        </p:txBody>
      </p:sp>
      <p:sp>
        <p:nvSpPr>
          <p:cNvPr id="21" name="Grade 3"/>
          <p:cNvSpPr/>
          <p:nvPr/>
        </p:nvSpPr>
        <p:spPr>
          <a:xfrm>
            <a:off x="7818120" y="1783080"/>
            <a:ext cx="0" cy="3611880"/>
          </a:xfrm>
          <a:prstGeom prst="line">
            <a:avLst/>
          </a:prstGeom>
          <a:noFill/>
          <a:ln w="9525">
            <a:solidFill>
              <a:srgbClr val="DCE6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543800" y="544068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+3</a:t>
            </a:r>
            <a:endParaRPr lang="en-US" sz="1200" dirty="0"/>
          </a:p>
        </p:txBody>
      </p:sp>
      <p:sp>
        <p:nvSpPr>
          <p:cNvPr id="23" name="Título do eixo"/>
          <p:cNvSpPr txBox="1"/>
          <p:nvPr/>
        </p:nvSpPr>
        <p:spPr>
          <a:xfrm>
            <a:off x="3063240" y="568756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Efeito de AIOE × pós (p.p. por unidade de AIOE), com IC de 95%</a:t>
            </a:r>
            <a:endParaRPr lang="en-US" sz="1200" dirty="0"/>
          </a:p>
        </p:txBody>
      </p:sp>
      <p:sp>
        <p:nvSpPr>
          <p:cNvPr id="24" name="Rótulo: Transição para menor AIOE"/>
          <p:cNvSpPr txBox="1"/>
          <p:nvPr/>
        </p:nvSpPr>
        <p:spPr>
          <a:xfrm>
            <a:off x="548640" y="19431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menor AIOE</a:t>
            </a:r>
            <a:endParaRPr lang="en-US" sz="1400" dirty="0"/>
          </a:p>
        </p:txBody>
      </p:sp>
      <p:sp>
        <p:nvSpPr>
          <p:cNvPr id="25" name="IC 95%: Transição para menor AIOE"/>
          <p:cNvSpPr/>
          <p:nvPr/>
        </p:nvSpPr>
        <p:spPr>
          <a:xfrm>
            <a:off x="7017581" y="2125980"/>
            <a:ext cx="323204" cy="0"/>
          </a:xfrm>
          <a:prstGeom prst="line">
            <a:avLst/>
          </a:prstGeom>
          <a:noFill/>
          <a:ln w="31750">
            <a:solidFill>
              <a:srgbClr val="006437"/>
            </a:solidFill>
            <a:prstDash val="solid"/>
          </a:ln>
        </p:spPr>
      </p:sp>
      <p:sp>
        <p:nvSpPr>
          <p:cNvPr id="26" name="Extremo do IC"/>
          <p:cNvSpPr/>
          <p:nvPr/>
        </p:nvSpPr>
        <p:spPr>
          <a:xfrm>
            <a:off x="7017581" y="205282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27" name="Extremo do IC"/>
          <p:cNvSpPr/>
          <p:nvPr/>
        </p:nvSpPr>
        <p:spPr>
          <a:xfrm>
            <a:off x="7340785" y="205282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28" name="Estimativa: Transição para menor AIOE"/>
          <p:cNvSpPr/>
          <p:nvPr/>
        </p:nvSpPr>
        <p:spPr>
          <a:xfrm>
            <a:off x="7096494" y="2043684"/>
            <a:ext cx="164592" cy="164592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prstDash val="solid"/>
          </a:ln>
        </p:spPr>
      </p:sp>
      <p:sp>
        <p:nvSpPr>
          <p:cNvPr id="29" name="Valor: Transição para menor AIOE"/>
          <p:cNvSpPr txBox="1"/>
          <p:nvPr/>
        </p:nvSpPr>
        <p:spPr>
          <a:xfrm>
            <a:off x="6721590" y="17419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+2,19</a:t>
            </a:r>
            <a:endParaRPr lang="en-US" sz="1200" dirty="0"/>
          </a:p>
        </p:txBody>
      </p:sp>
      <p:sp>
        <p:nvSpPr>
          <p:cNvPr id="30" name="Rótulo: Muda de ocupação (3 dígitos)"/>
          <p:cNvSpPr txBox="1"/>
          <p:nvPr/>
        </p:nvSpPr>
        <p:spPr>
          <a:xfrm>
            <a:off x="548640" y="24460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(3 dígitos)</a:t>
            </a:r>
            <a:endParaRPr lang="en-US" sz="1400" dirty="0"/>
          </a:p>
        </p:txBody>
      </p:sp>
      <p:sp>
        <p:nvSpPr>
          <p:cNvPr id="31" name="IC 95%: Muda de ocupação (3 dígitos)"/>
          <p:cNvSpPr/>
          <p:nvPr/>
        </p:nvSpPr>
        <p:spPr>
          <a:xfrm>
            <a:off x="5926080" y="2628900"/>
            <a:ext cx="419929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2" name="Extremo do IC"/>
          <p:cNvSpPr/>
          <p:nvPr/>
        </p:nvSpPr>
        <p:spPr>
          <a:xfrm>
            <a:off x="5926080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3" name="Extremo do IC"/>
          <p:cNvSpPr/>
          <p:nvPr/>
        </p:nvSpPr>
        <p:spPr>
          <a:xfrm>
            <a:off x="6346009" y="255574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4" name="Estimativa: Muda de ocupação (3 dígitos)"/>
          <p:cNvSpPr/>
          <p:nvPr/>
        </p:nvSpPr>
        <p:spPr>
          <a:xfrm>
            <a:off x="6053749" y="254660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35" name="Valor: Muda de ocupação (3 dígitos)"/>
          <p:cNvSpPr txBox="1"/>
          <p:nvPr/>
        </p:nvSpPr>
        <p:spPr>
          <a:xfrm>
            <a:off x="5678845" y="22448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+0,86</a:t>
            </a:r>
            <a:endParaRPr lang="en-US" sz="1200" dirty="0"/>
          </a:p>
        </p:txBody>
      </p:sp>
      <p:sp>
        <p:nvSpPr>
          <p:cNvPr id="36" name="Rótulo: Muda de ocupação (2 dígitos)"/>
          <p:cNvSpPr txBox="1"/>
          <p:nvPr/>
        </p:nvSpPr>
        <p:spPr>
          <a:xfrm>
            <a:off x="548640" y="29489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Muda de ocupação (2 dígitos)</a:t>
            </a:r>
            <a:endParaRPr lang="en-US" sz="1400" dirty="0"/>
          </a:p>
        </p:txBody>
      </p:sp>
      <p:sp>
        <p:nvSpPr>
          <p:cNvPr id="37" name="IC 95%: Muda de ocupação (2 dígitos)"/>
          <p:cNvSpPr/>
          <p:nvPr/>
        </p:nvSpPr>
        <p:spPr>
          <a:xfrm>
            <a:off x="5480200" y="3131820"/>
            <a:ext cx="394765" cy="0"/>
          </a:xfrm>
          <a:prstGeom prst="line">
            <a:avLst/>
          </a:prstGeom>
          <a:noFill/>
          <a:ln w="31750">
            <a:solidFill>
              <a:srgbClr val="3F8F68"/>
            </a:solidFill>
            <a:prstDash val="solid"/>
          </a:ln>
        </p:spPr>
      </p:sp>
      <p:sp>
        <p:nvSpPr>
          <p:cNvPr id="38" name="Extremo do IC"/>
          <p:cNvSpPr/>
          <p:nvPr/>
        </p:nvSpPr>
        <p:spPr>
          <a:xfrm>
            <a:off x="5480200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39" name="Extremo do IC"/>
          <p:cNvSpPr/>
          <p:nvPr/>
        </p:nvSpPr>
        <p:spPr>
          <a:xfrm>
            <a:off x="5874965" y="3058668"/>
            <a:ext cx="0" cy="146304"/>
          </a:xfrm>
          <a:prstGeom prst="line">
            <a:avLst/>
          </a:prstGeom>
          <a:noFill/>
          <a:ln w="25400">
            <a:solidFill>
              <a:srgbClr val="3F8F68"/>
            </a:solidFill>
            <a:prstDash val="solid"/>
          </a:ln>
        </p:spPr>
      </p:sp>
      <p:sp>
        <p:nvSpPr>
          <p:cNvPr id="40" name="Estimativa: Muda de ocupação (2 dígitos)"/>
          <p:cNvSpPr/>
          <p:nvPr/>
        </p:nvSpPr>
        <p:spPr>
          <a:xfrm>
            <a:off x="5595287" y="3049524"/>
            <a:ext cx="164592" cy="164592"/>
          </a:xfrm>
          <a:prstGeom prst="ellipse">
            <a:avLst/>
          </a:prstGeom>
          <a:solidFill>
            <a:srgbClr val="3F8F68"/>
          </a:solidFill>
          <a:ln w="25400">
            <a:solidFill>
              <a:srgbClr val="3F8F68"/>
            </a:solidFill>
            <a:prstDash val="solid"/>
          </a:ln>
        </p:spPr>
      </p:sp>
      <p:sp>
        <p:nvSpPr>
          <p:cNvPr id="41" name="Valor: Muda de ocupação (2 dígitos)"/>
          <p:cNvSpPr txBox="1"/>
          <p:nvPr/>
        </p:nvSpPr>
        <p:spPr>
          <a:xfrm>
            <a:off x="5220383" y="27477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+0,28</a:t>
            </a:r>
            <a:endParaRPr lang="en-US" sz="1200" dirty="0"/>
          </a:p>
        </p:txBody>
      </p:sp>
      <p:sp>
        <p:nvSpPr>
          <p:cNvPr id="42" name="Rótulo: Saída do emprego"/>
          <p:cNvSpPr txBox="1"/>
          <p:nvPr/>
        </p:nvSpPr>
        <p:spPr>
          <a:xfrm>
            <a:off x="548640" y="34518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Saída do emprego</a:t>
            </a:r>
            <a:endParaRPr lang="en-US" sz="1400" dirty="0"/>
          </a:p>
        </p:txBody>
      </p:sp>
      <p:sp>
        <p:nvSpPr>
          <p:cNvPr id="43" name="IC 95%: Saída do emprego"/>
          <p:cNvSpPr/>
          <p:nvPr/>
        </p:nvSpPr>
        <p:spPr>
          <a:xfrm>
            <a:off x="5145987" y="3634740"/>
            <a:ext cx="231983" cy="0"/>
          </a:xfrm>
          <a:prstGeom prst="line">
            <a:avLst/>
          </a:prstGeom>
          <a:noFill/>
          <a:ln w="31750">
            <a:solidFill>
              <a:srgbClr val="143B2B"/>
            </a:solidFill>
            <a:prstDash val="solid"/>
          </a:ln>
        </p:spPr>
      </p:sp>
      <p:sp>
        <p:nvSpPr>
          <p:cNvPr id="44" name="Extremo do IC"/>
          <p:cNvSpPr/>
          <p:nvPr/>
        </p:nvSpPr>
        <p:spPr>
          <a:xfrm>
            <a:off x="5145987" y="3561588"/>
            <a:ext cx="0" cy="146304"/>
          </a:xfrm>
          <a:prstGeom prst="line">
            <a:avLst/>
          </a:prstGeom>
          <a:noFill/>
          <a:ln w="25400">
            <a:solidFill>
              <a:srgbClr val="143B2B"/>
            </a:solidFill>
            <a:prstDash val="solid"/>
          </a:ln>
        </p:spPr>
      </p:sp>
      <p:sp>
        <p:nvSpPr>
          <p:cNvPr id="45" name="Extremo do IC"/>
          <p:cNvSpPr/>
          <p:nvPr/>
        </p:nvSpPr>
        <p:spPr>
          <a:xfrm>
            <a:off x="5377970" y="3561588"/>
            <a:ext cx="0" cy="146304"/>
          </a:xfrm>
          <a:prstGeom prst="line">
            <a:avLst/>
          </a:prstGeom>
          <a:noFill/>
          <a:ln w="25400">
            <a:solidFill>
              <a:srgbClr val="143B2B"/>
            </a:solidFill>
            <a:prstDash val="solid"/>
          </a:ln>
        </p:spPr>
      </p:sp>
      <p:sp>
        <p:nvSpPr>
          <p:cNvPr id="46" name="Estimativa: Saída do emprego"/>
          <p:cNvSpPr/>
          <p:nvPr/>
        </p:nvSpPr>
        <p:spPr>
          <a:xfrm>
            <a:off x="5180076" y="3552444"/>
            <a:ext cx="164592" cy="164592"/>
          </a:xfrm>
          <a:prstGeom prst="ellipse">
            <a:avLst/>
          </a:prstGeom>
          <a:solidFill>
            <a:srgbClr val="143B2B"/>
          </a:solidFill>
          <a:ln w="25400">
            <a:solidFill>
              <a:srgbClr val="143B2B"/>
            </a:solidFill>
            <a:prstDash val="solid"/>
          </a:ln>
        </p:spPr>
      </p:sp>
      <p:sp>
        <p:nvSpPr>
          <p:cNvPr id="47" name="Valor: Saída do emprego"/>
          <p:cNvSpPr txBox="1"/>
          <p:nvPr/>
        </p:nvSpPr>
        <p:spPr>
          <a:xfrm>
            <a:off x="4805172" y="32506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−0,25</a:t>
            </a:r>
            <a:endParaRPr lang="en-US" sz="1200" dirty="0"/>
          </a:p>
        </p:txBody>
      </p:sp>
      <p:sp>
        <p:nvSpPr>
          <p:cNvPr id="48" name="Rótulo: Pareamento (teste de atrito)"/>
          <p:cNvSpPr txBox="1"/>
          <p:nvPr/>
        </p:nvSpPr>
        <p:spPr>
          <a:xfrm>
            <a:off x="548640" y="39547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Pareamento (teste de atrito)</a:t>
            </a:r>
            <a:endParaRPr lang="en-US" sz="1400" dirty="0"/>
          </a:p>
        </p:txBody>
      </p:sp>
      <p:sp>
        <p:nvSpPr>
          <p:cNvPr id="49" name="IC 95%: Pareamento (teste de atrito)"/>
          <p:cNvSpPr/>
          <p:nvPr/>
        </p:nvSpPr>
        <p:spPr>
          <a:xfrm>
            <a:off x="5037466" y="4137660"/>
            <a:ext cx="433298" cy="0"/>
          </a:xfrm>
          <a:prstGeom prst="line">
            <a:avLst/>
          </a:prstGeom>
          <a:noFill/>
          <a:ln w="31750">
            <a:solidFill>
              <a:srgbClr val="5F7367"/>
            </a:solidFill>
            <a:prstDash val="solid"/>
          </a:ln>
        </p:spPr>
      </p:sp>
      <p:sp>
        <p:nvSpPr>
          <p:cNvPr id="50" name="Extremo do IC"/>
          <p:cNvSpPr/>
          <p:nvPr/>
        </p:nvSpPr>
        <p:spPr>
          <a:xfrm>
            <a:off x="5037466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1" name="Extremo do IC"/>
          <p:cNvSpPr/>
          <p:nvPr/>
        </p:nvSpPr>
        <p:spPr>
          <a:xfrm>
            <a:off x="5470764" y="4064508"/>
            <a:ext cx="0" cy="146304"/>
          </a:xfrm>
          <a:prstGeom prst="line">
            <a:avLst/>
          </a:prstGeom>
          <a:noFill/>
          <a:ln w="25400">
            <a:solidFill>
              <a:srgbClr val="5F7367"/>
            </a:solidFill>
            <a:prstDash val="solid"/>
          </a:ln>
        </p:spPr>
      </p:sp>
      <p:sp>
        <p:nvSpPr>
          <p:cNvPr id="52" name="Estimativa: Pareamento (teste de atrito)"/>
          <p:cNvSpPr/>
          <p:nvPr/>
        </p:nvSpPr>
        <p:spPr>
          <a:xfrm>
            <a:off x="5171426" y="4055364"/>
            <a:ext cx="164592" cy="16459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5F7367"/>
            </a:solidFill>
            <a:prstDash val="solid"/>
          </a:ln>
        </p:spPr>
      </p:sp>
      <p:sp>
        <p:nvSpPr>
          <p:cNvPr id="53" name="Valor: Pareamento (teste de atrito)"/>
          <p:cNvSpPr txBox="1"/>
          <p:nvPr/>
        </p:nvSpPr>
        <p:spPr>
          <a:xfrm>
            <a:off x="4796522" y="37536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−0,26</a:t>
            </a:r>
            <a:endParaRPr lang="en-US" sz="1200" dirty="0"/>
          </a:p>
        </p:txBody>
      </p:sp>
      <p:sp>
        <p:nvSpPr>
          <p:cNvPr id="54" name="Rótulo: Formal → informal"/>
          <p:cNvSpPr txBox="1"/>
          <p:nvPr/>
        </p:nvSpPr>
        <p:spPr>
          <a:xfrm>
            <a:off x="548640" y="44577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Formal → informal</a:t>
            </a:r>
            <a:endParaRPr lang="en-US" sz="1400" dirty="0"/>
          </a:p>
        </p:txBody>
      </p:sp>
      <p:sp>
        <p:nvSpPr>
          <p:cNvPr id="55" name="IC 95%: Formal → informal"/>
          <p:cNvSpPr/>
          <p:nvPr/>
        </p:nvSpPr>
        <p:spPr>
          <a:xfrm>
            <a:off x="4784251" y="4640580"/>
            <a:ext cx="290962" cy="0"/>
          </a:xfrm>
          <a:prstGeom prst="line">
            <a:avLst/>
          </a:prstGeom>
          <a:noFill/>
          <a:ln w="31750">
            <a:solidFill>
              <a:srgbClr val="143B2B"/>
            </a:solidFill>
            <a:prstDash val="solid"/>
          </a:ln>
        </p:spPr>
      </p:sp>
      <p:sp>
        <p:nvSpPr>
          <p:cNvPr id="56" name="Extremo do IC"/>
          <p:cNvSpPr/>
          <p:nvPr/>
        </p:nvSpPr>
        <p:spPr>
          <a:xfrm>
            <a:off x="4784251" y="4567428"/>
            <a:ext cx="0" cy="146304"/>
          </a:xfrm>
          <a:prstGeom prst="line">
            <a:avLst/>
          </a:prstGeom>
          <a:noFill/>
          <a:ln w="25400">
            <a:solidFill>
              <a:srgbClr val="143B2B"/>
            </a:solidFill>
            <a:prstDash val="solid"/>
          </a:ln>
        </p:spPr>
      </p:sp>
      <p:sp>
        <p:nvSpPr>
          <p:cNvPr id="57" name="Extremo do IC"/>
          <p:cNvSpPr/>
          <p:nvPr/>
        </p:nvSpPr>
        <p:spPr>
          <a:xfrm>
            <a:off x="5075213" y="4567428"/>
            <a:ext cx="0" cy="146304"/>
          </a:xfrm>
          <a:prstGeom prst="line">
            <a:avLst/>
          </a:prstGeom>
          <a:noFill/>
          <a:ln w="25400">
            <a:solidFill>
              <a:srgbClr val="143B2B"/>
            </a:solidFill>
            <a:prstDash val="solid"/>
          </a:ln>
        </p:spPr>
      </p:sp>
      <p:sp>
        <p:nvSpPr>
          <p:cNvPr id="58" name="Estimativa: Formal → informal"/>
          <p:cNvSpPr/>
          <p:nvPr/>
        </p:nvSpPr>
        <p:spPr>
          <a:xfrm>
            <a:off x="4847436" y="4558284"/>
            <a:ext cx="164592" cy="164592"/>
          </a:xfrm>
          <a:prstGeom prst="ellipse">
            <a:avLst/>
          </a:prstGeom>
          <a:solidFill>
            <a:srgbClr val="143B2B"/>
          </a:solidFill>
          <a:ln w="25400">
            <a:solidFill>
              <a:srgbClr val="143B2B"/>
            </a:solidFill>
            <a:prstDash val="solid"/>
          </a:ln>
        </p:spPr>
      </p:sp>
      <p:sp>
        <p:nvSpPr>
          <p:cNvPr id="59" name="Valor: Formal → informal"/>
          <p:cNvSpPr txBox="1"/>
          <p:nvPr/>
        </p:nvSpPr>
        <p:spPr>
          <a:xfrm>
            <a:off x="4472532" y="42565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−0,67</a:t>
            </a:r>
            <a:endParaRPr lang="en-US" sz="1200" dirty="0"/>
          </a:p>
        </p:txBody>
      </p:sp>
      <p:sp>
        <p:nvSpPr>
          <p:cNvPr id="60" name="Rótulo: Transição para maior AIOE"/>
          <p:cNvSpPr txBox="1"/>
          <p:nvPr/>
        </p:nvSpPr>
        <p:spPr>
          <a:xfrm>
            <a:off x="548640" y="496062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Transição para maior AIOE</a:t>
            </a:r>
            <a:endParaRPr lang="en-US" sz="1400" dirty="0"/>
          </a:p>
        </p:txBody>
      </p:sp>
      <p:sp>
        <p:nvSpPr>
          <p:cNvPr id="61" name="IC 95%: Transição para maior AIOE"/>
          <p:cNvSpPr/>
          <p:nvPr/>
        </p:nvSpPr>
        <p:spPr>
          <a:xfrm>
            <a:off x="4227491" y="5143500"/>
            <a:ext cx="318486" cy="0"/>
          </a:xfrm>
          <a:prstGeom prst="line">
            <a:avLst/>
          </a:prstGeom>
          <a:noFill/>
          <a:ln w="31750">
            <a:solidFill>
              <a:srgbClr val="006437"/>
            </a:solidFill>
            <a:prstDash val="solid"/>
          </a:ln>
        </p:spPr>
      </p:sp>
      <p:sp>
        <p:nvSpPr>
          <p:cNvPr id="62" name="Extremo do IC"/>
          <p:cNvSpPr/>
          <p:nvPr/>
        </p:nvSpPr>
        <p:spPr>
          <a:xfrm>
            <a:off x="4227491" y="507034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63" name="Extremo do IC"/>
          <p:cNvSpPr/>
          <p:nvPr/>
        </p:nvSpPr>
        <p:spPr>
          <a:xfrm>
            <a:off x="4545976" y="5070348"/>
            <a:ext cx="0" cy="146304"/>
          </a:xfrm>
          <a:prstGeom prst="line">
            <a:avLst/>
          </a:prstGeom>
          <a:noFill/>
          <a:ln w="25400">
            <a:solidFill>
              <a:srgbClr val="006437"/>
            </a:solidFill>
            <a:prstDash val="solid"/>
          </a:ln>
        </p:spPr>
      </p:sp>
      <p:sp>
        <p:nvSpPr>
          <p:cNvPr id="64" name="Estimativa: Transição para maior AIOE"/>
          <p:cNvSpPr/>
          <p:nvPr/>
        </p:nvSpPr>
        <p:spPr>
          <a:xfrm>
            <a:off x="4304044" y="5061204"/>
            <a:ext cx="164592" cy="164592"/>
          </a:xfrm>
          <a:prstGeom prst="ellipse">
            <a:avLst/>
          </a:prstGeom>
          <a:solidFill>
            <a:srgbClr val="006437"/>
          </a:solidFill>
          <a:ln w="25400">
            <a:solidFill>
              <a:srgbClr val="006437"/>
            </a:solidFill>
            <a:prstDash val="solid"/>
          </a:ln>
        </p:spPr>
      </p:sp>
      <p:sp>
        <p:nvSpPr>
          <p:cNvPr id="65" name="Valor: Transição para maior AIOE"/>
          <p:cNvSpPr txBox="1"/>
          <p:nvPr/>
        </p:nvSpPr>
        <p:spPr>
          <a:xfrm>
            <a:off x="3929140" y="47594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−1,36</a:t>
            </a:r>
            <a:endParaRPr lang="en-US" sz="1200" dirty="0"/>
          </a:p>
        </p:txBody>
      </p:sp>
      <p:sp>
        <p:nvSpPr>
          <p:cNvPr id="66" name="Destaque 1"/>
          <p:cNvSpPr/>
          <p:nvPr/>
        </p:nvSpPr>
        <p:spPr>
          <a:xfrm>
            <a:off x="8229600" y="141732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67" name="Valor do destaque 1"/>
          <p:cNvSpPr txBox="1"/>
          <p:nvPr/>
        </p:nvSpPr>
        <p:spPr>
          <a:xfrm>
            <a:off x="8412480" y="149047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+2,19 p.p.</a:t>
            </a:r>
            <a:endParaRPr lang="en-US" sz="2800" dirty="0"/>
          </a:p>
        </p:txBody>
      </p:sp>
      <p:sp>
        <p:nvSpPr>
          <p:cNvPr id="68" name="Texto do destaque 1"/>
          <p:cNvSpPr txBox="1"/>
          <p:nvPr/>
        </p:nvSpPr>
        <p:spPr>
          <a:xfrm>
            <a:off x="8412480" y="201168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menos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cerca de 12,6% da taxa pós, de 17,4%</a:t>
            </a:r>
            <a:endParaRPr lang="en-US" sz="1400" dirty="0"/>
          </a:p>
        </p:txBody>
      </p:sp>
      <p:sp>
        <p:nvSpPr>
          <p:cNvPr id="69" name="Destaque 2"/>
          <p:cNvSpPr/>
          <p:nvPr/>
        </p:nvSpPr>
        <p:spPr>
          <a:xfrm>
            <a:off x="8229600" y="288036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0" name="Valor do destaque 2"/>
          <p:cNvSpPr txBox="1"/>
          <p:nvPr/>
        </p:nvSpPr>
        <p:spPr>
          <a:xfrm>
            <a:off x="8412480" y="295351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−1,36 p.p.</a:t>
            </a:r>
            <a:endParaRPr lang="en-US" sz="2800" dirty="0"/>
          </a:p>
        </p:txBody>
      </p:sp>
      <p:sp>
        <p:nvSpPr>
          <p:cNvPr id="71" name="Texto do destaque 2"/>
          <p:cNvSpPr txBox="1"/>
          <p:nvPr/>
        </p:nvSpPr>
        <p:spPr>
          <a:xfrm>
            <a:off x="8412480" y="347472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transição para ocupação mais exposta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as duas margens direcionais se leem juntas</a:t>
            </a:r>
            <a:endParaRPr lang="en-US" sz="1400" dirty="0"/>
          </a:p>
        </p:txBody>
      </p:sp>
      <p:sp>
        <p:nvSpPr>
          <p:cNvPr id="72" name="Destaque 3"/>
          <p:cNvSpPr/>
          <p:nvPr/>
        </p:nvSpPr>
        <p:spPr>
          <a:xfrm>
            <a:off x="8229600" y="4343400"/>
            <a:ext cx="3410712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3" name="Valor do destaque 3"/>
          <p:cNvSpPr txBox="1"/>
          <p:nvPr/>
        </p:nvSpPr>
        <p:spPr>
          <a:xfrm>
            <a:off x="8412480" y="4416552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+0,86 · +0,28 p.p.</a:t>
            </a:r>
            <a:endParaRPr lang="en-US" sz="2800" dirty="0"/>
          </a:p>
        </p:txBody>
      </p:sp>
      <p:sp>
        <p:nvSpPr>
          <p:cNvPr id="74" name="Texto do destaque 3"/>
          <p:cNvSpPr txBox="1"/>
          <p:nvPr/>
        </p:nvSpPr>
        <p:spPr>
          <a:xfrm>
            <a:off x="8412480" y="4937760"/>
            <a:ext cx="30449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mudança de ocupação (3 e 2 dígitos)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 = 0,030 no de 2 dígitos: não citar isoladamente</a:t>
            </a:r>
            <a:endParaRPr lang="en-US" sz="1400" dirty="0"/>
          </a:p>
        </p:txBody>
      </p:sp>
      <p:sp>
        <p:nvSpPr>
          <p:cNvPr id="7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Erros-padrão por UPA; sete desfechos, sem correção para multiplicidade.</a:t>
            </a:r>
            <a:endParaRPr lang="en-US" sz="1100" dirty="0"/>
          </a:p>
        </p:txBody>
      </p:sp>
      <p:sp>
        <p:nvSpPr>
          <p:cNvPr id="7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Mais exposição veio com o vínculo no emprego preservado</a:t>
            </a:r>
            <a:endParaRPr lang="en-US" sz="3000" dirty="0"/>
          </a:p>
        </p:txBody>
      </p:sp>
      <p:sp>
        <p:nvSpPr>
          <p:cNvPr id="3" name="Efeito 1"/>
          <p:cNvSpPr/>
          <p:nvPr/>
        </p:nvSpPr>
        <p:spPr>
          <a:xfrm>
            <a:off x="54864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Valor 1"/>
          <p:cNvSpPr txBox="1"/>
          <p:nvPr/>
        </p:nvSpPr>
        <p:spPr>
          <a:xfrm>
            <a:off x="73152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−0,25 p.p.</a:t>
            </a:r>
            <a:endParaRPr lang="en-US" sz="3800" dirty="0"/>
          </a:p>
        </p:txBody>
      </p:sp>
      <p:sp>
        <p:nvSpPr>
          <p:cNvPr id="5" name="Texto 1"/>
          <p:cNvSpPr txBox="1"/>
          <p:nvPr/>
        </p:nvSpPr>
        <p:spPr>
          <a:xfrm>
            <a:off x="73152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saída do emprego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6" name="Efeito 2"/>
          <p:cNvSpPr/>
          <p:nvPr/>
        </p:nvSpPr>
        <p:spPr>
          <a:xfrm>
            <a:off x="431292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Valor 2"/>
          <p:cNvSpPr txBox="1"/>
          <p:nvPr/>
        </p:nvSpPr>
        <p:spPr>
          <a:xfrm>
            <a:off x="449580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−0,67 p.p.</a:t>
            </a:r>
            <a:endParaRPr lang="en-US" sz="3800" dirty="0"/>
          </a:p>
        </p:txBody>
      </p:sp>
      <p:sp>
        <p:nvSpPr>
          <p:cNvPr id="8" name="Texto 2"/>
          <p:cNvSpPr txBox="1"/>
          <p:nvPr/>
        </p:nvSpPr>
        <p:spPr>
          <a:xfrm>
            <a:off x="449580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exposição × pós</a:t>
            </a:r>
            <a:endParaRPr lang="en-US" sz="1700" dirty="0"/>
          </a:p>
        </p:txBody>
      </p:sp>
      <p:sp>
        <p:nvSpPr>
          <p:cNvPr id="9" name="Efeito 3"/>
          <p:cNvSpPr/>
          <p:nvPr/>
        </p:nvSpPr>
        <p:spPr>
          <a:xfrm>
            <a:off x="8077200" y="1417320"/>
            <a:ext cx="3563112" cy="1645920"/>
          </a:xfrm>
          <a:prstGeom prst="roundRect">
            <a:avLst>
              <a:gd name="adj" fmla="val 5556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Valor 3"/>
          <p:cNvSpPr txBox="1"/>
          <p:nvPr/>
        </p:nvSpPr>
        <p:spPr>
          <a:xfrm>
            <a:off x="8260080" y="1508760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+1,73 p.p.</a:t>
            </a:r>
            <a:endParaRPr lang="en-US" sz="3800" dirty="0"/>
          </a:p>
        </p:txBody>
      </p:sp>
      <p:sp>
        <p:nvSpPr>
          <p:cNvPr id="11" name="Texto 3"/>
          <p:cNvSpPr txBox="1"/>
          <p:nvPr/>
        </p:nvSpPr>
        <p:spPr>
          <a:xfrm>
            <a:off x="8260080" y="2267712"/>
            <a:ext cx="319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 formal para informal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teletrabalhabilidade × pós (painel B)</a:t>
            </a:r>
            <a:endParaRPr lang="en-US" sz="1700" dirty="0"/>
          </a:p>
        </p:txBody>
      </p:sp>
      <p:sp>
        <p:nvSpPr>
          <p:cNvPr id="12" name="Teste de atrito"/>
          <p:cNvSpPr/>
          <p:nvPr/>
        </p:nvSpPr>
        <p:spPr>
          <a:xfrm>
            <a:off x="548640" y="3291840"/>
            <a:ext cx="708660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Teste de atrito</a:t>
            </a:r>
            <a:endParaRPr lang="en-US" sz="14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Pareamento: −0,261 p.p., p = 0,064.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Não rejeita a estabilidade do gradiente de pareamento, mas o resultado está perto do limiar e o sinal é negativo. A seleção longitudinal não está descartada.</a:t>
            </a:r>
            <a:endParaRPr lang="en-US" sz="1400" dirty="0"/>
          </a:p>
        </p:txBody>
      </p:sp>
      <p:sp>
        <p:nvSpPr>
          <p:cNvPr id="13" name="Como ler"/>
          <p:cNvSpPr/>
          <p:nvPr/>
        </p:nvSpPr>
        <p:spPr>
          <a:xfrm>
            <a:off x="7836408" y="3291840"/>
            <a:ext cx="3803904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3175" rIns="3175" bIns="127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Como ler</a:t>
            </a:r>
            <a:endParaRPr lang="en-US" sz="14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Compatível com o ramo de Autor e Thompson (2025) em que o vínculo se preserva e o ajuste recai sobre o rendimento, que esta pesquisa não observa. Compatibilidade não é teste.</a:t>
            </a:r>
            <a:endParaRPr lang="en-US" sz="1400" dirty="0"/>
          </a:p>
        </p:txBody>
      </p:sp>
      <p:sp>
        <p:nvSpPr>
          <p:cNvPr id="14" name="Síntese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11765"/>
            </a:avLst>
          </a:prstGeom>
          <a:solidFill>
            <a:schemeClr val="accent2"/>
          </a:solidFill>
          <a:ln/>
        </p:spPr>
        <p:txBody>
          <a:bodyPr wrap="square" lIns="1270" tIns="3810" rIns="3810" bIns="127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Mais exposição à IA, vínculo preservado: menos saída do emprego e menos informalização.</a:t>
            </a:r>
            <a:endParaRPr lang="en-US" sz="1900" dirty="0"/>
          </a:p>
        </p:txBody>
      </p:sp>
      <p:sp>
        <p:nvSpPr>
          <p:cNvPr id="15" name="Fonte"/>
          <p:cNvSpPr txBox="1"/>
          <p:nvPr/>
        </p:nvSpPr>
        <p:spPr>
          <a:xfrm>
            <a:off x="548640" y="6089904"/>
            <a:ext cx="11091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Fonte: elaboração própria a partir da PNADC/IBGE. Efeitos em pontos percentuais por unidade do índice.</a:t>
            </a:r>
            <a:endParaRPr lang="en-US" sz="1100" dirty="0"/>
          </a:p>
        </p:txBody>
      </p:sp>
      <p:sp>
        <p:nvSpPr>
          <p:cNvPr id="16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Os dados mostram associação, ainda não causalidade</a:t>
            </a:r>
            <a:endParaRPr lang="en-US" sz="3000" dirty="0"/>
          </a:p>
        </p:txBody>
      </p:sp>
      <p:sp>
        <p:nvSpPr>
          <p:cNvPr id="3" name="Coluna: O que os resultados sustentam"/>
          <p:cNvSpPr/>
          <p:nvPr/>
        </p:nvSpPr>
        <p:spPr>
          <a:xfrm>
            <a:off x="548640" y="1417320"/>
            <a:ext cx="5408676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Marca: O que os resultados sustentam"/>
          <p:cNvSpPr/>
          <p:nvPr/>
        </p:nvSpPr>
        <p:spPr>
          <a:xfrm>
            <a:off x="777240" y="162763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✓</a:t>
            </a:r>
            <a:endParaRPr lang="en-US" sz="2000" dirty="0"/>
          </a:p>
        </p:txBody>
      </p:sp>
      <p:sp>
        <p:nvSpPr>
          <p:cNvPr id="5" name="Título: O que os resultados sustentam"/>
          <p:cNvSpPr txBox="1"/>
          <p:nvPr/>
        </p:nvSpPr>
        <p:spPr>
          <a:xfrm>
            <a:off x="1508760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os resultados sustentam</a:t>
            </a:r>
            <a:endParaRPr lang="en-US" sz="2000" dirty="0"/>
          </a:p>
        </p:txBody>
      </p:sp>
      <p:sp>
        <p:nvSpPr>
          <p:cNvPr id="6" name="Itens: O que os resultados sustentam"/>
          <p:cNvSpPr txBox="1"/>
          <p:nvPr/>
        </p:nvSpPr>
        <p:spPr>
          <a:xfrm>
            <a:off x="822960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Aumento generalizado das taxas medidas de rotatividade ocupacional, em todas as faixas de exposição.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Gradiente condicional detectável: +2,19 p.p. por unidade de AIOE na transição para ocupação menos exposta.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Nas margens de vínculo, sinal oposto ao da leitura alarmista.</a:t>
            </a:r>
            <a:endParaRPr lang="en-US" sz="1800" dirty="0"/>
          </a:p>
        </p:txBody>
      </p:sp>
      <p:sp>
        <p:nvSpPr>
          <p:cNvPr id="7" name="Coluna: O que não sustentam"/>
          <p:cNvSpPr/>
          <p:nvPr/>
        </p:nvSpPr>
        <p:spPr>
          <a:xfrm>
            <a:off x="6231636" y="1417320"/>
            <a:ext cx="5408676" cy="4572000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2700">
            <a:solidFill>
              <a:schemeClr val="accent4"/>
            </a:solidFill>
          </a:ln>
        </p:spPr>
        <p:txBody>
          <a:bodyPr wrap="square" lIns="1778" tIns="2540" rIns="2540" bIns="1778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8" name="Marca: O que não sustentam"/>
          <p:cNvSpPr/>
          <p:nvPr/>
        </p:nvSpPr>
        <p:spPr>
          <a:xfrm>
            <a:off x="6460236" y="1627632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✕</a:t>
            </a:r>
            <a:endParaRPr lang="en-US" sz="2000" dirty="0"/>
          </a:p>
        </p:txBody>
      </p:sp>
      <p:sp>
        <p:nvSpPr>
          <p:cNvPr id="9" name="Título: O que não sustentam"/>
          <p:cNvSpPr txBox="1"/>
          <p:nvPr/>
        </p:nvSpPr>
        <p:spPr>
          <a:xfrm>
            <a:off x="7191756" y="1627632"/>
            <a:ext cx="42199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 que não sustentam</a:t>
            </a:r>
            <a:endParaRPr lang="en-US" sz="2000" dirty="0"/>
          </a:p>
        </p:txBody>
      </p:sp>
      <p:sp>
        <p:nvSpPr>
          <p:cNvPr id="10" name="Itens: O que não sustentam"/>
          <p:cNvSpPr txBox="1"/>
          <p:nvPr/>
        </p:nvSpPr>
        <p:spPr>
          <a:xfrm>
            <a:off x="6505956" y="2377440"/>
            <a:ext cx="486003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Efeito causal: cenário único, sem estudo de evento nem teste de tendências pré-marco.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Adoção de IA: o tratamento é exposição potencial, num marco único e nacional.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Estabilidade da medida: a mudança de ocupação (3 dígitos) cai de 30,0% em 2019T4 para 15,3% em 2020T1 e volta a 34,3% em 2021T4.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Seleção longitudinal e horizonte maior que um trimestre.</a:t>
            </a:r>
            <a:endParaRPr lang="en-US" sz="1800" dirty="0"/>
          </a:p>
        </p:txBody>
      </p:sp>
      <p:sp>
        <p:nvSpPr>
          <p:cNvPr id="11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6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Mudou a direção, não o vínculo; a causa segue em aberto</a:t>
            </a:r>
            <a:endParaRPr lang="en-US" sz="3000" dirty="0"/>
          </a:p>
        </p:txBody>
      </p:sp>
      <p:sp>
        <p:nvSpPr>
          <p:cNvPr id="3" name="Carta: Resolução"/>
          <p:cNvSpPr/>
          <p:nvPr/>
        </p:nvSpPr>
        <p:spPr>
          <a:xfrm>
            <a:off x="548640" y="1371600"/>
            <a:ext cx="5257800" cy="4114800"/>
          </a:xfrm>
          <a:prstGeom prst="roundRect">
            <a:avLst>
              <a:gd name="adj" fmla="val 2222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Rótulo"/>
          <p:cNvSpPr txBox="1"/>
          <p:nvPr/>
        </p:nvSpPr>
        <p:spPr>
          <a:xfrm>
            <a:off x="777240" y="153619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RESOLUÇÃO · A RESPOSTA EM TRÊS NÍVEIS</a:t>
            </a:r>
            <a:endParaRPr lang="en-US" sz="1200" dirty="0"/>
          </a:p>
        </p:txBody>
      </p:sp>
      <p:sp>
        <p:nvSpPr>
          <p:cNvPr id="5" name="Marca: Descritivo"/>
          <p:cNvSpPr/>
          <p:nvPr/>
        </p:nvSpPr>
        <p:spPr>
          <a:xfrm>
            <a:off x="777240" y="21488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6" name="Texto: Descritivo"/>
          <p:cNvSpPr txBox="1"/>
          <p:nvPr/>
        </p:nvSpPr>
        <p:spPr>
          <a:xfrm>
            <a:off x="1508760" y="19202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Descritivo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mobilidade subiu para todos, e não só para os mais expostos.</a:t>
            </a:r>
            <a:endParaRPr lang="en-US" sz="1800" dirty="0"/>
          </a:p>
        </p:txBody>
      </p:sp>
      <p:sp>
        <p:nvSpPr>
          <p:cNvPr id="7" name="Marca: Associação condicional"/>
          <p:cNvSpPr/>
          <p:nvPr/>
        </p:nvSpPr>
        <p:spPr>
          <a:xfrm>
            <a:off x="777240" y="3319272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✓</a:t>
            </a:r>
            <a:endParaRPr lang="en-US" sz="2000" dirty="0"/>
          </a:p>
        </p:txBody>
      </p:sp>
      <p:sp>
        <p:nvSpPr>
          <p:cNvPr id="8" name="Texto: Associação condicional"/>
          <p:cNvSpPr txBox="1"/>
          <p:nvPr/>
        </p:nvSpPr>
        <p:spPr>
          <a:xfrm>
            <a:off x="1508760" y="3090672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Associação condicional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Gradiente detectável, da ordem de 2 p.p. por unidade de AIOE. Vínculo sem deterioração.</a:t>
            </a:r>
            <a:endParaRPr lang="en-US" sz="1800" dirty="0"/>
          </a:p>
        </p:txBody>
      </p:sp>
      <p:sp>
        <p:nvSpPr>
          <p:cNvPr id="9" name="Marca: Causal"/>
          <p:cNvSpPr/>
          <p:nvPr/>
        </p:nvSpPr>
        <p:spPr>
          <a:xfrm>
            <a:off x="777240" y="4489704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✕</a:t>
            </a:r>
            <a:endParaRPr lang="en-US" sz="2000" dirty="0"/>
          </a:p>
        </p:txBody>
      </p:sp>
      <p:sp>
        <p:nvSpPr>
          <p:cNvPr id="10" name="Texto: Causal"/>
          <p:cNvSpPr txBox="1"/>
          <p:nvPr/>
        </p:nvSpPr>
        <p:spPr>
          <a:xfrm>
            <a:off x="1508760" y="4261104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Causal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O desenho atual não sustenta a afirmação.</a:t>
            </a:r>
            <a:endParaRPr lang="en-US" sz="1800" dirty="0"/>
          </a:p>
        </p:txBody>
      </p:sp>
      <p:sp>
        <p:nvSpPr>
          <p:cNvPr id="11" name="Rótulo"/>
          <p:cNvSpPr txBox="1"/>
          <p:nvPr/>
        </p:nvSpPr>
        <p:spPr>
          <a:xfrm>
            <a:off x="6217920" y="137160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AGENDA, EM ORDEM DE PRIORIDADE</a:t>
            </a:r>
            <a:endParaRPr lang="en-US" sz="1200" dirty="0"/>
          </a:p>
        </p:txBody>
      </p:sp>
      <p:sp>
        <p:nvSpPr>
          <p:cNvPr id="12" name="Passo 1"/>
          <p:cNvSpPr/>
          <p:nvPr/>
        </p:nvSpPr>
        <p:spPr>
          <a:xfrm>
            <a:off x="6217920" y="1792224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Passo 1 (texto)"/>
          <p:cNvSpPr txBox="1"/>
          <p:nvPr/>
        </p:nvSpPr>
        <p:spPr>
          <a:xfrm>
            <a:off x="6858000" y="1737360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Tratar a quebra de medida de 2020 e 2021 e definir a janela homogênea</a:t>
            </a:r>
            <a:endParaRPr lang="en-US" sz="1500" dirty="0"/>
          </a:p>
        </p:txBody>
      </p:sp>
      <p:sp>
        <p:nvSpPr>
          <p:cNvPr id="14" name="Passo 2"/>
          <p:cNvSpPr/>
          <p:nvPr/>
        </p:nvSpPr>
        <p:spPr>
          <a:xfrm>
            <a:off x="6217920" y="256032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Passo 2 (texto)"/>
          <p:cNvSpPr txBox="1"/>
          <p:nvPr/>
        </p:nvSpPr>
        <p:spPr>
          <a:xfrm>
            <a:off x="6858000" y="2505456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Estudo de evento e teste de tendências anteriores ao marco</a:t>
            </a:r>
            <a:endParaRPr lang="en-US" sz="1500" dirty="0"/>
          </a:p>
        </p:txBody>
      </p:sp>
      <p:sp>
        <p:nvSpPr>
          <p:cNvPr id="16" name="Passo 3"/>
          <p:cNvSpPr/>
          <p:nvPr/>
        </p:nvSpPr>
        <p:spPr>
          <a:xfrm>
            <a:off x="6217920" y="3328416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Passo 3 (texto)"/>
          <p:cNvSpPr txBox="1"/>
          <p:nvPr/>
        </p:nvSpPr>
        <p:spPr>
          <a:xfrm>
            <a:off x="6858000" y="3273552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Bateria de sensibilidade: janelas, agrupamento, tendência por exposição</a:t>
            </a:r>
            <a:endParaRPr lang="en-US" sz="1500" dirty="0"/>
          </a:p>
        </p:txBody>
      </p:sp>
      <p:sp>
        <p:nvSpPr>
          <p:cNvPr id="18" name="Passo 4"/>
          <p:cNvSpPr/>
          <p:nvPr/>
        </p:nvSpPr>
        <p:spPr>
          <a:xfrm>
            <a:off x="6217920" y="409651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Passo 4 (texto)"/>
          <p:cNvSpPr txBox="1"/>
          <p:nvPr/>
        </p:nvSpPr>
        <p:spPr>
          <a:xfrm>
            <a:off x="6858000" y="4041648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Medida específica para modelos de linguagem e placebo com teletrabalho</a:t>
            </a:r>
            <a:endParaRPr lang="en-US" sz="1500" dirty="0"/>
          </a:p>
        </p:txBody>
      </p:sp>
      <p:sp>
        <p:nvSpPr>
          <p:cNvPr id="20" name="Passo 5"/>
          <p:cNvSpPr/>
          <p:nvPr/>
        </p:nvSpPr>
        <p:spPr>
          <a:xfrm>
            <a:off x="6217920" y="4864608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Passo 5 (texto)"/>
          <p:cNvSpPr txBox="1"/>
          <p:nvPr/>
        </p:nvSpPr>
        <p:spPr>
          <a:xfrm>
            <a:off x="6858000" y="4809744"/>
            <a:ext cx="4782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Tendências não paralelas e estimadores para tratamento contínuo</a:t>
            </a:r>
            <a:endParaRPr lang="en-US" sz="1500" dirty="0"/>
          </a:p>
        </p:txBody>
      </p:sp>
      <p:sp>
        <p:nvSpPr>
          <p:cNvPr id="22" name="Extensões"/>
          <p:cNvSpPr txBox="1"/>
          <p:nvPr/>
        </p:nvSpPr>
        <p:spPr>
          <a:xfrm>
            <a:off x="6217920" y="5596128"/>
            <a:ext cx="5422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Extensões, por último: rendimentos, dimensão regional e margem de entrada no mercado de trabalho.</a:t>
            </a:r>
            <a:endParaRPr lang="en-US" sz="1300" dirty="0"/>
          </a:p>
        </p:txBody>
      </p:sp>
      <p:sp>
        <p:nvSpPr>
          <p:cNvPr id="23" name="Agradecimento"/>
          <p:cNvSpPr txBox="1"/>
          <p:nvPr/>
        </p:nvSpPr>
        <p:spPr>
          <a:xfrm>
            <a:off x="548640" y="56692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Obrigado. Perguntas?</a:t>
            </a:r>
            <a:endParaRPr lang="en-US" sz="2800" dirty="0"/>
          </a:p>
        </p:txBody>
      </p:sp>
      <p:sp>
        <p:nvSpPr>
          <p:cNvPr id="24" name="Ato da história"/>
          <p:cNvSpPr txBox="1"/>
          <p:nvPr/>
        </p:nvSpPr>
        <p:spPr>
          <a:xfrm>
            <a:off x="6153912" y="914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CONTEXTO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TENSÃO</a:t>
            </a:r>
            <a:pPr algn="r" indent="0" marL="0">
              <a:buNone/>
            </a:pPr>
            <a:r>
              <a:rPr lang="en-US" sz="1100" spc="150" kern="0" dirty="0">
                <a:solidFill>
                  <a:schemeClr val="accent4"/>
                </a:solidFill>
              </a:rPr>
              <a:t>   ·   </a:t>
            </a:r>
            <a:pPr algn="r" indent="0" marL="0">
              <a:buNone/>
            </a:pPr>
            <a:r>
              <a:rPr lang="en-US" sz="1100" b="1" spc="150" kern="0" dirty="0">
                <a:solidFill>
                  <a:schemeClr val="bg1"/>
                </a:solidFill>
              </a:rPr>
              <a:t>● RESOLUÇÃO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lássico em verde floresta">
  <a:themeElements>
    <a:clrScheme name="Clássico em verde floresta">
      <a:dk1>
        <a:srgbClr val="10281D"/>
      </a:dk1>
      <a:lt1>
        <a:srgbClr val="FFFFFF"/>
      </a:lt1>
      <a:dk2>
        <a:srgbClr val="143B2B"/>
      </a:dk2>
      <a:lt2>
        <a:srgbClr val="F0F6F2"/>
      </a:lt2>
      <a:accent1>
        <a:srgbClr val="006437"/>
      </a:accent1>
      <a:accent2>
        <a:srgbClr val="143B2B"/>
      </a:accent2>
      <a:accent3>
        <a:srgbClr val="3F8F68"/>
      </a:accent3>
      <a:accent4>
        <a:srgbClr val="A9CDB8"/>
      </a:accent4>
      <a:accent5>
        <a:srgbClr val="B08A22"/>
      </a:accent5>
      <a:accent6>
        <a:srgbClr val="5F7367"/>
      </a:accent6>
      <a:hlink>
        <a:srgbClr val="006437"/>
      </a:hlink>
      <a:folHlink>
        <a:srgbClr val="4E6A5C"/>
      </a:folHlink>
    </a:clrScheme>
    <a:fontScheme name="Clássico em verde floresta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IDP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Exposição ocupacional à inteligência artificial e transições no mercado de trabalho brasileiro</dc:title>
  <dc:subject>Apresentação da dissertação de mestrado, resultados preliminares</dc:subject>
  <dc:creator>Ricardo Carvalho</dc:creator>
  <cp:lastModifiedBy>Ricardo Carvalho</cp:lastModifiedBy>
  <cp:revision>1</cp:revision>
  <dcterms:created xsi:type="dcterms:W3CDTF">2026-10-12T12:15:57Z</dcterms:created>
  <dcterms:modified xsi:type="dcterms:W3CDTF">2026-10-12T12:15:57Z</dcterms:modified>
</cp:coreProperties>
</file>