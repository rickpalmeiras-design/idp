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833ad81-fde4-a335-8602-915c0c833196}">
          <p14:sldIdLst>
            <p14:sldId id="256"/>
            <p14:sldId id="257"/>
            <p14:sldId id="258"/>
          </p14:sldIdLst>
        </p14:section>
        <p14:section name="Dados e método" id="{4659f938-e0fc-6610-fbe3-ed55553dab1e}">
          <p14:sldIdLst>
            <p14:sldId id="259"/>
            <p14:sldId id="260"/>
            <p14:sldId id="261"/>
            <p14:sldId id="262"/>
          </p14:sldIdLst>
        </p14:section>
        <p14:section name="Resultados" id="{d1253e3a-1e43-cb2c-00fd-f54cfb5b8054}">
          <p14:sldIdLst>
            <p14:sldId id="263"/>
            <p14:sldId id="264"/>
            <p14:sldId id="265"/>
          </p14:sldIdLst>
        </p14:section>
        <p14:section name="Conclusão" id="{a1bf704b-8865-fac1-94ea-3c98fd35f886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Pessoas-transições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Pareamento (todas as origens)</c:v>
                  </c:pt>
                  <c:pt idx="1">
                    <c:v>Saída do emprego (pares)</c:v>
                  </c:pt>
                  <c:pt idx="2">
                    <c:v>Muda de ocupação (destino ocupado)</c:v>
                  </c:pt>
                  <c:pt idx="3">
                    <c:v>Margens direcionais (AIOE nos dois lados)</c:v>
                  </c:pt>
                  <c:pt idx="4">
                    <c:v>Informalização (origem formal)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3963359</c:v>
                </c:pt>
                <c:pt idx="1">
                  <c:v>3178582</c:v>
                </c:pt>
                <c:pt idx="2">
                  <c:v>2882225</c:v>
                </c:pt>
                <c:pt idx="3">
                  <c:v>2879139</c:v>
                </c:pt>
                <c:pt idx="4">
                  <c:v>1677310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Ocupações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-2,1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-1,6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-1,0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-0,4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0,2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0,7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1,3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</c:v>
                </c:pt>
                <c:pt idx="1">
                  <c:v>1</c:v>
                </c:pt>
                <c:pt idx="2">
                  <c:v>5</c:v>
                </c:pt>
                <c:pt idx="3">
                  <c:v>6</c:v>
                </c:pt>
                <c:pt idx="4">
                  <c:v>11</c:v>
                </c:pt>
                <c:pt idx="5">
                  <c:v>12</c:v>
                </c:pt>
                <c:pt idx="6">
                  <c:v>13</c:v>
                </c:pt>
                <c:pt idx="7">
                  <c:v>42</c:v>
                </c:pt>
                <c:pt idx="8">
                  <c:v>18</c:v>
                </c:pt>
                <c:pt idx="9">
                  <c:v>13</c:v>
                </c:pt>
                <c:pt idx="10">
                  <c:v>23</c:v>
                </c:pt>
                <c:pt idx="11">
                  <c:v>19</c:v>
                </c:pt>
                <c:pt idx="12">
                  <c:v>14</c:v>
                </c:pt>
                <c:pt idx="13">
                  <c:v>11</c:v>
                </c:pt>
                <c:pt idx="14">
                  <c:v>17</c:v>
                </c:pt>
                <c:pt idx="15">
                  <c:v>25</c:v>
                </c:pt>
                <c:pt idx="16">
                  <c:v>13</c:v>
                </c:pt>
                <c:pt idx="17">
                  <c:v>12</c:v>
                </c:pt>
                <c:pt idx="18">
                  <c:v>18</c:v>
                </c:pt>
                <c:pt idx="19">
                  <c:v>11</c:v>
                </c:pt>
                <c:pt idx="20">
                  <c:v>7</c:v>
                </c:pt>
                <c:pt idx="21">
                  <c:v>34</c:v>
                </c:pt>
                <c:pt idx="22">
                  <c:v>32</c:v>
                </c:pt>
                <c:pt idx="23">
                  <c:v>38</c:v>
                </c:pt>
                <c:pt idx="2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9525" cap="flat">
              <a:solidFill>
                <a:srgbClr val="DCE6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Pré (2019T1 a 2022T3)</c:v>
                </c:pt>
              </c:strCache>
            </c:strRef>
          </c:tx>
          <c:spPr>
            <a:solidFill>
              <a:srgbClr val="A9CD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23.6</c:v>
                </c:pt>
                <c:pt idx="1">
                  <c:v>20.9</c:v>
                </c:pt>
                <c:pt idx="2">
                  <c:v>12.8</c:v>
                </c:pt>
                <c:pt idx="3">
                  <c:v>12.9</c:v>
                </c:pt>
                <c:pt idx="4">
                  <c:v>5.2</c:v>
                </c:pt>
                <c:pt idx="5">
                  <c:v>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Pós (2022T4 a 2025T3)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31.8</c:v>
                </c:pt>
                <c:pt idx="1">
                  <c:v>28</c:v>
                </c:pt>
                <c:pt idx="2">
                  <c:v>17.4</c:v>
                </c:pt>
                <c:pt idx="3">
                  <c:v>17.4</c:v>
                </c:pt>
                <c:pt idx="4">
                  <c:v>8.8</c:v>
                </c:pt>
                <c:pt idx="5">
                  <c:v>8.1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0281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Pós − pré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-3.6</c:v>
                </c:pt>
                <c:pt idx="1">
                  <c:v>-4.97</c:v>
                </c:pt>
                <c:pt idx="2">
                  <c:v>-6.42</c:v>
                </c:pt>
                <c:pt idx="3">
                  <c:v>-8.06</c:v>
                </c:pt>
                <c:pt idx="4">
                  <c:v>-5.79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 de 12 · tempo previsto 0:30 · deve terminar em 0:30 do relógio]
Agradeço a presença de todos e ao professor Danny, meu orientador. Sou Ricardo Carvalho e apresento, em quinze minutos, a minha dissertação: como a exposição das ocupações à inteligência artificial se relaciona com as transições de trabalho no Brasil depois do ChatGPT, com o painel da PNAD Contínua. São resultados preliminares, e vou dizer com clareza o que sustentam e o que ainda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2 de 12 · tempo previsto 1:15 · deve terminar em 1:45 do relógio]
Em 30 de novembro de 2022, o ChatGPT foi aberto ao público. Esse marco tem uma propriedade útil para quem estuda mercado de trabalho: é único, nacional, tem data certa e não depende de decisão de nenhum trabalhador ou empresa da amostra. A pergunta da dissertação é esta: trabalhadores em ocupações mais expostas à inteligência artificial passaram a apresentar transições de trabalho diferentes depois desse marco?
Três definições antes de seguir. Exposição é uma propriedade da ocupação, medida por um índice. Ela indica o quanto as habilidades da ocupação se aproximam do que a tecnologia faz, e não se alguém usa IA, nem se corre risco de demissão. Transição é o que acontece com a mesma pessoa entre duas entrevistas trimestrais consecutivas. O período vai de 2019 a 2025: quinze trimestres de origem antes do marco e doze depois. E o horizonte é curto, de um trimestre: mede-se o que acontece até a entrevista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3 de 12 · tempo previsto 1:15 · deve terminar em 3:00 do relógio]
A literatura tem três frentes. A primeira mede exposição. Felten, Raj e Seamans, em 2021, construíram o AIOE, que liga habilidades das ocupações a aplicações de inteligência artificial. Eloundou e coautores, em 2024, refazem o exercício tarefa a tarefa, para modelos de linguagem.
A segunda observa adoção e resultados. Brynjolfsson, Li e Raymond acompanham uma central de atendimento e medem ganho de produtividade. Humlum e Vestergaard, na Dinamarca, estimam efeitos nulos e precisos sobre rendimentos e horas dois anos após a adoção, com alguma recomposição de tarefas e troca de ocupação.
A terceira dá desenho e contexto. Acemoglu e Restrepo usam exposição diferencial para identificar efeitos. Ulyssea mostra que a informalidade é heterogênea, e Meghir e coautores, que a fronteira com o setor formal é atravessada com frequência.
A lacuna: não há, no Brasil, medida direta de adoção de IA em base representativa. Por isso uso exposição ocupacional num painel domiciliar.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4 de 12 · tempo previsto 1:15 · deve terminar em 4:15 do relógio]
Os dados vêm da PNAD Contínua trimestral do IBGE, de 2019 a 2025. É um painel rotativo: cada domicílio é visitado cinco vezes, uma por trimestre. Isso permite tentar ligar a mesma pessoa entre dois trimestres seguidos, mas não existe identificador individual validado. Por isso reconstruí o par exigindo, ao mesmo tempo, mesma UPA, domicílio e número de ordem, mesmo sexo, mesmo dia e mês de nascimento e idade coerente.
O gráfico mostra a escala. São quase quatro milhões de pessoas-transições com exposição atribuída à origem. Dessas, 80,2% encontram o par na entrevista seguinte, e cada desfecho usa o seu próprio domínio, como o de destino ocupado, com 2,9 milhões. A taxa de pareamento varia entre 0,747 e 0,847 ao longo dos trimestres, com os valores mais baixos em 2020 e 2021, quando a coleta foi por telefone.
Um aviso: são pessoas-transições, e não pessoas únicas, e o próprio pareamento entra como desfecho, num teste de atrito.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5 de 12 · tempo previsto 1:15 · deve terminar em 5:30 do relógio]
O tratamento é o AIOE, publicado para a classificação ocupacional americana. Como a PNAD usa a classificação brasileira, construí uma ponte em duas etapas: da COD para a ISCO-08, e da ISCO-08 para a SOC. Quando uma ocupação brasileira se liga a várias americanas, o peso é uniforme, uma hipótese de construção que declaro como tal.
A cobertura é alta: 416 códigos recebem exposição, 413 entram na estimação, e só 1,08% do peso amostral fica sem valor. O índice é padronizado entre ocupações, com desvio-padrão de 0,9445. Uma unidade de AIOE equivale, portanto, a cerca de um desvio-padrão, e menor exposição não significa emprego pior. O histograma mostra uma distribuição ampla.
E há um cuidado: a exposição tem correlação de 0,702 com a teletrabalhabilidade. Por isso essa variável entra interagida com o período, para que a exposição não absorva a reorganização do trabalho remoto. Os coeficientes são sempre lidos por unidade de AIOE.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6 de 12 · tempo previsto 1:00 · deve terminar em 6:30 do relógio]
Estimo sete desfechos, em três famílias. A primeira é de continuidade e vínculo: o pareamento, que funciona como teste de atrito, a saída do emprego e a transição de formal para informal. A segunda é de mobilidade ocupacional: se a pessoa mudou de ocupação, em dois e em três dígitos da classificação. A terceira é de deslocamento no gradiente de exposição: a transição para uma ocupação menos exposta e para uma mais exposta.
Cada desfecho é estimado no seu próprio domínio, e ausência nunca vira zero: um destino não observado não quer dizer que a pessoa não mudou de ocupação. As duas margens direcionais só podem ser lidas juntas, porque têm uma assimetria mecânica: quem está numa ocupação muito exposta tem mais destinos possíveis abaixo 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7 de 12 · tempo previsto 1:30 · deve terminar em 8:00 do relógio]
O desenho é de diferenças em diferenças com tratamento contínuo. Não há grupo tratado e grupo de controle: há um marco temporal único e nacional, o lançamento do ChatGPT, e uma intensidade de tratamento que varia entre ocupações, dada pela exposição da ocupação de origem.
O período pré vai de 2019T1 a 2022T3, com quinze trimestres, e o pós, de 2022T4 a 2025T3, com doze. O trimestre do marco conta como pós, por convenção declarada antes da estimação. O parâmetro de interesse, beta, é o coeficiente da interação entre exposição e período pós. Ele compara a mudança entre pré e pós de ocupações com exposições diferentes, em pontos percentuais por unidade de AIOE.
A equação traz ainda a teletrabalhabilidade interagida com o pós, a idade, efeitos fixos de ocupação de origem e de UF por trimestre, e efeitos fixos de sexo, cor ou raça, escolaridade, tempo no emprego, tamanho do estabelecimento e setor.
A estimação é por modelo de probabilidade linear ponderado pelo peso da origem, com erros-padrão agrupados na UPA, em mais de trinta mil grupos. A mesma especificação vale para os sete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8 de 12 · tempo previsto 1:15 · deve terminar em 9:15 do relógio]
Antes de qualquer coeficiente, a descrição. À esquerda, as médias antes e depois do marco. A mudança de ocupação em três dígitos sobe de 23,6% para 31,8%, e em dois dígitos, de 20,9% para 28%. As duas margens direcionais sobem quase igual, de 12,8 e 12,9% para 17,4%. A transição de formal para informal vai de 5,2% a 8,8%, e a saída do emprego praticamente não se move. O pareamento também sobe, de 78,3% para 81,2%.
À direita, a matriz de mobilidade entre cinco faixas de exposição. A permanência na mesma faixa cai em todas elas, entre 3,6 e 8,1 pontos percentuais, e o teste de Wald rejeita a igualdade das matrizes.
A leitura é que houve um aumento generalizado das taxas medidas de rotatividade, e não uma mudança concentrada nas ocupações mais expostas. Um cuidado: a taxa medida de mudança de ocupação tem uma quebra em 2020 e 2021, que retomo adiante.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9 de 12 · tempo previsto 1:45 · deve terminar em 11:00 do relógio]
Este é o resultado principal. O gráfico mostra o coeficiente beta de cada desfecho, com intervalo de confiança de 95%, em pontos percentuais por unidade de AIOE.
O mais forte é o deslocamento no gradiente. Ocupações de origem com uma unidade a mais de exposição tiveram, do pré para o pós, um aumento 2,19 pontos percentuais maior na transição para ocupação menos exposta, e uma variação 1,36 ponto percentual menor na transição para ocupação mais exposta. Em magnitude, 2,19 corresponde a cerca de 12,6% da taxa pós, que é de 17,4%. A leitura é literal: compara mudanças entre pré e pós de ocupações com exposições diferentes, e não acompanha uma mesma ocupação cuja exposição aumente.
A mudança de ocupação também se associa à exposição: mais 0,86 ponto percentual em três dígitos e 0,28 em dois, o que sugere que parte do movimento adicional ocorre dentro das categorias de dois dígitos. Todos os intervalos excluem zero, exceto o do teste de atrito.
Duas ressalvas são essenciais. Primeira: nas margens direcionais, parte do resultado é mecânica, porque origens mais expostas têm mais destinos abaixo delas, e o desenho atual não separa isso do gradiente. Segunda: são sete desfechos correlacionados, sem correção para multiplicidade. O coeficiente de dois dígitos, com p de 0,030, é o que menos resiste e não deve ser citado isoladamente.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10 de 12 · tempo previsto 1:15 · deve terminar em 12:15 do relógio]
Nas margens de vínculo, o sinal é contraintuitivo. Maior exposição se associa a menos saída do emprego, menos 0,25 ponto percentual, e a menos transição de formal para informal, menos 0,67. Ou seja, nesse período, quem está em ocupações mais expostas não mostrou deterioração relativa do vínculo.
Na informalização, o coeficiente da teletrabalhabilidade é positivo, mais 1,73 ponto percentual, enquanto o da exposição é negativo. Como os índices têm escalas diferentes, o desenho não identifica qual força explica o aumento agregado.
Esse padrão é compatível com a ideia, de Autor e Thompson, de que a automação pode preservar o vínculo e fazer o ajuste recair sobre o rendimento. Mas compatibilidade não é teste, e esta pesquisa só observa quantidades, não preços.
Por fim, o teste de atrito: o coeficiente do pareamento é menos 0,261, com p de 0,064. Não rejeito a estabilidade, mas está perto do limiar. Não posso dizer que a seleção longitudinal esteja descartada.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11 de 12 · tempo previsto 1:15 · deve terminar em 13:30 do relógio]
É por isso que o trabalho dedica tanto espaço aos limites. À esquerda, o que os resultados sustentam: houve aumento generalizado da rotatividade; há um gradiente condicional detectável, da ordem de dois pontos percentuais por unidade de exposição; e, nas margens de vínculo, o sinal é oposto ao da leitura alarmista.
À direita, o que não sustentam. Não é evidência causal: é um único cenário de estimação, sem estudo de evento, sem teste de tendências anteriores ao marco e sem bateria de sensibilidade. A adoção de IA não é observada, o tratamento é um índice de exposição potencial, e o marco é único e nacional.
E há uma descontinuidade de medida. A taxa de mudança de ocupação em três dígitos cai de 30% para 15% entre 2019T4 e 2020T1, fica entre 13% e 15% durante a coleta telefônica e volta a 34% em 2021T4. A causa não está demonstrada, e é o limite mais sério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12 de 12 · tempo previsto 1:30 · deve terminar em 15:00 do relógio]
Resumindo, em três níveis. No descritivo, a mobilidade subiu para todos, e não só para os mais expostos. Como associação condicional, existe um gradiente detectável, da ordem de dois pontos percentuais por unidade de AIOE, e as margens de vínculo não mostram deterioração. No nível causal, o desenho atual não sustenta a afirmação. O que a pesquisa entrega, hoje, é uma descrição cuidadosa e uma agenda clara para chegar a uma resposta causal, se ela existir.
Por isso a agenda tem uma ordem. Primeiro, tratar a quebra de medida de 2020 e 2021 e definir a janela homogênea. Segundo, o estudo de evento, com teste conjunto dos coeficientes anteriores ao marco, que diz se existe desenho a defender. Terceiro, uma bateria mínima de sensibilidade: janelas, agrupamento, tendência por exposição e a especificação sem teletrabalhabilidade.
Quarto, trocar a medida pela específica para modelos de linguagem, de Eloundou e coautores, e rodar o placebo com teletrabalhabilidade. Depois, a sensibilidade a tendências não paralelas e os estimadores para tratamento contínuo. As extensões, como rendimentos, vêm por último.
Agradeço a atenção e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ERT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Título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Subtítulo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unferência maior"/>
          <p:cNvSpPr/>
          <p:nvPr/>
        </p:nvSpPr>
        <p:spPr>
          <a:xfrm>
            <a:off x="9052560" y="2743200"/>
            <a:ext cx="5852160" cy="5852160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9050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3" name="Circunferência menor"/>
          <p:cNvSpPr/>
          <p:nvPr/>
        </p:nvSpPr>
        <p:spPr>
          <a:xfrm>
            <a:off x="10241280" y="4114800"/>
            <a:ext cx="3657600" cy="365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 w="12700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4" name="Rótulo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DISSERTAÇÃO DE MESTRADO · RESULTADOS PRELIMINARES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Exposição ocupacional à inteligência artificial e transições no mercado de trabalho brasileiro</a:t>
            </a:r>
            <a:endParaRPr lang="en-US" sz="3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evidências de painel da PNAD Contínua após o lançamento público do ChatGPT</a:t>
            </a:r>
            <a:endParaRPr lang="en-US" sz="2000" dirty="0"/>
          </a:p>
        </p:txBody>
      </p:sp>
      <p:sp>
        <p:nvSpPr>
          <p:cNvPr id="7" name="Autoria"/>
          <p:cNvSpPr txBox="1"/>
          <p:nvPr/>
        </p:nvSpPr>
        <p:spPr>
          <a:xfrm>
            <a:off x="822960" y="50749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Ricardo Carvalho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Orientador: Prof. Dr. Danny de Castro Soares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Instituto Brasileiro de Ensino, Desenvolvimento e Pesquisa · Brasília ·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pergunta de pesquisa</a:t>
            </a:r>
            <a:endParaRPr lang="en-US" sz="3400" dirty="0"/>
          </a:p>
        </p:txBody>
      </p:sp>
      <p:sp>
        <p:nvSpPr>
          <p:cNvPr id="3" name="Pergunta de pesquisa"/>
          <p:cNvSpPr/>
          <p:nvPr/>
        </p:nvSpPr>
        <p:spPr>
          <a:xfrm>
            <a:off x="548640" y="1417320"/>
            <a:ext cx="11091672" cy="1508760"/>
          </a:xfrm>
          <a:prstGeom prst="rect">
            <a:avLst>
              <a:gd name="adj" fmla="val 6061"/>
            </a:avLst>
          </a:prstGeom>
          <a:solidFill>
            <a:schemeClr val="bg2"/>
          </a:solidFill>
          <a:ln/>
        </p:spPr>
        <p:txBody>
          <a:bodyPr wrap="square" lIns="1524" tIns="3810" rIns="3810" bIns="1524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Trabalhadores em ocupações mais expostas à inteligência artificial passaram a apresentar transições de trabalho distintas depois do lançamento do ChatGPT?</a:t>
            </a:r>
            <a:endParaRPr lang="en-US" sz="1400" dirty="0"/>
          </a:p>
        </p:txBody>
      </p:sp>
      <p:sp>
        <p:nvSpPr>
          <p:cNvPr id="4" name="Período pré"/>
          <p:cNvSpPr/>
          <p:nvPr/>
        </p:nvSpPr>
        <p:spPr>
          <a:xfrm>
            <a:off x="548640" y="3703320"/>
            <a:ext cx="6162040" cy="5029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15 trimestres de origem</a:t>
            </a:r>
            <a:endParaRPr lang="en-US" sz="1400" dirty="0"/>
          </a:p>
        </p:txBody>
      </p:sp>
      <p:sp>
        <p:nvSpPr>
          <p:cNvPr id="5" name="Período pós"/>
          <p:cNvSpPr/>
          <p:nvPr/>
        </p:nvSpPr>
        <p:spPr>
          <a:xfrm>
            <a:off x="6710680" y="3703320"/>
            <a:ext cx="4929632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12 trimestres de origem</a:t>
            </a:r>
            <a:endParaRPr lang="en-US" sz="1400" dirty="0"/>
          </a:p>
        </p:txBody>
      </p:sp>
      <p:sp>
        <p:nvSpPr>
          <p:cNvPr id="6" name="Marco"/>
          <p:cNvSpPr/>
          <p:nvPr/>
        </p:nvSpPr>
        <p:spPr>
          <a:xfrm>
            <a:off x="6710680" y="3364992"/>
            <a:ext cx="0" cy="98755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7" name="Rótulo do marco"/>
          <p:cNvSpPr txBox="1"/>
          <p:nvPr/>
        </p:nvSpPr>
        <p:spPr>
          <a:xfrm>
            <a:off x="4333240" y="3108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30/11/2022 · lançamento público do ChatGPT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2019T1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13400" y="42611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2022T3 | 2022T4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68712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2025T3</a:t>
            </a:r>
            <a:endParaRPr lang="en-US" sz="1200" dirty="0"/>
          </a:p>
        </p:txBody>
      </p:sp>
      <p:sp>
        <p:nvSpPr>
          <p:cNvPr id="11" name="Definição: Exposição"/>
          <p:cNvSpPr/>
          <p:nvPr/>
        </p:nvSpPr>
        <p:spPr>
          <a:xfrm>
            <a:off x="548640" y="4709160"/>
            <a:ext cx="3563112" cy="1325880"/>
          </a:xfrm>
          <a:prstGeom prst="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Exposição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Propriedade da ocupação, medida por um índice. Não é adoção de IA nem risco de demissão.</a:t>
            </a:r>
            <a:endParaRPr lang="en-US" sz="1400" dirty="0"/>
          </a:p>
        </p:txBody>
      </p:sp>
      <p:sp>
        <p:nvSpPr>
          <p:cNvPr id="12" name="Definição: Transição"/>
          <p:cNvSpPr/>
          <p:nvPr/>
        </p:nvSpPr>
        <p:spPr>
          <a:xfrm>
            <a:off x="4312920" y="4709160"/>
            <a:ext cx="3563112" cy="1325880"/>
          </a:xfrm>
          <a:prstGeom prst="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Transição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que acontece com a mesma pessoa entre duas entrevistas trimestrais consecutivas.</a:t>
            </a:r>
            <a:endParaRPr lang="en-US" sz="1400" dirty="0"/>
          </a:p>
        </p:txBody>
      </p:sp>
      <p:sp>
        <p:nvSpPr>
          <p:cNvPr id="13" name="Definição: Marco"/>
          <p:cNvSpPr/>
          <p:nvPr/>
        </p:nvSpPr>
        <p:spPr>
          <a:xfrm>
            <a:off x="8077200" y="4709160"/>
            <a:ext cx="3563112" cy="1325880"/>
          </a:xfrm>
          <a:prstGeom prst="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Marco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Lançamento do ChatGPT: único, nacional e exterior às decisões de quem está na amostra.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a literatura já mostra</a:t>
            </a:r>
            <a:endParaRPr lang="en-US" sz="3400" dirty="0"/>
          </a:p>
        </p:txBody>
      </p:sp>
      <p:sp>
        <p:nvSpPr>
          <p:cNvPr id="3" name="Coluna 1"/>
          <p:cNvSpPr/>
          <p:nvPr/>
        </p:nvSpPr>
        <p:spPr>
          <a:xfrm>
            <a:off x="548640" y="1417320"/>
            <a:ext cx="3563112" cy="3429000"/>
          </a:xfrm>
          <a:prstGeom prst="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Número 1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ítulo da coluna 1"/>
          <p:cNvSpPr txBox="1"/>
          <p:nvPr/>
        </p:nvSpPr>
        <p:spPr>
          <a:xfrm>
            <a:off x="129844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Medir a exposição</a:t>
            </a:r>
            <a:endParaRPr lang="en-US" sz="1800" dirty="0"/>
          </a:p>
        </p:txBody>
      </p:sp>
      <p:sp>
        <p:nvSpPr>
          <p:cNvPr id="6" name="Itens da coluna 1"/>
          <p:cNvSpPr txBox="1"/>
          <p:nvPr/>
        </p:nvSpPr>
        <p:spPr>
          <a:xfrm>
            <a:off x="73152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Felten, Raj e Seamans (2021)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AIOE: liga as habilidades de cada ocupação a aplicações de IA.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Eloundou et al. (2024)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Exposição tarefa a tarefa, específica para modelos de linguagem.</a:t>
            </a:r>
            <a:endParaRPr lang="en-US" sz="1600" dirty="0"/>
          </a:p>
        </p:txBody>
      </p:sp>
      <p:sp>
        <p:nvSpPr>
          <p:cNvPr id="7" name="Coluna 2"/>
          <p:cNvSpPr/>
          <p:nvPr/>
        </p:nvSpPr>
        <p:spPr>
          <a:xfrm>
            <a:off x="4312920" y="1417320"/>
            <a:ext cx="3563112" cy="3429000"/>
          </a:xfrm>
          <a:prstGeom prst="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Número 2"/>
          <p:cNvSpPr/>
          <p:nvPr/>
        </p:nvSpPr>
        <p:spPr>
          <a:xfrm>
            <a:off x="449580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ítulo da coluna 2"/>
          <p:cNvSpPr txBox="1"/>
          <p:nvPr/>
        </p:nvSpPr>
        <p:spPr>
          <a:xfrm>
            <a:off x="506272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Observar adoção e resultados</a:t>
            </a:r>
            <a:endParaRPr lang="en-US" sz="1800" dirty="0"/>
          </a:p>
        </p:txBody>
      </p:sp>
      <p:sp>
        <p:nvSpPr>
          <p:cNvPr id="10" name="Itens da coluna 2"/>
          <p:cNvSpPr txBox="1"/>
          <p:nvPr/>
        </p:nvSpPr>
        <p:spPr>
          <a:xfrm>
            <a:off x="449580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Brynjolfsson, Li e Raymond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Ganho de produtividade numa central de atendimento.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Humlum e Vestergaard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Dinamarca: efeitos nulos e precisos sobre rendimentos e horas.</a:t>
            </a:r>
            <a:endParaRPr lang="en-US" sz="1600" dirty="0"/>
          </a:p>
        </p:txBody>
      </p:sp>
      <p:sp>
        <p:nvSpPr>
          <p:cNvPr id="11" name="Coluna 3"/>
          <p:cNvSpPr/>
          <p:nvPr/>
        </p:nvSpPr>
        <p:spPr>
          <a:xfrm>
            <a:off x="8077200" y="1417320"/>
            <a:ext cx="3563112" cy="3429000"/>
          </a:xfrm>
          <a:prstGeom prst="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Número 3"/>
          <p:cNvSpPr/>
          <p:nvPr/>
        </p:nvSpPr>
        <p:spPr>
          <a:xfrm>
            <a:off x="826008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ítulo da coluna 3"/>
          <p:cNvSpPr txBox="1"/>
          <p:nvPr/>
        </p:nvSpPr>
        <p:spPr>
          <a:xfrm>
            <a:off x="882700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Desenho e contexto brasileiro</a:t>
            </a:r>
            <a:endParaRPr lang="en-US" sz="1800" dirty="0"/>
          </a:p>
        </p:txBody>
      </p:sp>
      <p:sp>
        <p:nvSpPr>
          <p:cNvPr id="14" name="Itens da coluna 3"/>
          <p:cNvSpPr txBox="1"/>
          <p:nvPr/>
        </p:nvSpPr>
        <p:spPr>
          <a:xfrm>
            <a:off x="826008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Acemoglu e Restrepo (2020)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Identificação por exposição diferencial.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Ulyssea (2020); Meghir, Narita e Robin (2015)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Informalidade heterogênea; fronteira com o setor formal atravessada com frequência.</a:t>
            </a:r>
            <a:endParaRPr lang="en-US" sz="1600" dirty="0"/>
          </a:p>
        </p:txBody>
      </p:sp>
      <p:sp>
        <p:nvSpPr>
          <p:cNvPr id="15" name="Lacuna"/>
          <p:cNvSpPr/>
          <p:nvPr/>
        </p:nvSpPr>
        <p:spPr>
          <a:xfrm>
            <a:off x="548640" y="5074920"/>
            <a:ext cx="11091672" cy="914400"/>
          </a:xfrm>
          <a:prstGeom prst="rect">
            <a:avLst>
              <a:gd name="adj" fmla="val 10000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LACUNA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Não há, no Brasil, medida direta de adoção de IA em base representativa. Por isso: exposição ocupacional aplicada a um painel domiciliar rotativo.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Dados: a PNAD Contínua em painel</a:t>
            </a:r>
            <a:endParaRPr lang="en-US" sz="3400" dirty="0"/>
          </a:p>
        </p:txBody>
      </p:sp>
      <p:sp>
        <p:nvSpPr>
          <p:cNvPr id="3" name="Número-chave 1"/>
          <p:cNvSpPr/>
          <p:nvPr/>
        </p:nvSpPr>
        <p:spPr>
          <a:xfrm>
            <a:off x="8074152" y="1417320"/>
            <a:ext cx="3566160" cy="1051560"/>
          </a:xfrm>
          <a:prstGeom prst="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8257032" y="14904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27</a:t>
            </a:r>
            <a:endParaRPr lang="en-US" sz="3800" dirty="0"/>
          </a:p>
        </p:txBody>
      </p:sp>
      <p:sp>
        <p:nvSpPr>
          <p:cNvPr id="5" name="Rótulo 1"/>
          <p:cNvSpPr txBox="1"/>
          <p:nvPr/>
        </p:nvSpPr>
        <p:spPr>
          <a:xfrm>
            <a:off x="8257032" y="20574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trimestres de origem, de 2019T1 a 2025T3</a:t>
            </a:r>
            <a:endParaRPr lang="en-US" sz="1400" dirty="0"/>
          </a:p>
        </p:txBody>
      </p:sp>
      <p:sp>
        <p:nvSpPr>
          <p:cNvPr id="6" name="Número-chave 2"/>
          <p:cNvSpPr/>
          <p:nvPr/>
        </p:nvSpPr>
        <p:spPr>
          <a:xfrm>
            <a:off x="8074152" y="2587752"/>
            <a:ext cx="3566160" cy="1051560"/>
          </a:xfrm>
          <a:prstGeom prst="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8257032" y="26609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3800" dirty="0"/>
          </a:p>
        </p:txBody>
      </p:sp>
      <p:sp>
        <p:nvSpPr>
          <p:cNvPr id="8" name="Rótulo 2"/>
          <p:cNvSpPr txBox="1"/>
          <p:nvPr/>
        </p:nvSpPr>
        <p:spPr>
          <a:xfrm>
            <a:off x="8257032" y="32278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ocupações na estimação</a:t>
            </a:r>
            <a:endParaRPr lang="en-US" sz="1400" dirty="0"/>
          </a:p>
        </p:txBody>
      </p:sp>
      <p:sp>
        <p:nvSpPr>
          <p:cNvPr id="9" name="Número-chave 3"/>
          <p:cNvSpPr/>
          <p:nvPr/>
        </p:nvSpPr>
        <p:spPr>
          <a:xfrm>
            <a:off x="8074152" y="3758184"/>
            <a:ext cx="3566160" cy="1051560"/>
          </a:xfrm>
          <a:prstGeom prst="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8257032" y="38313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31.145</a:t>
            </a:r>
            <a:endParaRPr lang="en-US" sz="3800" dirty="0"/>
          </a:p>
        </p:txBody>
      </p:sp>
      <p:sp>
        <p:nvSpPr>
          <p:cNvPr id="11" name="Rótulo 3"/>
          <p:cNvSpPr txBox="1"/>
          <p:nvPr/>
        </p:nvSpPr>
        <p:spPr>
          <a:xfrm>
            <a:off x="8257032" y="43982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unidades primárias de amostragem (UPAs)</a:t>
            </a:r>
            <a:endParaRPr lang="en-US" sz="1400" dirty="0"/>
          </a:p>
        </p:txBody>
      </p:sp>
      <p:sp>
        <p:nvSpPr>
          <p:cNvPr id="12" name="Regra do par"/>
          <p:cNvSpPr/>
          <p:nvPr/>
        </p:nvSpPr>
        <p:spPr>
          <a:xfrm>
            <a:off x="8074152" y="4983480"/>
            <a:ext cx="3566160" cy="1005840"/>
          </a:xfrm>
          <a:prstGeom prst="rect">
            <a:avLst>
              <a:gd name="adj" fmla="val 9091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Par pessoa-trimestre reconstruído: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UPA, domicílio, ordem, sexo, dia e mês de nascimento e idade coerentes.</a:t>
            </a:r>
            <a:endParaRPr lang="en-US" sz="1400" dirty="0"/>
          </a:p>
        </p:txBody>
      </p:sp>
      <p:sp>
        <p:nvSpPr>
          <p:cNvPr id="13" name="Título do gráfico"/>
          <p:cNvSpPr txBox="1"/>
          <p:nvPr/>
        </p:nvSpPr>
        <p:spPr>
          <a:xfrm>
            <a:off x="548640" y="1371600"/>
            <a:ext cx="7205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Pessoas-transições por domínio de estimação</a:t>
            </a:r>
            <a:endParaRPr lang="en-US" sz="1600" dirty="0"/>
          </a:p>
        </p:txBody>
      </p:sp>
      <p:graphicFrame>
        <p:nvGraphicFramePr>
          <p:cNvPr id="14" name="Chart 0" descr="Barras horizontais com as pessoas-transições de cada domínio de estimação, de 3,96 milhões a 1,68 milhão."/>
          <p:cNvGraphicFramePr/>
          <p:nvPr/>
        </p:nvGraphicFramePr>
        <p:xfrm>
          <a:off x="548640" y="1783080"/>
          <a:ext cx="7205472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São pessoas-transições, e não pessoas únicas: o mesmo indivíduo contribui com até quatro pares.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Como medir a exposição à IA</a:t>
            </a:r>
            <a:endParaRPr lang="en-US" sz="3400" dirty="0"/>
          </a:p>
        </p:txBody>
      </p:sp>
      <p:sp>
        <p:nvSpPr>
          <p:cNvPr id="3" name="Etapa da ponte 1"/>
          <p:cNvSpPr/>
          <p:nvPr/>
        </p:nvSpPr>
        <p:spPr>
          <a:xfrm>
            <a:off x="7159752" y="1463040"/>
            <a:ext cx="4480560" cy="749808"/>
          </a:xfrm>
          <a:prstGeom prst="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COD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da PNAD Contínua</a:t>
            </a:r>
            <a:endParaRPr lang="en-US" sz="1800" dirty="0"/>
          </a:p>
        </p:txBody>
      </p:sp>
      <p:sp>
        <p:nvSpPr>
          <p:cNvPr id="4" name="Seta 1"/>
          <p:cNvSpPr/>
          <p:nvPr/>
        </p:nvSpPr>
        <p:spPr>
          <a:xfrm>
            <a:off x="9171432" y="223113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5" name="Etapa da ponte 2"/>
          <p:cNvSpPr/>
          <p:nvPr/>
        </p:nvSpPr>
        <p:spPr>
          <a:xfrm>
            <a:off x="7159752" y="2468880"/>
            <a:ext cx="4480560" cy="749808"/>
          </a:xfrm>
          <a:prstGeom prst="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ISCO-08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internacional</a:t>
            </a:r>
            <a:endParaRPr lang="en-US" sz="1800" dirty="0"/>
          </a:p>
        </p:txBody>
      </p:sp>
      <p:sp>
        <p:nvSpPr>
          <p:cNvPr id="6" name="Seta 2"/>
          <p:cNvSpPr/>
          <p:nvPr/>
        </p:nvSpPr>
        <p:spPr>
          <a:xfrm>
            <a:off x="9171432" y="323697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7" name="Etapa da ponte 3"/>
          <p:cNvSpPr/>
          <p:nvPr/>
        </p:nvSpPr>
        <p:spPr>
          <a:xfrm>
            <a:off x="7159752" y="3474720"/>
            <a:ext cx="4480560" cy="749808"/>
          </a:xfrm>
          <a:prstGeom prst="rect">
            <a:avLst>
              <a:gd name="adj" fmla="val 12195"/>
            </a:avLst>
          </a:prstGeom>
          <a:solidFill>
            <a:schemeClr val="accent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SOC 2010 → AIOE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índice de Felten, Raj e Seamans (2021)</a:t>
            </a:r>
            <a:endParaRPr lang="en-US" sz="1800" dirty="0"/>
          </a:p>
        </p:txBody>
      </p:sp>
      <p:sp>
        <p:nvSpPr>
          <p:cNvPr id="8" name="Nota da ponte"/>
          <p:cNvSpPr txBox="1"/>
          <p:nvPr/>
        </p:nvSpPr>
        <p:spPr>
          <a:xfrm>
            <a:off x="7159752" y="449884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Entre os códigos SOC ligados a um mesmo COD, o peso é uniforme: hipótese de construção, declarada como tal.</a:t>
            </a:r>
            <a:endParaRPr lang="en-US" sz="1400" dirty="0"/>
          </a:p>
        </p:txBody>
      </p:sp>
      <p:sp>
        <p:nvSpPr>
          <p:cNvPr id="9" name="Cobertura 1"/>
          <p:cNvSpPr/>
          <p:nvPr/>
        </p:nvSpPr>
        <p:spPr>
          <a:xfrm>
            <a:off x="7159752" y="5120640"/>
            <a:ext cx="1402080" cy="896112"/>
          </a:xfrm>
          <a:prstGeom prst="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159752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416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7159752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códigos com AIOE</a:t>
            </a:r>
            <a:endParaRPr lang="en-US" sz="1200" dirty="0"/>
          </a:p>
        </p:txBody>
      </p:sp>
      <p:sp>
        <p:nvSpPr>
          <p:cNvPr id="12" name="Cobertura 2"/>
          <p:cNvSpPr/>
          <p:nvPr/>
        </p:nvSpPr>
        <p:spPr>
          <a:xfrm>
            <a:off x="8698992" y="5120640"/>
            <a:ext cx="1402080" cy="896112"/>
          </a:xfrm>
          <a:prstGeom prst="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98992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698992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na estimação</a:t>
            </a:r>
            <a:endParaRPr lang="en-US" sz="1200" dirty="0"/>
          </a:p>
        </p:txBody>
      </p:sp>
      <p:sp>
        <p:nvSpPr>
          <p:cNvPr id="15" name="Cobertura 3"/>
          <p:cNvSpPr/>
          <p:nvPr/>
        </p:nvSpPr>
        <p:spPr>
          <a:xfrm>
            <a:off x="10238232" y="5120640"/>
            <a:ext cx="1402080" cy="896112"/>
          </a:xfrm>
          <a:prstGeom prst="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238232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1,08%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0238232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 peso sem AIOE</a:t>
            </a:r>
            <a:endParaRPr lang="en-US" sz="1200" dirty="0"/>
          </a:p>
        </p:txBody>
      </p:sp>
      <p:sp>
        <p:nvSpPr>
          <p:cNvPr id="18" name="Título do gráfico"/>
          <p:cNvSpPr txBox="1"/>
          <p:nvPr/>
        </p:nvSpPr>
        <p:spPr>
          <a:xfrm>
            <a:off x="548640" y="1371600"/>
            <a:ext cx="6245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Distribuição do AIOE entre os códigos ocupacionais</a:t>
            </a:r>
            <a:endParaRPr lang="en-US" sz="1600" dirty="0"/>
          </a:p>
        </p:txBody>
      </p:sp>
      <p:graphicFrame>
        <p:nvGraphicFramePr>
          <p:cNvPr id="19" name="Chart 0" descr="Histograma do AIOE entre 416 códigos ocupacionais, com valores de cerca de menos 2,1 a 1,4 e pico de 42 ocupações perto de menos 1."/>
          <p:cNvGraphicFramePr/>
          <p:nvPr/>
        </p:nvGraphicFramePr>
        <p:xfrm>
          <a:off x="548640" y="1783080"/>
          <a:ext cx="6245352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entido do eixo"/>
          <p:cNvSpPr txBox="1"/>
          <p:nvPr/>
        </p:nvSpPr>
        <p:spPr>
          <a:xfrm>
            <a:off x="548640" y="5029200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← menos exposta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                                                                     </a:t>
            </a:r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mais exposta →</a:t>
            </a:r>
            <a:endParaRPr lang="en-US" sz="1200" dirty="0"/>
          </a:p>
        </p:txBody>
      </p:sp>
      <p:sp>
        <p:nvSpPr>
          <p:cNvPr id="21" name="Estatísticas do AIOE"/>
          <p:cNvSpPr txBox="1"/>
          <p:nvPr/>
        </p:nvSpPr>
        <p:spPr>
          <a:xfrm>
            <a:off x="548640" y="532180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média 0,0053 · desvio-padrão 0,9445 · correlação com a teletrabalhabilidade: 0,702</a:t>
            </a:r>
            <a:endParaRPr lang="en-US" sz="1300" dirty="0"/>
          </a:p>
        </p:txBody>
      </p:sp>
      <p:sp>
        <p:nvSpPr>
          <p:cNvPr id="22" name="Aviso de leitura"/>
          <p:cNvSpPr txBox="1"/>
          <p:nvPr/>
        </p:nvSpPr>
        <p:spPr>
          <a:xfrm>
            <a:off x="548640" y="5669280"/>
            <a:ext cx="6245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Menor AIOE quer dizer menos exposição, e não emprego pior.</a:t>
            </a:r>
            <a:endParaRPr lang="en-US" sz="1400" dirty="0"/>
          </a:p>
        </p:txBody>
      </p:sp>
      <p:sp>
        <p:nvSpPr>
          <p:cNvPr id="23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de Felten, Raj e Seamans (2021), Dingel e Neiman (2020) e da PNADC/IBGE. Distribuição entre códigos, e não entre trabalhadores.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Sete desfechos de transição</a:t>
            </a:r>
            <a:endParaRPr lang="en-US" sz="3400" dirty="0"/>
          </a:p>
        </p:txBody>
      </p:sp>
      <p:sp>
        <p:nvSpPr>
          <p:cNvPr id="3" name="Família I"/>
          <p:cNvSpPr/>
          <p:nvPr/>
        </p:nvSpPr>
        <p:spPr>
          <a:xfrm>
            <a:off x="548640" y="1417320"/>
            <a:ext cx="3563112" cy="3611880"/>
          </a:xfrm>
          <a:prstGeom prst="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Família I (número)"/>
          <p:cNvSpPr/>
          <p:nvPr/>
        </p:nvSpPr>
        <p:spPr>
          <a:xfrm>
            <a:off x="73152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</a:t>
            </a:r>
            <a:endParaRPr lang="en-US" sz="1600" dirty="0"/>
          </a:p>
        </p:txBody>
      </p:sp>
      <p:sp>
        <p:nvSpPr>
          <p:cNvPr id="5" name="Título da família I"/>
          <p:cNvSpPr txBox="1"/>
          <p:nvPr/>
        </p:nvSpPr>
        <p:spPr>
          <a:xfrm>
            <a:off x="137160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Continuidade e vínculo</a:t>
            </a:r>
            <a:endParaRPr lang="en-US" sz="1800" dirty="0"/>
          </a:p>
        </p:txBody>
      </p:sp>
      <p:sp>
        <p:nvSpPr>
          <p:cNvPr id="6" name="Desfechos da família I"/>
          <p:cNvSpPr txBox="1"/>
          <p:nvPr/>
        </p:nvSpPr>
        <p:spPr>
          <a:xfrm>
            <a:off x="77724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Pareamento (teste de atrito)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a entrevista seguinte foi encontrada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Saída do emprego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não está ocupado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 formal para informal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é ocupado e informal, entre origens formais</a:t>
            </a:r>
            <a:endParaRPr lang="en-US" sz="1600" dirty="0"/>
          </a:p>
        </p:txBody>
      </p:sp>
      <p:sp>
        <p:nvSpPr>
          <p:cNvPr id="7" name="Família II"/>
          <p:cNvSpPr/>
          <p:nvPr/>
        </p:nvSpPr>
        <p:spPr>
          <a:xfrm>
            <a:off x="4312920" y="1417320"/>
            <a:ext cx="3563112" cy="3611880"/>
          </a:xfrm>
          <a:prstGeom prst="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Família II (número)"/>
          <p:cNvSpPr/>
          <p:nvPr/>
        </p:nvSpPr>
        <p:spPr>
          <a:xfrm>
            <a:off x="449580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</a:t>
            </a:r>
            <a:endParaRPr lang="en-US" sz="1600" dirty="0"/>
          </a:p>
        </p:txBody>
      </p:sp>
      <p:sp>
        <p:nvSpPr>
          <p:cNvPr id="9" name="Título da família II"/>
          <p:cNvSpPr txBox="1"/>
          <p:nvPr/>
        </p:nvSpPr>
        <p:spPr>
          <a:xfrm>
            <a:off x="513588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Mobilidade ocupacional</a:t>
            </a:r>
            <a:endParaRPr lang="en-US" sz="1800" dirty="0"/>
          </a:p>
        </p:txBody>
      </p:sp>
      <p:sp>
        <p:nvSpPr>
          <p:cNvPr id="10" name="Desfechos da família II"/>
          <p:cNvSpPr txBox="1"/>
          <p:nvPr/>
        </p:nvSpPr>
        <p:spPr>
          <a:xfrm>
            <a:off x="454152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(2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dois primeiros dígitos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(3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três primeiros dígitos</a:t>
            </a:r>
            <a:endParaRPr lang="en-US" sz="1600" dirty="0"/>
          </a:p>
        </p:txBody>
      </p:sp>
      <p:sp>
        <p:nvSpPr>
          <p:cNvPr id="11" name="Família III"/>
          <p:cNvSpPr/>
          <p:nvPr/>
        </p:nvSpPr>
        <p:spPr>
          <a:xfrm>
            <a:off x="8077200" y="1417320"/>
            <a:ext cx="3563112" cy="3611880"/>
          </a:xfrm>
          <a:prstGeom prst="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Família III (número)"/>
          <p:cNvSpPr/>
          <p:nvPr/>
        </p:nvSpPr>
        <p:spPr>
          <a:xfrm>
            <a:off x="826008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III</a:t>
            </a:r>
            <a:endParaRPr lang="en-US" sz="1600" dirty="0"/>
          </a:p>
        </p:txBody>
      </p:sp>
      <p:sp>
        <p:nvSpPr>
          <p:cNvPr id="13" name="Título da família III"/>
          <p:cNvSpPr txBox="1"/>
          <p:nvPr/>
        </p:nvSpPr>
        <p:spPr>
          <a:xfrm>
            <a:off x="890016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Deslocamento no gradiente de exposição</a:t>
            </a:r>
            <a:endParaRPr lang="en-US" sz="1800" dirty="0"/>
          </a:p>
        </p:txBody>
      </p:sp>
      <p:sp>
        <p:nvSpPr>
          <p:cNvPr id="14" name="Desfechos da família III"/>
          <p:cNvSpPr txBox="1"/>
          <p:nvPr/>
        </p:nvSpPr>
        <p:spPr>
          <a:xfrm>
            <a:off x="830580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Menos exposta (descendente)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menor que o da origem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Mais exposta (ascendente)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maior que o da origem</a:t>
            </a:r>
            <a:endParaRPr lang="en-US" sz="1600" dirty="0"/>
          </a:p>
        </p:txBody>
      </p:sp>
      <p:sp>
        <p:nvSpPr>
          <p:cNvPr id="15" name="Observação"/>
          <p:cNvSpPr/>
          <p:nvPr/>
        </p:nvSpPr>
        <p:spPr>
          <a:xfrm>
            <a:off x="548640" y="5212080"/>
            <a:ext cx="11091672" cy="822960"/>
          </a:xfrm>
          <a:prstGeom prst="rect">
            <a:avLst>
              <a:gd name="adj" fmla="val 11111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Domínio próprio.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Cada desfecho é estimado onde está definido, e ausência nunca vira zero. </a:t>
            </a:r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Margens direcionais.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Leem-se juntas: origens mais expostas têm mais destinos possíveis abaixo delas.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Desenho: diferenças em diferenças contínuas</a:t>
            </a:r>
            <a:endParaRPr lang="en-US" sz="3400" dirty="0"/>
          </a:p>
        </p:txBody>
      </p:sp>
      <p:sp>
        <p:nvSpPr>
          <p:cNvPr id="3" name="Equação estimada"/>
          <p:cNvSpPr/>
          <p:nvPr/>
        </p:nvSpPr>
        <p:spPr>
          <a:xfrm>
            <a:off x="548640" y="1417320"/>
            <a:ext cx="11091672" cy="1600200"/>
          </a:xfrm>
          <a:prstGeom prst="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2540" tIns="4445" rIns="4445" bIns="254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  =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β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(AIOE × Pós)  +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γ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(Teletrabalho × Pós)  +  idade  +  idade²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      +  α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ocupação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λ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UF×trimestre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efeitos fixos categóricos  +  ε</a:t>
            </a:r>
            <a:endParaRPr lang="en-US" sz="2300" dirty="0"/>
          </a:p>
        </p:txBody>
      </p:sp>
      <p:sp>
        <p:nvSpPr>
          <p:cNvPr id="4" name="Bloco: β: parâmetro de interesse"/>
          <p:cNvSpPr/>
          <p:nvPr/>
        </p:nvSpPr>
        <p:spPr>
          <a:xfrm>
            <a:off x="548640" y="3246120"/>
            <a:ext cx="3563112" cy="1691640"/>
          </a:xfrm>
          <a:prstGeom prst="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β: parâmetro de interesse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Mudança entre pré e pós, em pontos percentuais por unidade de AIOE (cerca de um desvio-padrão entre ocupações).</a:t>
            </a:r>
            <a:endParaRPr lang="en-US" sz="1400" dirty="0"/>
          </a:p>
        </p:txBody>
      </p:sp>
      <p:sp>
        <p:nvSpPr>
          <p:cNvPr id="5" name="Bloco: Efeitos fixos"/>
          <p:cNvSpPr/>
          <p:nvPr/>
        </p:nvSpPr>
        <p:spPr>
          <a:xfrm>
            <a:off x="4312920" y="3246120"/>
            <a:ext cx="3563112" cy="1691640"/>
          </a:xfrm>
          <a:prstGeom prst="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Efeitos fixos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Ocupação de origem · UF × trimestre · sexo, cor ou raça, escolaridade, tempo no emprego, tamanho do estabelecimento e setor.</a:t>
            </a:r>
            <a:endParaRPr lang="en-US" sz="1400" dirty="0"/>
          </a:p>
        </p:txBody>
      </p:sp>
      <p:sp>
        <p:nvSpPr>
          <p:cNvPr id="6" name="Bloco: Estimação e inferência"/>
          <p:cNvSpPr/>
          <p:nvPr/>
        </p:nvSpPr>
        <p:spPr>
          <a:xfrm>
            <a:off x="8077200" y="3246120"/>
            <a:ext cx="3563112" cy="1691640"/>
          </a:xfrm>
          <a:prstGeom prst="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Estimação e inferência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Modelo de probabilidade linear ponderado pelo peso da origem. Erros-padrão por UPA, de 30.360 a 31.145 grupos.</a:t>
            </a:r>
            <a:endParaRPr lang="en-US" sz="1400" dirty="0"/>
          </a:p>
        </p:txBody>
      </p:sp>
      <p:sp>
        <p:nvSpPr>
          <p:cNvPr id="7" name="Período pré"/>
          <p:cNvSpPr/>
          <p:nvPr/>
        </p:nvSpPr>
        <p:spPr>
          <a:xfrm>
            <a:off x="548640" y="5212080"/>
            <a:ext cx="616204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2019T1 a 2022T3 · 15 trimestres</a:t>
            </a:r>
            <a:endParaRPr lang="en-US" sz="1400" dirty="0"/>
          </a:p>
        </p:txBody>
      </p:sp>
      <p:sp>
        <p:nvSpPr>
          <p:cNvPr id="8" name="Período pós"/>
          <p:cNvSpPr/>
          <p:nvPr/>
        </p:nvSpPr>
        <p:spPr>
          <a:xfrm>
            <a:off x="6710680" y="5212080"/>
            <a:ext cx="4929632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2022T4 a 2025T3 · 12 trimestres</a:t>
            </a:r>
            <a:endParaRPr lang="en-US" sz="1400" dirty="0"/>
          </a:p>
        </p:txBody>
      </p:sp>
      <p:sp>
        <p:nvSpPr>
          <p:cNvPr id="9" name="Marco"/>
          <p:cNvSpPr/>
          <p:nvPr/>
        </p:nvSpPr>
        <p:spPr>
          <a:xfrm>
            <a:off x="6710680" y="5074920"/>
            <a:ext cx="0" cy="73152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10" name="Nota do desenho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Tratamento contínuo: não há grupo tratado e grupo de controle, e sim uma intensidade de exposição que varia entre ocupações.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mobilidade subiu em todas as faixas</a:t>
            </a:r>
            <a:endParaRPr lang="en-US" sz="3400" dirty="0"/>
          </a:p>
        </p:txBody>
      </p:sp>
      <p:sp>
        <p:nvSpPr>
          <p:cNvPr id="3" name="Título do gráfico"/>
          <p:cNvSpPr txBox="1"/>
          <p:nvPr/>
        </p:nvSpPr>
        <p:spPr>
          <a:xfrm>
            <a:off x="5696712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Médias ponderadas antes e depois do marco (%)</a:t>
            </a:r>
            <a:endParaRPr lang="en-US" sz="1600" dirty="0"/>
          </a:p>
        </p:txBody>
      </p:sp>
      <p:graphicFrame>
        <p:nvGraphicFramePr>
          <p:cNvPr id="4" name="Chart 0" descr="Barras agrupadas com as médias de seis desfechos antes e depois do marco; todas aumentam, exceto a saída do emprego, que quase não muda."/>
          <p:cNvGraphicFramePr/>
          <p:nvPr/>
        </p:nvGraphicFramePr>
        <p:xfrm>
          <a:off x="5696712" y="1737360"/>
          <a:ext cx="59436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ítulo do gráfico"/>
          <p:cNvSpPr txBox="1"/>
          <p:nvPr/>
        </p:nvSpPr>
        <p:spPr>
          <a:xfrm>
            <a:off x="548640" y="13716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Permanência na mesma faixa: pós − pré (p.p.)</a:t>
            </a:r>
            <a:endParaRPr lang="en-US" sz="1600" dirty="0"/>
          </a:p>
        </p:txBody>
      </p:sp>
      <p:graphicFrame>
        <p:nvGraphicFramePr>
          <p:cNvPr id="6" name="Chart 1" descr="Colunas com a variação da permanência na mesma faixa de exposição: negativa nas cinco faixas, de menos 3,6 a menos 8,1 pontos percentuais."/>
          <p:cNvGraphicFramePr/>
          <p:nvPr/>
        </p:nvGraphicFramePr>
        <p:xfrm>
          <a:off x="548640" y="2011680"/>
          <a:ext cx="473659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Legenda das faixas"/>
          <p:cNvSpPr txBox="1"/>
          <p:nvPr/>
        </p:nvSpPr>
        <p:spPr>
          <a:xfrm>
            <a:off x="548640" y="173736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Q1 = menor exposição · Q5 = maior exposição</a:t>
            </a:r>
            <a:endParaRPr lang="en-US" sz="1200" dirty="0"/>
          </a:p>
        </p:txBody>
      </p:sp>
      <p:sp>
        <p:nvSpPr>
          <p:cNvPr id="8" name="Teste de Wald"/>
          <p:cNvSpPr/>
          <p:nvPr/>
        </p:nvSpPr>
        <p:spPr>
          <a:xfrm>
            <a:off x="548640" y="4754880"/>
            <a:ext cx="4736592" cy="1234440"/>
          </a:xfrm>
          <a:prstGeom prst="rect">
            <a:avLst>
              <a:gd name="adj" fmla="val 7407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Cai em todas as cinco faixas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Entre 3,6 e 8,1 p.p. Teste de Wald de igualdade das matrizes: χ² = 3.040,1, com 20 graus de liberdade.</a:t>
            </a:r>
            <a:endParaRPr lang="en-US" sz="1400" dirty="0"/>
          </a:p>
        </p:txBody>
      </p:sp>
      <p:sp>
        <p:nvSpPr>
          <p:cNvPr id="9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Médias ponderadas pelo peso da origem, cada uma no domínio do desfecho.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Resultado principal: o gradiente de exposição</a:t>
            </a:r>
            <a:endParaRPr lang="en-US" sz="3400" dirty="0"/>
          </a:p>
        </p:txBody>
      </p:sp>
      <p:sp>
        <p:nvSpPr>
          <p:cNvPr id="3" name="Legenda: Deslocamento no gradiente"/>
          <p:cNvSpPr/>
          <p:nvPr/>
        </p:nvSpPr>
        <p:spPr>
          <a:xfrm>
            <a:off x="548640" y="1481328"/>
            <a:ext cx="146304" cy="146304"/>
          </a:xfrm>
          <a:prstGeom prst="ellipse">
            <a:avLst/>
          </a:prstGeom>
          <a:solidFill>
            <a:srgbClr val="00643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Deslocamento no gradiente</a:t>
            </a:r>
            <a:endParaRPr lang="en-US" sz="1200" dirty="0"/>
          </a:p>
        </p:txBody>
      </p:sp>
      <p:sp>
        <p:nvSpPr>
          <p:cNvPr id="5" name="Legenda: Mobilidade ocupacional"/>
          <p:cNvSpPr/>
          <p:nvPr/>
        </p:nvSpPr>
        <p:spPr>
          <a:xfrm>
            <a:off x="2948940" y="1481328"/>
            <a:ext cx="146304" cy="146304"/>
          </a:xfrm>
          <a:prstGeom prst="ellipse">
            <a:avLst/>
          </a:prstGeom>
          <a:solidFill>
            <a:srgbClr val="3F8F6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01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Mobilidade ocupacional</a:t>
            </a:r>
            <a:endParaRPr lang="en-US" sz="1200" dirty="0"/>
          </a:p>
        </p:txBody>
      </p:sp>
      <p:sp>
        <p:nvSpPr>
          <p:cNvPr id="7" name="Legenda: Vínculo"/>
          <p:cNvSpPr/>
          <p:nvPr/>
        </p:nvSpPr>
        <p:spPr>
          <a:xfrm>
            <a:off x="5121554" y="1481328"/>
            <a:ext cx="146304" cy="146304"/>
          </a:xfrm>
          <a:prstGeom prst="ellipse">
            <a:avLst/>
          </a:prstGeom>
          <a:solidFill>
            <a:srgbClr val="B08A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22722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Vínculo</a:t>
            </a:r>
            <a:endParaRPr lang="en-US" sz="1200" dirty="0"/>
          </a:p>
        </p:txBody>
      </p:sp>
      <p:sp>
        <p:nvSpPr>
          <p:cNvPr id="9" name="Legenda: Teste de atrito"/>
          <p:cNvSpPr/>
          <p:nvPr/>
        </p:nvSpPr>
        <p:spPr>
          <a:xfrm>
            <a:off x="6155741" y="1481328"/>
            <a:ext cx="146304" cy="146304"/>
          </a:xfrm>
          <a:prstGeom prst="ellipse">
            <a:avLst/>
          </a:prstGeom>
          <a:solidFill>
            <a:srgbClr val="5F736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6909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Teste de atrito</a:t>
            </a:r>
            <a:endParaRPr lang="en-US" sz="1200" dirty="0"/>
          </a:p>
        </p:txBody>
      </p:sp>
      <p:sp>
        <p:nvSpPr>
          <p:cNvPr id="11" name="Grade -2"/>
          <p:cNvSpPr/>
          <p:nvPr/>
        </p:nvSpPr>
        <p:spPr>
          <a:xfrm>
            <a:off x="388620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−2</a:t>
            </a:r>
            <a:endParaRPr lang="en-US" sz="1200" dirty="0"/>
          </a:p>
        </p:txBody>
      </p:sp>
      <p:sp>
        <p:nvSpPr>
          <p:cNvPr id="13" name="Grade -1"/>
          <p:cNvSpPr/>
          <p:nvPr/>
        </p:nvSpPr>
        <p:spPr>
          <a:xfrm>
            <a:off x="4672584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98264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−1</a:t>
            </a:r>
            <a:endParaRPr lang="en-US" sz="1200" dirty="0"/>
          </a:p>
        </p:txBody>
      </p:sp>
      <p:sp>
        <p:nvSpPr>
          <p:cNvPr id="15" name="Grade 0"/>
          <p:cNvSpPr/>
          <p:nvPr/>
        </p:nvSpPr>
        <p:spPr>
          <a:xfrm>
            <a:off x="5458968" y="1783080"/>
            <a:ext cx="0" cy="3611880"/>
          </a:xfrm>
          <a:prstGeom prst="line">
            <a:avLst/>
          </a:prstGeom>
          <a:noFill/>
          <a:ln w="19050">
            <a:solidFill>
              <a:srgbClr val="10281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84648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0</a:t>
            </a:r>
            <a:endParaRPr lang="en-US" sz="1200" dirty="0"/>
          </a:p>
        </p:txBody>
      </p:sp>
      <p:sp>
        <p:nvSpPr>
          <p:cNvPr id="17" name="Grade 1"/>
          <p:cNvSpPr/>
          <p:nvPr/>
        </p:nvSpPr>
        <p:spPr>
          <a:xfrm>
            <a:off x="6245352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71032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+1</a:t>
            </a:r>
            <a:endParaRPr lang="en-US" sz="1200" dirty="0"/>
          </a:p>
        </p:txBody>
      </p:sp>
      <p:sp>
        <p:nvSpPr>
          <p:cNvPr id="19" name="Grade 2"/>
          <p:cNvSpPr/>
          <p:nvPr/>
        </p:nvSpPr>
        <p:spPr>
          <a:xfrm>
            <a:off x="7031736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57416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+2</a:t>
            </a:r>
            <a:endParaRPr lang="en-US" sz="1200" dirty="0"/>
          </a:p>
        </p:txBody>
      </p:sp>
      <p:sp>
        <p:nvSpPr>
          <p:cNvPr id="21" name="Grade 3"/>
          <p:cNvSpPr/>
          <p:nvPr/>
        </p:nvSpPr>
        <p:spPr>
          <a:xfrm>
            <a:off x="781812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+3</a:t>
            </a:r>
            <a:endParaRPr lang="en-US" sz="1200" dirty="0"/>
          </a:p>
        </p:txBody>
      </p:sp>
      <p:sp>
        <p:nvSpPr>
          <p:cNvPr id="23" name="Título do eixo"/>
          <p:cNvSpPr txBox="1"/>
          <p:nvPr/>
        </p:nvSpPr>
        <p:spPr>
          <a:xfrm>
            <a:off x="3063240" y="568756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Efeito de AIOE × pós (p.p. por unidade de AIOE), com IC de 95%</a:t>
            </a:r>
            <a:endParaRPr lang="en-US" sz="1200" dirty="0"/>
          </a:p>
        </p:txBody>
      </p:sp>
      <p:sp>
        <p:nvSpPr>
          <p:cNvPr id="24" name="Rótulo: Transição para menor AIOE"/>
          <p:cNvSpPr txBox="1"/>
          <p:nvPr/>
        </p:nvSpPr>
        <p:spPr>
          <a:xfrm>
            <a:off x="548640" y="19431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menor AIOE</a:t>
            </a:r>
            <a:endParaRPr lang="en-US" sz="1400" dirty="0"/>
          </a:p>
        </p:txBody>
      </p:sp>
      <p:sp>
        <p:nvSpPr>
          <p:cNvPr id="25" name="IC 95%: Transição para menor AIOE"/>
          <p:cNvSpPr/>
          <p:nvPr/>
        </p:nvSpPr>
        <p:spPr>
          <a:xfrm>
            <a:off x="7017581" y="2125980"/>
            <a:ext cx="323204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26" name="Extremo do IC"/>
          <p:cNvSpPr/>
          <p:nvPr/>
        </p:nvSpPr>
        <p:spPr>
          <a:xfrm>
            <a:off x="7017581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7" name="Extremo do IC"/>
          <p:cNvSpPr/>
          <p:nvPr/>
        </p:nvSpPr>
        <p:spPr>
          <a:xfrm>
            <a:off x="7340785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8" name="Estimativa: Transição para menor AIOE"/>
          <p:cNvSpPr/>
          <p:nvPr/>
        </p:nvSpPr>
        <p:spPr>
          <a:xfrm>
            <a:off x="7096494" y="204368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29" name="Valor: Transição para menor AIOE"/>
          <p:cNvSpPr txBox="1"/>
          <p:nvPr/>
        </p:nvSpPr>
        <p:spPr>
          <a:xfrm>
            <a:off x="6721590" y="17419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+2,19</a:t>
            </a:r>
            <a:endParaRPr lang="en-US" sz="1200" dirty="0"/>
          </a:p>
        </p:txBody>
      </p:sp>
      <p:sp>
        <p:nvSpPr>
          <p:cNvPr id="30" name="Rótulo: Muda de ocupação (3 dígitos)"/>
          <p:cNvSpPr txBox="1"/>
          <p:nvPr/>
        </p:nvSpPr>
        <p:spPr>
          <a:xfrm>
            <a:off x="548640" y="24460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(3 dígitos)</a:t>
            </a:r>
            <a:endParaRPr lang="en-US" sz="1400" dirty="0"/>
          </a:p>
        </p:txBody>
      </p:sp>
      <p:sp>
        <p:nvSpPr>
          <p:cNvPr id="31" name="IC 95%: Muda de ocupação (3 dígitos)"/>
          <p:cNvSpPr/>
          <p:nvPr/>
        </p:nvSpPr>
        <p:spPr>
          <a:xfrm>
            <a:off x="5926080" y="2628900"/>
            <a:ext cx="419929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2" name="Extremo do IC"/>
          <p:cNvSpPr/>
          <p:nvPr/>
        </p:nvSpPr>
        <p:spPr>
          <a:xfrm>
            <a:off x="5926080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3" name="Extremo do IC"/>
          <p:cNvSpPr/>
          <p:nvPr/>
        </p:nvSpPr>
        <p:spPr>
          <a:xfrm>
            <a:off x="6346009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4" name="Estimativa: Muda de ocupação (3 dígitos)"/>
          <p:cNvSpPr/>
          <p:nvPr/>
        </p:nvSpPr>
        <p:spPr>
          <a:xfrm>
            <a:off x="6053749" y="254660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35" name="Valor: Muda de ocupação (3 dígitos)"/>
          <p:cNvSpPr txBox="1"/>
          <p:nvPr/>
        </p:nvSpPr>
        <p:spPr>
          <a:xfrm>
            <a:off x="5678845" y="2244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+0,86</a:t>
            </a:r>
            <a:endParaRPr lang="en-US" sz="1200" dirty="0"/>
          </a:p>
        </p:txBody>
      </p:sp>
      <p:sp>
        <p:nvSpPr>
          <p:cNvPr id="36" name="Rótulo: Muda de ocupação (2 dígitos)"/>
          <p:cNvSpPr txBox="1"/>
          <p:nvPr/>
        </p:nvSpPr>
        <p:spPr>
          <a:xfrm>
            <a:off x="548640" y="29489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(2 dígitos)</a:t>
            </a:r>
            <a:endParaRPr lang="en-US" sz="1400" dirty="0"/>
          </a:p>
        </p:txBody>
      </p:sp>
      <p:sp>
        <p:nvSpPr>
          <p:cNvPr id="37" name="IC 95%: Muda de ocupação (2 dígitos)"/>
          <p:cNvSpPr/>
          <p:nvPr/>
        </p:nvSpPr>
        <p:spPr>
          <a:xfrm>
            <a:off x="5480200" y="3131820"/>
            <a:ext cx="394765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8" name="Extremo do IC"/>
          <p:cNvSpPr/>
          <p:nvPr/>
        </p:nvSpPr>
        <p:spPr>
          <a:xfrm>
            <a:off x="5480200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9" name="Extremo do IC"/>
          <p:cNvSpPr/>
          <p:nvPr/>
        </p:nvSpPr>
        <p:spPr>
          <a:xfrm>
            <a:off x="5874965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40" name="Estimativa: Muda de ocupação (2 dígitos)"/>
          <p:cNvSpPr/>
          <p:nvPr/>
        </p:nvSpPr>
        <p:spPr>
          <a:xfrm>
            <a:off x="5595287" y="304952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41" name="Valor: Muda de ocupação (2 dígitos)"/>
          <p:cNvSpPr txBox="1"/>
          <p:nvPr/>
        </p:nvSpPr>
        <p:spPr>
          <a:xfrm>
            <a:off x="5220383" y="27477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+0,28</a:t>
            </a:r>
            <a:endParaRPr lang="en-US" sz="1200" dirty="0"/>
          </a:p>
        </p:txBody>
      </p:sp>
      <p:sp>
        <p:nvSpPr>
          <p:cNvPr id="42" name="Rótulo: Saída do emprego"/>
          <p:cNvSpPr txBox="1"/>
          <p:nvPr/>
        </p:nvSpPr>
        <p:spPr>
          <a:xfrm>
            <a:off x="548640" y="34518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Saída do emprego</a:t>
            </a:r>
            <a:endParaRPr lang="en-US" sz="1400" dirty="0"/>
          </a:p>
        </p:txBody>
      </p:sp>
      <p:sp>
        <p:nvSpPr>
          <p:cNvPr id="43" name="IC 95%: Saída do emprego"/>
          <p:cNvSpPr/>
          <p:nvPr/>
        </p:nvSpPr>
        <p:spPr>
          <a:xfrm>
            <a:off x="5145987" y="3634740"/>
            <a:ext cx="231983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44" name="Extremo do IC"/>
          <p:cNvSpPr/>
          <p:nvPr/>
        </p:nvSpPr>
        <p:spPr>
          <a:xfrm>
            <a:off x="5145987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5" name="Extremo do IC"/>
          <p:cNvSpPr/>
          <p:nvPr/>
        </p:nvSpPr>
        <p:spPr>
          <a:xfrm>
            <a:off x="5377970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6" name="Estimativa: Saída do emprego"/>
          <p:cNvSpPr/>
          <p:nvPr/>
        </p:nvSpPr>
        <p:spPr>
          <a:xfrm>
            <a:off x="5180076" y="355244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47" name="Valor: Saída do emprego"/>
          <p:cNvSpPr txBox="1"/>
          <p:nvPr/>
        </p:nvSpPr>
        <p:spPr>
          <a:xfrm>
            <a:off x="4805172" y="32506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−0,25</a:t>
            </a:r>
            <a:endParaRPr lang="en-US" sz="1200" dirty="0"/>
          </a:p>
        </p:txBody>
      </p:sp>
      <p:sp>
        <p:nvSpPr>
          <p:cNvPr id="48" name="Rótulo: Pareamento (teste de atrito)"/>
          <p:cNvSpPr txBox="1"/>
          <p:nvPr/>
        </p:nvSpPr>
        <p:spPr>
          <a:xfrm>
            <a:off x="548640" y="39547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Pareamento (teste de atrito)</a:t>
            </a:r>
            <a:endParaRPr lang="en-US" sz="1400" dirty="0"/>
          </a:p>
        </p:txBody>
      </p:sp>
      <p:sp>
        <p:nvSpPr>
          <p:cNvPr id="49" name="IC 95%: Pareamento (teste de atrito)"/>
          <p:cNvSpPr/>
          <p:nvPr/>
        </p:nvSpPr>
        <p:spPr>
          <a:xfrm>
            <a:off x="5037466" y="4137660"/>
            <a:ext cx="433298" cy="0"/>
          </a:xfrm>
          <a:prstGeom prst="line">
            <a:avLst/>
          </a:prstGeom>
          <a:noFill/>
          <a:ln w="31750">
            <a:solidFill>
              <a:srgbClr val="5F7367"/>
            </a:solidFill>
            <a:prstDash val="solid"/>
          </a:ln>
        </p:spPr>
      </p:sp>
      <p:sp>
        <p:nvSpPr>
          <p:cNvPr id="50" name="Extremo do IC"/>
          <p:cNvSpPr/>
          <p:nvPr/>
        </p:nvSpPr>
        <p:spPr>
          <a:xfrm>
            <a:off x="5037466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1" name="Extremo do IC"/>
          <p:cNvSpPr/>
          <p:nvPr/>
        </p:nvSpPr>
        <p:spPr>
          <a:xfrm>
            <a:off x="5470764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2" name="Estimativa: Pareamento (teste de atrito)"/>
          <p:cNvSpPr/>
          <p:nvPr/>
        </p:nvSpPr>
        <p:spPr>
          <a:xfrm>
            <a:off x="5171426" y="4055364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F7367"/>
            </a:solidFill>
            <a:prstDash val="solid"/>
          </a:ln>
        </p:spPr>
      </p:sp>
      <p:sp>
        <p:nvSpPr>
          <p:cNvPr id="53" name="Valor: Pareamento (teste de atrito)"/>
          <p:cNvSpPr txBox="1"/>
          <p:nvPr/>
        </p:nvSpPr>
        <p:spPr>
          <a:xfrm>
            <a:off x="4796522" y="37536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−0,26</a:t>
            </a:r>
            <a:endParaRPr lang="en-US" sz="1200" dirty="0"/>
          </a:p>
        </p:txBody>
      </p:sp>
      <p:sp>
        <p:nvSpPr>
          <p:cNvPr id="54" name="Rótulo: Formal → informal"/>
          <p:cNvSpPr txBox="1"/>
          <p:nvPr/>
        </p:nvSpPr>
        <p:spPr>
          <a:xfrm>
            <a:off x="548640" y="44577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Formal → informal</a:t>
            </a:r>
            <a:endParaRPr lang="en-US" sz="1400" dirty="0"/>
          </a:p>
        </p:txBody>
      </p:sp>
      <p:sp>
        <p:nvSpPr>
          <p:cNvPr id="55" name="IC 95%: Formal → informal"/>
          <p:cNvSpPr/>
          <p:nvPr/>
        </p:nvSpPr>
        <p:spPr>
          <a:xfrm>
            <a:off x="4784251" y="4640580"/>
            <a:ext cx="290962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56" name="Extremo do IC"/>
          <p:cNvSpPr/>
          <p:nvPr/>
        </p:nvSpPr>
        <p:spPr>
          <a:xfrm>
            <a:off x="4784251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7" name="Extremo do IC"/>
          <p:cNvSpPr/>
          <p:nvPr/>
        </p:nvSpPr>
        <p:spPr>
          <a:xfrm>
            <a:off x="5075213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8" name="Estimativa: Formal → informal"/>
          <p:cNvSpPr/>
          <p:nvPr/>
        </p:nvSpPr>
        <p:spPr>
          <a:xfrm>
            <a:off x="4847436" y="455828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59" name="Valor: Formal → informal"/>
          <p:cNvSpPr txBox="1"/>
          <p:nvPr/>
        </p:nvSpPr>
        <p:spPr>
          <a:xfrm>
            <a:off x="4472532" y="42565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−0,67</a:t>
            </a:r>
            <a:endParaRPr lang="en-US" sz="1200" dirty="0"/>
          </a:p>
        </p:txBody>
      </p:sp>
      <p:sp>
        <p:nvSpPr>
          <p:cNvPr id="60" name="Rótulo: Transição para maior AIOE"/>
          <p:cNvSpPr txBox="1"/>
          <p:nvPr/>
        </p:nvSpPr>
        <p:spPr>
          <a:xfrm>
            <a:off x="548640" y="49606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maior AIOE</a:t>
            </a:r>
            <a:endParaRPr lang="en-US" sz="1400" dirty="0"/>
          </a:p>
        </p:txBody>
      </p:sp>
      <p:sp>
        <p:nvSpPr>
          <p:cNvPr id="61" name="IC 95%: Transição para maior AIOE"/>
          <p:cNvSpPr/>
          <p:nvPr/>
        </p:nvSpPr>
        <p:spPr>
          <a:xfrm>
            <a:off x="4227491" y="5143500"/>
            <a:ext cx="318486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62" name="Extremo do IC"/>
          <p:cNvSpPr/>
          <p:nvPr/>
        </p:nvSpPr>
        <p:spPr>
          <a:xfrm>
            <a:off x="4227491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3" name="Extremo do IC"/>
          <p:cNvSpPr/>
          <p:nvPr/>
        </p:nvSpPr>
        <p:spPr>
          <a:xfrm>
            <a:off x="4545976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4" name="Estimativa: Transição para maior AIOE"/>
          <p:cNvSpPr/>
          <p:nvPr/>
        </p:nvSpPr>
        <p:spPr>
          <a:xfrm>
            <a:off x="4304044" y="506120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65" name="Valor: Transição para maior AIOE"/>
          <p:cNvSpPr txBox="1"/>
          <p:nvPr/>
        </p:nvSpPr>
        <p:spPr>
          <a:xfrm>
            <a:off x="3929140" y="47594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−1,36</a:t>
            </a:r>
            <a:endParaRPr lang="en-US" sz="1200" dirty="0"/>
          </a:p>
        </p:txBody>
      </p:sp>
      <p:sp>
        <p:nvSpPr>
          <p:cNvPr id="66" name="Destaque 1"/>
          <p:cNvSpPr/>
          <p:nvPr/>
        </p:nvSpPr>
        <p:spPr>
          <a:xfrm>
            <a:off x="8229600" y="1417320"/>
            <a:ext cx="3410712" cy="1371600"/>
          </a:xfrm>
          <a:prstGeom prst="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7" name="Valor do destaque 1"/>
          <p:cNvSpPr txBox="1"/>
          <p:nvPr/>
        </p:nvSpPr>
        <p:spPr>
          <a:xfrm>
            <a:off x="8412480" y="149047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+2,19 p.p.</a:t>
            </a:r>
            <a:endParaRPr lang="en-US" sz="2800" dirty="0"/>
          </a:p>
        </p:txBody>
      </p:sp>
      <p:sp>
        <p:nvSpPr>
          <p:cNvPr id="68" name="Texto do destaque 1"/>
          <p:cNvSpPr txBox="1"/>
          <p:nvPr/>
        </p:nvSpPr>
        <p:spPr>
          <a:xfrm>
            <a:off x="8412480" y="201168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menos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cerca de 12,6% da taxa pós, de 17,4%</a:t>
            </a:r>
            <a:endParaRPr lang="en-US" sz="1400" dirty="0"/>
          </a:p>
        </p:txBody>
      </p:sp>
      <p:sp>
        <p:nvSpPr>
          <p:cNvPr id="69" name="Destaque 2"/>
          <p:cNvSpPr/>
          <p:nvPr/>
        </p:nvSpPr>
        <p:spPr>
          <a:xfrm>
            <a:off x="8229600" y="2880360"/>
            <a:ext cx="3410712" cy="1371600"/>
          </a:xfrm>
          <a:prstGeom prst="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0" name="Valor do destaque 2"/>
          <p:cNvSpPr txBox="1"/>
          <p:nvPr/>
        </p:nvSpPr>
        <p:spPr>
          <a:xfrm>
            <a:off x="8412480" y="295351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−1,36 p.p.</a:t>
            </a:r>
            <a:endParaRPr lang="en-US" sz="2800" dirty="0"/>
          </a:p>
        </p:txBody>
      </p:sp>
      <p:sp>
        <p:nvSpPr>
          <p:cNvPr id="71" name="Texto do destaque 2"/>
          <p:cNvSpPr txBox="1"/>
          <p:nvPr/>
        </p:nvSpPr>
        <p:spPr>
          <a:xfrm>
            <a:off x="8412480" y="347472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mais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as duas margens direcionais se leem juntas</a:t>
            </a:r>
            <a:endParaRPr lang="en-US" sz="1400" dirty="0"/>
          </a:p>
        </p:txBody>
      </p:sp>
      <p:sp>
        <p:nvSpPr>
          <p:cNvPr id="72" name="Destaque 3"/>
          <p:cNvSpPr/>
          <p:nvPr/>
        </p:nvSpPr>
        <p:spPr>
          <a:xfrm>
            <a:off x="8229600" y="4343400"/>
            <a:ext cx="3410712" cy="1371600"/>
          </a:xfrm>
          <a:prstGeom prst="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3" name="Valor do destaque 3"/>
          <p:cNvSpPr txBox="1"/>
          <p:nvPr/>
        </p:nvSpPr>
        <p:spPr>
          <a:xfrm>
            <a:off x="8412480" y="441655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+0,86 · +0,28 p.p.</a:t>
            </a:r>
            <a:endParaRPr lang="en-US" sz="2800" dirty="0"/>
          </a:p>
        </p:txBody>
      </p:sp>
      <p:sp>
        <p:nvSpPr>
          <p:cNvPr id="74" name="Texto do destaque 3"/>
          <p:cNvSpPr txBox="1"/>
          <p:nvPr/>
        </p:nvSpPr>
        <p:spPr>
          <a:xfrm>
            <a:off x="8412480" y="49377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mudança de ocupação (3 e 2 dígitos)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 = 0,030 no de 2 dígitos: não citar isoladamente</a:t>
            </a:r>
            <a:endParaRPr lang="en-US" sz="1400" dirty="0"/>
          </a:p>
        </p:txBody>
      </p:sp>
      <p:sp>
        <p:nvSpPr>
          <p:cNvPr id="7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Erros-padrão por UPA; sete desfechos, sem correção para multiplicidade.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Vínculo no emprego e teste de atrito</a:t>
            </a:r>
            <a:endParaRPr lang="en-US" sz="3400" dirty="0"/>
          </a:p>
        </p:txBody>
      </p:sp>
      <p:sp>
        <p:nvSpPr>
          <p:cNvPr id="3" name="Efeito 1"/>
          <p:cNvSpPr/>
          <p:nvPr/>
        </p:nvSpPr>
        <p:spPr>
          <a:xfrm>
            <a:off x="548640" y="1417320"/>
            <a:ext cx="3563112" cy="1645920"/>
          </a:xfrm>
          <a:prstGeom prst="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−0,25 p.p.</a:t>
            </a:r>
            <a:endParaRPr lang="en-US" sz="3800" dirty="0"/>
          </a:p>
        </p:txBody>
      </p:sp>
      <p:sp>
        <p:nvSpPr>
          <p:cNvPr id="5" name="Texto 1"/>
          <p:cNvSpPr txBox="1"/>
          <p:nvPr/>
        </p:nvSpPr>
        <p:spPr>
          <a:xfrm>
            <a:off x="73152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saída do emprego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6" name="Efeito 2"/>
          <p:cNvSpPr/>
          <p:nvPr/>
        </p:nvSpPr>
        <p:spPr>
          <a:xfrm>
            <a:off x="4312920" y="1417320"/>
            <a:ext cx="3563112" cy="1645920"/>
          </a:xfrm>
          <a:prstGeom prst="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449580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−0,67 p.p.</a:t>
            </a:r>
            <a:endParaRPr lang="en-US" sz="3800" dirty="0"/>
          </a:p>
        </p:txBody>
      </p:sp>
      <p:sp>
        <p:nvSpPr>
          <p:cNvPr id="8" name="Texto 2"/>
          <p:cNvSpPr txBox="1"/>
          <p:nvPr/>
        </p:nvSpPr>
        <p:spPr>
          <a:xfrm>
            <a:off x="449580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9" name="Efeito 3"/>
          <p:cNvSpPr/>
          <p:nvPr/>
        </p:nvSpPr>
        <p:spPr>
          <a:xfrm>
            <a:off x="8077200" y="1417320"/>
            <a:ext cx="3563112" cy="1645920"/>
          </a:xfrm>
          <a:prstGeom prst="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826008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+1,73 p.p.</a:t>
            </a:r>
            <a:endParaRPr lang="en-US" sz="3800" dirty="0"/>
          </a:p>
        </p:txBody>
      </p:sp>
      <p:sp>
        <p:nvSpPr>
          <p:cNvPr id="11" name="Texto 3"/>
          <p:cNvSpPr txBox="1"/>
          <p:nvPr/>
        </p:nvSpPr>
        <p:spPr>
          <a:xfrm>
            <a:off x="826008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teletrabalhabilidade × pós (painel B)</a:t>
            </a:r>
            <a:endParaRPr lang="en-US" sz="1700" dirty="0"/>
          </a:p>
        </p:txBody>
      </p:sp>
      <p:sp>
        <p:nvSpPr>
          <p:cNvPr id="12" name="Teste de atrito"/>
          <p:cNvSpPr/>
          <p:nvPr/>
        </p:nvSpPr>
        <p:spPr>
          <a:xfrm>
            <a:off x="548640" y="3291840"/>
            <a:ext cx="7086600" cy="1600200"/>
          </a:xfrm>
          <a:prstGeom prst="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Teste de atrito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Pareamento: −0,261 p.p., p = 0,064.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Não rejeita a estabilidade do gradiente de pareamento, mas o resultado está perto do limiar e o sinal é negativo. A seleção longitudinal não está descartada.</a:t>
            </a:r>
            <a:endParaRPr lang="en-US" sz="1400" dirty="0"/>
          </a:p>
        </p:txBody>
      </p:sp>
      <p:sp>
        <p:nvSpPr>
          <p:cNvPr id="13" name="Como ler"/>
          <p:cNvSpPr/>
          <p:nvPr/>
        </p:nvSpPr>
        <p:spPr>
          <a:xfrm>
            <a:off x="7836408" y="3291840"/>
            <a:ext cx="3803904" cy="1600200"/>
          </a:xfrm>
          <a:prstGeom prst="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Como ler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Compatível com o ramo de Autor e Thompson (2025) em que o vínculo se preserva e o ajuste recai sobre o rendimento, que esta pesquisa não observa. Compatibilidade não é teste.</a:t>
            </a:r>
            <a:endParaRPr lang="en-US" sz="1400" dirty="0"/>
          </a:p>
        </p:txBody>
      </p:sp>
      <p:sp>
        <p:nvSpPr>
          <p:cNvPr id="14" name="Síntese"/>
          <p:cNvSpPr/>
          <p:nvPr/>
        </p:nvSpPr>
        <p:spPr>
          <a:xfrm>
            <a:off x="548640" y="5120640"/>
            <a:ext cx="11091672" cy="777240"/>
          </a:xfrm>
          <a:prstGeom prst="rect">
            <a:avLst>
              <a:gd name="adj" fmla="val 11765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Maior exposição se associa a menos saída do emprego e a menos informalização: o sinal oposto ao da leitura alarmista.</a:t>
            </a:r>
            <a:endParaRPr lang="en-US" sz="19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Efeitos em pontos percentuais por unidade do índice.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o desenho permite e o que não permite</a:t>
            </a:r>
            <a:endParaRPr lang="en-US" sz="3400" dirty="0"/>
          </a:p>
        </p:txBody>
      </p:sp>
      <p:sp>
        <p:nvSpPr>
          <p:cNvPr id="3" name="Coluna: O que os resultados sustentam"/>
          <p:cNvSpPr/>
          <p:nvPr/>
        </p:nvSpPr>
        <p:spPr>
          <a:xfrm>
            <a:off x="548640" y="1417320"/>
            <a:ext cx="5408676" cy="4572000"/>
          </a:xfrm>
          <a:prstGeom prst="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Marca: O que os resultados sustentam"/>
          <p:cNvSpPr/>
          <p:nvPr/>
        </p:nvSpPr>
        <p:spPr>
          <a:xfrm>
            <a:off x="777240" y="162763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ítulo: O que os resultados sustentam"/>
          <p:cNvSpPr txBox="1"/>
          <p:nvPr/>
        </p:nvSpPr>
        <p:spPr>
          <a:xfrm>
            <a:off x="1508760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os resultados sustentam</a:t>
            </a:r>
            <a:endParaRPr lang="en-US" sz="2000" dirty="0"/>
          </a:p>
        </p:txBody>
      </p:sp>
      <p:sp>
        <p:nvSpPr>
          <p:cNvPr id="6" name="Itens: O que os resultados sustentam"/>
          <p:cNvSpPr txBox="1"/>
          <p:nvPr/>
        </p:nvSpPr>
        <p:spPr>
          <a:xfrm>
            <a:off x="822960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Aumento generalizado das taxas medidas de rotatividade ocupacional, em todas as faixas de exposição.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Gradiente condicional detectável: +2,19 p.p. por unidade de AIOE na transição para ocupação menos exposta.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Nas margens de vínculo, sinal oposto ao da leitura alarmista.</a:t>
            </a:r>
            <a:endParaRPr lang="en-US" sz="1800" dirty="0"/>
          </a:p>
        </p:txBody>
      </p:sp>
      <p:sp>
        <p:nvSpPr>
          <p:cNvPr id="7" name="Coluna: O que não sustentam"/>
          <p:cNvSpPr/>
          <p:nvPr/>
        </p:nvSpPr>
        <p:spPr>
          <a:xfrm>
            <a:off x="6231636" y="1417320"/>
            <a:ext cx="5408676" cy="4572000"/>
          </a:xfrm>
          <a:prstGeom prst="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Marca: O que não sustentam"/>
          <p:cNvSpPr/>
          <p:nvPr/>
        </p:nvSpPr>
        <p:spPr>
          <a:xfrm>
            <a:off x="6460236" y="1627632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✕</a:t>
            </a:r>
            <a:endParaRPr lang="en-US" sz="2000" dirty="0"/>
          </a:p>
        </p:txBody>
      </p:sp>
      <p:sp>
        <p:nvSpPr>
          <p:cNvPr id="9" name="Título: O que não sustentam"/>
          <p:cNvSpPr txBox="1"/>
          <p:nvPr/>
        </p:nvSpPr>
        <p:spPr>
          <a:xfrm>
            <a:off x="7191756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não sustentam</a:t>
            </a:r>
            <a:endParaRPr lang="en-US" sz="2000" dirty="0"/>
          </a:p>
        </p:txBody>
      </p:sp>
      <p:sp>
        <p:nvSpPr>
          <p:cNvPr id="10" name="Itens: O que não sustentam"/>
          <p:cNvSpPr txBox="1"/>
          <p:nvPr/>
        </p:nvSpPr>
        <p:spPr>
          <a:xfrm>
            <a:off x="6505956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Efeito causal: cenário único, sem estudo de evento nem teste de tendências pré-marco.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Adoção de IA: o tratamento é exposição potencial, num marco único e nacional.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Estabilidade da medida: a mudança de ocupação (3 dígitos) cai de 30,0% em 2019T4 para 15,3% em 2020T1 e volta a 34,3% em 2021T4.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Seleção longitudinal e horizonte maior que um trimestre.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Conclusões e próximos passos</a:t>
            </a:r>
            <a:endParaRPr lang="en-US" sz="3400" dirty="0"/>
          </a:p>
        </p:txBody>
      </p:sp>
      <p:sp>
        <p:nvSpPr>
          <p:cNvPr id="3" name="Rótulo"/>
          <p:cNvSpPr txBox="1"/>
          <p:nvPr/>
        </p:nvSpPr>
        <p:spPr>
          <a:xfrm>
            <a:off x="6382512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TRÊS NÍVEIS DE RESPOSTA</a:t>
            </a:r>
            <a:endParaRPr lang="en-US" sz="1200" dirty="0"/>
          </a:p>
        </p:txBody>
      </p:sp>
      <p:sp>
        <p:nvSpPr>
          <p:cNvPr id="4" name="Nível: Descritivo"/>
          <p:cNvSpPr/>
          <p:nvPr/>
        </p:nvSpPr>
        <p:spPr>
          <a:xfrm>
            <a:off x="6382512" y="1737360"/>
            <a:ext cx="5257800" cy="1143000"/>
          </a:xfrm>
          <a:prstGeom prst="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Marca: Descritivo"/>
          <p:cNvSpPr/>
          <p:nvPr/>
        </p:nvSpPr>
        <p:spPr>
          <a:xfrm>
            <a:off x="6565392" y="20345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6" name="Texto: Descritivo"/>
          <p:cNvSpPr txBox="1"/>
          <p:nvPr/>
        </p:nvSpPr>
        <p:spPr>
          <a:xfrm>
            <a:off x="7296912" y="182880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Descritivo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 mobilidade subiu para todos, e não só para os mais expostos.</a:t>
            </a:r>
            <a:endParaRPr lang="en-US" sz="1800" dirty="0"/>
          </a:p>
        </p:txBody>
      </p:sp>
      <p:sp>
        <p:nvSpPr>
          <p:cNvPr id="7" name="Nível: Associação condicional"/>
          <p:cNvSpPr/>
          <p:nvPr/>
        </p:nvSpPr>
        <p:spPr>
          <a:xfrm>
            <a:off x="6382512" y="2999232"/>
            <a:ext cx="5257800" cy="1143000"/>
          </a:xfrm>
          <a:prstGeom prst="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Marca: Associação condicional"/>
          <p:cNvSpPr/>
          <p:nvPr/>
        </p:nvSpPr>
        <p:spPr>
          <a:xfrm>
            <a:off x="6565392" y="329641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o: Associação condicional"/>
          <p:cNvSpPr txBox="1"/>
          <p:nvPr/>
        </p:nvSpPr>
        <p:spPr>
          <a:xfrm>
            <a:off x="7296912" y="309067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Associação condicional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Gradiente detectável, da ordem de 2 p.p. por unidade de AIOE. Vínculo sem deterioração.</a:t>
            </a:r>
            <a:endParaRPr lang="en-US" sz="1800" dirty="0"/>
          </a:p>
        </p:txBody>
      </p:sp>
      <p:sp>
        <p:nvSpPr>
          <p:cNvPr id="10" name="Nível: Causal"/>
          <p:cNvSpPr/>
          <p:nvPr/>
        </p:nvSpPr>
        <p:spPr>
          <a:xfrm>
            <a:off x="6382512" y="4261104"/>
            <a:ext cx="5257800" cy="1143000"/>
          </a:xfrm>
          <a:prstGeom prst="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Marca: Causal"/>
          <p:cNvSpPr/>
          <p:nvPr/>
        </p:nvSpPr>
        <p:spPr>
          <a:xfrm>
            <a:off x="6565392" y="4558284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✕</a:t>
            </a:r>
            <a:endParaRPr lang="en-US" sz="2000" dirty="0"/>
          </a:p>
        </p:txBody>
      </p:sp>
      <p:sp>
        <p:nvSpPr>
          <p:cNvPr id="12" name="Texto: Causal"/>
          <p:cNvSpPr txBox="1"/>
          <p:nvPr/>
        </p:nvSpPr>
        <p:spPr>
          <a:xfrm>
            <a:off x="7296912" y="4352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Causal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 desenho atual não sustenta a afirmação.</a:t>
            </a:r>
            <a:endParaRPr lang="en-US" sz="1800" dirty="0"/>
          </a:p>
        </p:txBody>
      </p:sp>
      <p:sp>
        <p:nvSpPr>
          <p:cNvPr id="13" name="Rótulo"/>
          <p:cNvSpPr txBox="1"/>
          <p:nvPr/>
        </p:nvSpPr>
        <p:spPr>
          <a:xfrm>
            <a:off x="548640" y="1371600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AGENDA, EM ORDEM DE PRIORIDADE</a:t>
            </a:r>
            <a:endParaRPr lang="en-US" sz="1200" dirty="0"/>
          </a:p>
        </p:txBody>
      </p:sp>
      <p:sp>
        <p:nvSpPr>
          <p:cNvPr id="14" name="Passo 1"/>
          <p:cNvSpPr/>
          <p:nvPr/>
        </p:nvSpPr>
        <p:spPr>
          <a:xfrm>
            <a:off x="548640" y="179222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Passo 1 (texto)"/>
          <p:cNvSpPr txBox="1"/>
          <p:nvPr/>
        </p:nvSpPr>
        <p:spPr>
          <a:xfrm>
            <a:off x="1188720" y="1737360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Tratar a quebra de medida de 2020 e 2021 e definir a janela homogênea</a:t>
            </a:r>
            <a:endParaRPr lang="en-US" sz="1500" dirty="0"/>
          </a:p>
        </p:txBody>
      </p:sp>
      <p:sp>
        <p:nvSpPr>
          <p:cNvPr id="16" name="Passo 2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Passo 2 (texto)"/>
          <p:cNvSpPr txBox="1"/>
          <p:nvPr/>
        </p:nvSpPr>
        <p:spPr>
          <a:xfrm>
            <a:off x="1188720" y="2505456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Estudo de evento e teste de tendências anteriores ao marco</a:t>
            </a:r>
            <a:endParaRPr lang="en-US" sz="1500" dirty="0"/>
          </a:p>
        </p:txBody>
      </p:sp>
      <p:sp>
        <p:nvSpPr>
          <p:cNvPr id="18" name="Passo 3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Passo 3 (texto)"/>
          <p:cNvSpPr txBox="1"/>
          <p:nvPr/>
        </p:nvSpPr>
        <p:spPr>
          <a:xfrm>
            <a:off x="1188720" y="3273552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Bateria de sensibilidade: janelas, agrupamento, tendência por exposição</a:t>
            </a:r>
            <a:endParaRPr lang="en-US" sz="1500" dirty="0"/>
          </a:p>
        </p:txBody>
      </p:sp>
      <p:sp>
        <p:nvSpPr>
          <p:cNvPr id="20" name="Passo 4"/>
          <p:cNvSpPr/>
          <p:nvPr/>
        </p:nvSpPr>
        <p:spPr>
          <a:xfrm>
            <a:off x="548640" y="4096512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Passo 4 (texto)"/>
          <p:cNvSpPr txBox="1"/>
          <p:nvPr/>
        </p:nvSpPr>
        <p:spPr>
          <a:xfrm>
            <a:off x="1188720" y="4041648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Medida específica para modelos de linguagem e placebo com teletrabalho</a:t>
            </a:r>
            <a:endParaRPr lang="en-US" sz="1500" dirty="0"/>
          </a:p>
        </p:txBody>
      </p:sp>
      <p:sp>
        <p:nvSpPr>
          <p:cNvPr id="22" name="Passo 5"/>
          <p:cNvSpPr/>
          <p:nvPr/>
        </p:nvSpPr>
        <p:spPr>
          <a:xfrm>
            <a:off x="548640" y="4864608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Passo 5 (texto)"/>
          <p:cNvSpPr txBox="1"/>
          <p:nvPr/>
        </p:nvSpPr>
        <p:spPr>
          <a:xfrm>
            <a:off x="1188720" y="4809744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Tendências não paralelas e estimadores para tratamento contínuo</a:t>
            </a:r>
            <a:endParaRPr lang="en-US" sz="1500" dirty="0"/>
          </a:p>
        </p:txBody>
      </p:sp>
      <p:sp>
        <p:nvSpPr>
          <p:cNvPr id="24" name="Extensões"/>
          <p:cNvSpPr txBox="1"/>
          <p:nvPr/>
        </p:nvSpPr>
        <p:spPr>
          <a:xfrm>
            <a:off x="548640" y="5596128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Extensões, por último: rendimentos, dimensão regional e margem de entrada no mercado de trabalho.</a:t>
            </a:r>
            <a:endParaRPr lang="en-US" sz="1300" dirty="0"/>
          </a:p>
        </p:txBody>
      </p:sp>
      <p:sp>
        <p:nvSpPr>
          <p:cNvPr id="25" name="Agradecimento"/>
          <p:cNvSpPr txBox="1"/>
          <p:nvPr/>
        </p:nvSpPr>
        <p:spPr>
          <a:xfrm>
            <a:off x="6382512" y="566928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Obrigado. Perguntas?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torial com resultados à esquerda">
  <a:themeElements>
    <a:clrScheme name="Editorial com resultados à esquerda">
      <a:dk1>
        <a:srgbClr val="10281D"/>
      </a:dk1>
      <a:lt1>
        <a:srgbClr val="FFFFFF"/>
      </a:lt1>
      <a:dk2>
        <a:srgbClr val="123B2B"/>
      </a:dk2>
      <a:lt2>
        <a:srgbClr val="EDF4EF"/>
      </a:lt2>
      <a:accent1>
        <a:srgbClr val="006437"/>
      </a:accent1>
      <a:accent2>
        <a:srgbClr val="123B2B"/>
      </a:accent2>
      <a:accent3>
        <a:srgbClr val="3F8F68"/>
      </a:accent3>
      <a:accent4>
        <a:srgbClr val="A9CDB8"/>
      </a:accent4>
      <a:accent5>
        <a:srgbClr val="B08A22"/>
      </a:accent5>
      <a:accent6>
        <a:srgbClr val="5F7367"/>
      </a:accent6>
      <a:hlink>
        <a:srgbClr val="006437"/>
      </a:hlink>
      <a:folHlink>
        <a:srgbClr val="4E6A5C"/>
      </a:folHlink>
    </a:clrScheme>
    <a:fontScheme name="Editorial com resultados à esquerda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IDP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Exposição ocupacional à inteligência artificial e transições no mercado de trabalho brasileiro</dc:title>
  <dc:subject>Apresentação da dissertação de mestrado, resultados preliminares</dc:subject>
  <dc:creator>Ricardo Carvalho</dc:creator>
  <cp:lastModifiedBy>Ricardo Carvalho</cp:lastModifiedBy>
  <cp:revision>1</cp:revision>
  <dcterms:created xsi:type="dcterms:W3CDTF">2026-10-10T13:59:37Z</dcterms:created>
  <dcterms:modified xsi:type="dcterms:W3CDTF">2026-10-10T13:59:37Z</dcterms:modified>
</cp:coreProperties>
</file>