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olors3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1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Pareamento (todas as origens)</c:v>
                </c:pt>
                <c:pt idx="1">
                  <c:v>Saída do emprego (pares)</c:v>
                </c:pt>
                <c:pt idx="2">
                  <c:v>Muda de ocupação (destino ocupado)</c:v>
                </c:pt>
                <c:pt idx="3">
                  <c:v>Margens direcionais (AIOE nos dois lados)</c:v>
                </c:pt>
                <c:pt idx="4">
                  <c:v>Informalização (origem formal)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gapWidth val="45"/>
        <c:overlap val="0"/>
        <c:axId val="71639972"/>
        <c:axId val="66500960"/>
      </c:barChart>
      <c:catAx>
        <c:axId val="71639972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66500960"/>
        <c:crosses val="autoZero"/>
        <c:auto val="1"/>
        <c:lblAlgn val="ctr"/>
        <c:lblOffset val="100"/>
        <c:noMultiLvlLbl val="0"/>
      </c:catAx>
      <c:valAx>
        <c:axId val="66500960"/>
        <c:scaling>
          <c:orientation val="minMax"/>
          <c:max val="5000000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F7367"/>
                </a:solidFill>
                <a:uFillTx/>
                <a:latin typeface="Calibri"/>
              </a:defRPr>
            </a:pPr>
          </a:p>
        </c:txPr>
        <c:crossAx val="71639972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5"/>
                <c:pt idx="0">
                  <c:v>-2,1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-1,6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-1,0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-0,4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0,2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0,7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1,3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gapWidth val="6"/>
        <c:overlap val="0"/>
        <c:axId val="8709843"/>
        <c:axId val="4526341"/>
      </c:barChart>
      <c:catAx>
        <c:axId val="870984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4526341"/>
        <c:crosses val="autoZero"/>
        <c:auto val="1"/>
        <c:lblAlgn val="ctr"/>
        <c:lblOffset val="100"/>
        <c:noMultiLvlLbl val="0"/>
      </c:catAx>
      <c:valAx>
        <c:axId val="4526341"/>
        <c:scaling>
          <c:orientation val="minMax"/>
          <c:max val="45"/>
          <c:min val="0"/>
        </c:scaling>
        <c:delete val="0"/>
        <c:axPos val="l"/>
        <c:majorGridlines>
          <c:spPr>
            <a:ln w="9360">
              <a:solidFill>
                <a:srgbClr val="DCE6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F7367"/>
                </a:solidFill>
                <a:uFillTx/>
                <a:latin typeface="Calibri"/>
              </a:defRPr>
            </a:pPr>
          </a:p>
        </c:txPr>
        <c:crossAx val="8709843"/>
        <c:crosses val="autoZero"/>
        <c:crossBetween val="between"/>
        <c:majorUnit val="15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Muda de ocupação (3 dígitos)</c:v>
                </c:pt>
                <c:pt idx="1">
                  <c:v>Muda de ocupação (2 dígitos)</c:v>
                </c:pt>
                <c:pt idx="2">
                  <c:v>Transição para menor AIOE</c:v>
                </c:pt>
                <c:pt idx="3">
                  <c:v>Transição para maior AIOE</c:v>
                </c:pt>
                <c:pt idx="4">
                  <c:v>De formal para informal</c:v>
                </c:pt>
                <c:pt idx="5">
                  <c:v>Saída do emprego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Muda de ocupação (3 dígitos)</c:v>
                </c:pt>
                <c:pt idx="1">
                  <c:v>Muda de ocupação (2 dígitos)</c:v>
                </c:pt>
                <c:pt idx="2">
                  <c:v>Transição para menor AIOE</c:v>
                </c:pt>
                <c:pt idx="3">
                  <c:v>Transição para maior AIOE</c:v>
                </c:pt>
                <c:pt idx="4">
                  <c:v>De formal para informal</c:v>
                </c:pt>
                <c:pt idx="5">
                  <c:v>Saída do emprego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gapWidth val="40"/>
        <c:overlap val="0"/>
        <c:axId val="84239740"/>
        <c:axId val="35406274"/>
      </c:barChart>
      <c:catAx>
        <c:axId val="84239740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35406274"/>
        <c:crosses val="autoZero"/>
        <c:auto val="1"/>
        <c:lblAlgn val="ctr"/>
        <c:lblOffset val="100"/>
        <c:noMultiLvlLbl val="0"/>
      </c:catAx>
      <c:valAx>
        <c:axId val="35406274"/>
        <c:scaling>
          <c:orientation val="minMax"/>
          <c:max val="38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F7367"/>
                </a:solidFill>
                <a:uFillTx/>
                <a:latin typeface="Calibri"/>
              </a:defRPr>
            </a:pPr>
          </a:p>
        </c:txPr>
        <c:crossAx val="84239740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300" b="0" u="none" strike="noStrike">
              <a:solidFill>
                <a:srgbClr val="10281D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Lbls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gapWidth val="40"/>
        <c:overlap val="0"/>
        <c:axId val="95824403"/>
        <c:axId val="89591222"/>
      </c:barChart>
      <c:catAx>
        <c:axId val="9582440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89591222"/>
        <c:crosses val="autoZero"/>
        <c:auto val="1"/>
        <c:lblAlgn val="ctr"/>
        <c:lblOffset val="100"/>
        <c:noMultiLvlLbl val="0"/>
      </c:catAx>
      <c:valAx>
        <c:axId val="89591222"/>
        <c:scaling>
          <c:orientation val="minMax"/>
          <c:max val="0"/>
          <c:min val="-1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F7367"/>
                </a:solidFill>
                <a:uFillTx/>
                <a:latin typeface="Calibri"/>
              </a:defRPr>
            </a:pPr>
          </a:p>
        </c:txPr>
        <c:crossAx val="95824403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38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Clique para mover o slide</a:t>
            </a:r>
            <a:endParaRPr lang="en-US" sz="38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B37358-9068-44E5-99A4-24C90A8AB8E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 de 12 · tempo previsto 0:30 · ao terminar, o relógio marca 0:30]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10FE1F-7BA3-41FB-80E6-5059A013A9C5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2 de 12 · CONTEXTO · tempo previsto 1:40 · ao terminar, o relógio marca 2:10]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Começo pelo contexto. Em 30 de novembro de 2022, o ChatGPT foi aberto ao público. De um dia para o outro, uma ferramenta que escreve, resume e programa ficou ao alcance de qualquer pessoa.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quem estuda o mercado de trabalho, esse marco é útil. Ele tem data certa, vale para o país inteiro e não depende da decisão de nenhum trabalhador da pesquisa.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Daí vem a pergunta da dissertação: quem trabalha em ocupações mais expostas à IA passou a mudar de trabalho de um jeito diferente depois desse marco?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que isso importa? Porque mudar de trabalho mexe com renda, com informalidade e com o tipo de qualificação que o país precisa oferecer. E quase tudo o que se sabe vem de países ricos.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34006D-6476-4F52-98FE-C400C913C90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3 de 12 · CONTEXTO · tempo previsto 1:15 · ao terminar, o relógio marca 3:25]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já se sabe sobre isso? A literatura anda em três frentes.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primeira mede a exposição. Felten, Raj e Seamans criaram o índice que eu uso, chamado AIOE. Ele liga as habilidades de cada ocupação ao que a IA consegue fazer. Eloundou e coautores fizeram algo parecido para os modelos de linguagem.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segunda observa quem já adotou a IA. Numa central de atendimento, a produtividade subiu. Na Dinamarca, dois anos depois, salários e horas praticamente não mudaram.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terceira me dá o método e o contexto brasileiro, em que as pessoas entram e saem da informalidade com frequência.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aqui está a lacuna. No Brasil, não existe uma pesquisa grande que pergunte quem usa IA no trabalho. Então eu uso o que existe: a exposição da ocupação, numa pesquisa feita nos domicílios.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85C4E-C0D6-48E7-8F0E-1A1D4AE1E89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4 de 12 · TENSÃO · tempo previsto 1:10 · ao terminar, o relógio marca 4:35]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começa a tensão, porque responder a essa pergunta não é simples. O primeiro obstáculo está nos dados.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gráfico mostra o tamanho da base. São quase quatro milhões de pares possíveis, e cerca de oitenta por cento encontram a entrevista seguinte. Cada desfecho usa a sua própria parte da base, por isso as barras têm tamanhos diferentes.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 detalhe: eu conto transições, e não pessoas. A mesma pessoa pode aparecer até quatro vezes.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B9DB56-6B74-4C3A-9F07-82125D479984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5 de 12 · TENSÃO · tempo previsto 1:20 · ao terminar, o relógio marca 5:55]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cobertura ficou boa: 416 ocupações recebem o índice, e só cerca de um por cento da amostra fica de fora. [Aponte para o histograma.] O gráfico mostra que as ocupações se espalham por toda a escala.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246087-7D33-4914-9EEE-AB49598530C8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6 de 12 · TENSÃO · tempo previsto 1:00 · ao terminar, o relógio marca 6:55]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saber se o trabalho mudou, olho para sete desfechos, em três grupos.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primeiro é o vínculo. A pessoa saiu do emprego? Passou do emprego formal para o informal? E, como controle, ela foi encontrada de novo na entrevista seguinte?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segundo é a mobilidade: a pessoa mudou de ocupação?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terceiro é a direção: ela foi para uma ocupação menos exposta à IA, ou para uma mais exposta?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17A537-51FF-45C0-9D60-96A6418EEDA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7 de 12 · TENSÃO · tempo previsto 1:20 · ao terminar, o relógio marca 8:15]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último obstáculo é o desenho. Não existe um grupo que recebeu a IA e outro que não recebeu. O ChatGPT chegou para todos no mesmo dia. O que muda é a intensidade: algumas ocupações estão mais expostas do que outras.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isso uso diferenças em diferenças com tratamento contínuo. Em palavras simples: comparo o antes e o depois do marco, e pergunto se essa mudança foi maior nas ocupações mais expostas. O antes tem quinze trimestres, e o depois tem doze.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número que importa é o beta, em destaque na equação. Ele diz quantos pontos percentuais a mais cada desfecho mudou, para cada unidade a mais de exposição.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0DD8FC-54AF-4215-A5E5-95DE87CBEAF9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8 de 12 · TENSÃO · tempo previsto 1:15 · ao terminar, o relógio marca 9:30]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qualquer modelo, vamos olhar os dados brutos. E aqui a tensão aumenta.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[Aponte para o gráfico das cinco faixas, Q1 a Q5.] Agora, as cinco faixas de exposição, da menor para a maior. Em todas elas, ficar na mesma faixa ficou menos comum.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 seja: a mobilidade subiu para todo mundo, e não só para quem está mais exposto à IA. Essa é a tensão do trabalho. Se tudo se mexeu, a IA explica alguma parte desse movimento? É isso que o modelo vai responder.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C5CC91-9CF1-48C9-9070-25996C58BF34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9 de 12 · RESOLUÇÃO · tempo previsto 1:30 · ao terminar, o relógio marca 11:00]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esta é a resposta principal. Cada ponto do gráfico é o beta de um desfecho, e a linha em volta é a margem de erro.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Mudar de ocupação também ficou um pouco mais comum nas ocupações mais expostas, quase um ponto a mais.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743B3A-1928-4189-8ED4-36C8C8CEEFF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10 de 12 · RESOLUÇÃO · tempo previsto 1:20 · ao terminar, o relógio marca 12:20]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terceiro número mostra que, na informalidade, quem aparece associado a mais informalização é o teletrabalho, e não a IA. Como os dois índices têm escalas diferentes, não dá para dizer qual força pesa mais.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Uma explicação possível vem de Autor e Thompson: a tecnologia pode manter o emprego e mudar o salário. Mas eu não observo salários. Então isso é uma hipótese, e não um teste.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fim, o controle. A chance de reencontrar a pessoa quase variou com a exposição, perto do limite de significância. Por isso não posso descartar que as perdas de entrevista influenciem o resultado.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AC11DE-E60E-4AD2-A2C0-A829B1591869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11 de 12 · RESOLUÇÃO · tempo previsto 1:20 · ao terminar, o relógio marca 13:40]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Então, o que esses resultados permitem dizer, e o que não permitem?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Eles permitem dizer três coisas. A mobilidade subiu para todos. Existe um gradiente: quanto mais exposta a ocupação, mais as pessoas foram para ocupações menos expostas, cerca de dois pontos por unidade de exposição. E o vínculo dos mais expostos não piorou.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Eles não permitem dizer que a IA causou isso. Ainda falta o estudo de evento, que testa se as ocupações já se comportavam de forma diferente antes do marco. Eu não observo quem usa IA, só quem está exposto. E o marco é um só, para o país inteiro.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F02E2F-AF14-424B-A0BB-8E82101161C9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12 de 12 · RESOLUÇÃO · tempo previsto 1:20 · ao terminar, o relógio marca 15:00]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fechar, a resposta em três níveis.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Primeiro, o que os dados mostram: depois do ChatGPT, a mobilidade subiu para todos, e não só para os mais expostos.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Segundo, a associação: existe um gradiente de cerca de dois pontos por unidade de exposição, em direção a ocupações menos expostas. E o vínculo não piorou.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Terceiro, a causalidade: o desenho atual ainda não permite afirmá-la.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Muito obrigado. Fico à disposição para as perguntas.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4C923-9058-46F3-9AEF-92E8B403B1C0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2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Título do slide</a:t>
            </a:r>
            <a:endParaRPr lang="en-US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Exposição ocupacional à IA e transições no mercado de trabalho brasileiro · IDP · 2026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045350-D795-47F1-B3D1-74B278F0CA95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822960" y="1417320"/>
            <a:ext cx="8777880" cy="228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800" b="1" u="none" strike="noStrike">
                <a:solidFill>
                  <a:schemeClr val="lt1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Título</a:t>
            </a:r>
            <a:endParaRPr lang="en-US" sz="38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822960" y="3840480"/>
            <a:ext cx="877788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Subtítulo</a:t>
            </a:r>
            <a:endParaRPr lang="en-US" sz="2000" b="0" u="none" strike="noStrike">
              <a:solidFill>
                <a:schemeClr val="accent4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ECHO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1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Título do slide</a:t>
            </a:r>
            <a:endParaRPr lang="en-US" sz="30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9" name="Text 0"/>
          <p:cNvSpPr/>
          <p:nvPr/>
        </p:nvSpPr>
        <p:spPr>
          <a:xfrm>
            <a:off x="548640" y="640080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Exposição ocupacional à IA e transições no mercado de trabalho brasileiro · IDP · 2026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2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FFC5AE-BEE4-471E-83FA-57D9C825CFBB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ircunferência maior"/>
          <p:cNvSpPr/>
          <p:nvPr/>
        </p:nvSpPr>
        <p:spPr>
          <a:xfrm>
            <a:off x="9052560" y="2743200"/>
            <a:ext cx="5851800" cy="5851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Circunferência menor"/>
          <p:cNvSpPr/>
          <p:nvPr/>
        </p:nvSpPr>
        <p:spPr>
          <a:xfrm>
            <a:off x="10241280" y="4114800"/>
            <a:ext cx="3657240" cy="365724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Rótulo"/>
          <p:cNvSpPr/>
          <p:nvPr/>
        </p:nvSpPr>
        <p:spPr>
          <a:xfrm>
            <a:off x="822960" y="868680"/>
            <a:ext cx="877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DISSERTAÇÃO DE MESTRADO · RESULTADOS PRELIMINARES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822960" y="1417320"/>
            <a:ext cx="877788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8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Exposição ocupacional à inteligência artificial e transições no mercado de trabalho brasileiro</a:t>
            </a:r>
            <a:endParaRPr lang="pt-BR" sz="38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hasCustomPrompt="1"/>
          </p:nvPr>
        </p:nvSpPr>
        <p:spPr>
          <a:xfrm>
            <a:off x="822960" y="3840480"/>
            <a:ext cx="8777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Evidências de painel da PNAD Contínua após o lançamento público do ChatGPT</a:t>
            </a:r>
            <a:endParaRPr lang="pt-BR" sz="2000" b="0" u="none" strike="noStrike">
              <a:solidFill>
                <a:schemeClr val="accent4"/>
              </a:solidFill>
              <a:effectLst/>
              <a:uFillTx/>
              <a:latin typeface="Calibri"/>
            </a:endParaRPr>
          </a:p>
        </p:txBody>
      </p:sp>
      <p:sp>
        <p:nvSpPr>
          <p:cNvPr id="22" name="Autoria"/>
          <p:cNvSpPr/>
          <p:nvPr/>
        </p:nvSpPr>
        <p:spPr>
          <a:xfrm>
            <a:off x="822960" y="5074920"/>
            <a:ext cx="8777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Ricardo Carvalho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Orientador: Prof. Dr. Danny de Castro Soares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Instituto Brasileiro de Ensino, Desenvolvimento e Pesquisa · Brasília · 2026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IA chegou para todos no mesmo dia. O trabalho mudou?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24" name="Carta: Contexto"/>
          <p:cNvSpPr/>
          <p:nvPr/>
        </p:nvSpPr>
        <p:spPr>
          <a:xfrm>
            <a:off x="548640" y="1371600"/>
            <a:ext cx="11091240" cy="95976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3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CONTEXTO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Em 30/11/2022, o ChatGPT chegou ao público: uma IA que escreve, resume e programa ficou ao alcance de qualquer trabalhador.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Rótulo"/>
          <p:cNvSpPr/>
          <p:nvPr/>
        </p:nvSpPr>
        <p:spPr>
          <a:xfrm>
            <a:off x="548640" y="2450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A PERGUNTA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ergunta de pesquisa"/>
          <p:cNvSpPr/>
          <p:nvPr/>
        </p:nvSpPr>
        <p:spPr>
          <a:xfrm>
            <a:off x="548640" y="2697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i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Quem trabalha em ocupações mais expostas à IA passou a mudar de trabalho de um jeito diferente depois desse marco?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eríodo pré"/>
          <p:cNvSpPr/>
          <p:nvPr/>
        </p:nvSpPr>
        <p:spPr>
          <a:xfrm>
            <a:off x="548640" y="3840480"/>
            <a:ext cx="6161760" cy="4201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ANTES · 15 trimestres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eríodo pós"/>
          <p:cNvSpPr/>
          <p:nvPr/>
        </p:nvSpPr>
        <p:spPr>
          <a:xfrm>
            <a:off x="6710760" y="3840480"/>
            <a:ext cx="4929120" cy="420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DEPOIS · 12 trimestres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Marco"/>
          <p:cNvSpPr/>
          <p:nvPr/>
        </p:nvSpPr>
        <p:spPr>
          <a:xfrm>
            <a:off x="6710400" y="3749040"/>
            <a:ext cx="360" cy="621720"/>
          </a:xfrm>
          <a:prstGeom prst="line">
            <a:avLst/>
          </a:prstGeom>
          <a:ln w="31750">
            <a:solidFill>
              <a:srgbClr val="B08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ótulo do marco"/>
          <p:cNvSpPr/>
          <p:nvPr/>
        </p:nvSpPr>
        <p:spPr>
          <a:xfrm>
            <a:off x="4333320" y="351144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30/11/2022 · ChatGPT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548640" y="42976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10268640" y="42976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2025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Definição: Exposição"/>
          <p:cNvSpPr/>
          <p:nvPr/>
        </p:nvSpPr>
        <p:spPr>
          <a:xfrm>
            <a:off x="548640" y="4709160"/>
            <a:ext cx="3562920" cy="1188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Exposição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Quanto as tarefas da ocupação se parecem com o que a IA faz. Não é uso de IA nem risco de demissão.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Definição: Transição"/>
          <p:cNvSpPr/>
          <p:nvPr/>
        </p:nvSpPr>
        <p:spPr>
          <a:xfrm>
            <a:off x="4312800" y="4709160"/>
            <a:ext cx="3562920" cy="1188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Transição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que acontece com a mesma pessoa de um trimestre para o seguinte.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Definição: Marco"/>
          <p:cNvSpPr/>
          <p:nvPr/>
        </p:nvSpPr>
        <p:spPr>
          <a:xfrm>
            <a:off x="8077320" y="4709160"/>
            <a:ext cx="3562920" cy="1188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Marco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lançamento do ChatGPT: data certa, vale para o país inteiro e ninguém da amostra o escolheu.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CONTEXTO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TENSÃO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6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7B18A4-CFAA-442E-AB4B-B6441754F85A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literatura mede a exposição; o Brasil não mede o uso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39" name="Coluna 1"/>
          <p:cNvSpPr/>
          <p:nvPr/>
        </p:nvSpPr>
        <p:spPr>
          <a:xfrm>
            <a:off x="548640" y="1417320"/>
            <a:ext cx="3562920" cy="3428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Número 1"/>
          <p:cNvSpPr/>
          <p:nvPr/>
        </p:nvSpPr>
        <p:spPr>
          <a:xfrm>
            <a:off x="731520" y="16002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ítulo da coluna 1"/>
          <p:cNvSpPr/>
          <p:nvPr/>
        </p:nvSpPr>
        <p:spPr>
          <a:xfrm>
            <a:off x="1298520" y="1600200"/>
            <a:ext cx="26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Medir a exposição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Itens da coluna 1"/>
          <p:cNvSpPr/>
          <p:nvPr/>
        </p:nvSpPr>
        <p:spPr>
          <a:xfrm>
            <a:off x="731520" y="2240280"/>
            <a:ext cx="3197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Felten, Raj e Seamans (2021)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AIOE: liga as habilidades de cada ocupação a aplicações de IA.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Eloundou et al. (2024)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Exposição tarefa a tarefa, específica para modelos de linguagem.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Coluna 2"/>
          <p:cNvSpPr/>
          <p:nvPr/>
        </p:nvSpPr>
        <p:spPr>
          <a:xfrm>
            <a:off x="4312800" y="1417320"/>
            <a:ext cx="3562920" cy="3428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Número 2"/>
          <p:cNvSpPr/>
          <p:nvPr/>
        </p:nvSpPr>
        <p:spPr>
          <a:xfrm>
            <a:off x="4495680" y="16002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ítulo da coluna 2"/>
          <p:cNvSpPr/>
          <p:nvPr/>
        </p:nvSpPr>
        <p:spPr>
          <a:xfrm>
            <a:off x="5062680" y="1600200"/>
            <a:ext cx="26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Observar adoção e resultados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Itens da coluna 2"/>
          <p:cNvSpPr/>
          <p:nvPr/>
        </p:nvSpPr>
        <p:spPr>
          <a:xfrm>
            <a:off x="4495680" y="2240280"/>
            <a:ext cx="3197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Brynjolfsson, Li e Raymond (2025)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Ganho de produtividade numa central de atendimento.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Humlum e Vestergaard (2025)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Dinamarca: efeitos nulos e precisos sobre rendimentos e horas.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Coluna 3"/>
          <p:cNvSpPr/>
          <p:nvPr/>
        </p:nvSpPr>
        <p:spPr>
          <a:xfrm>
            <a:off x="8077320" y="1417320"/>
            <a:ext cx="3562920" cy="3428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Número 3"/>
          <p:cNvSpPr/>
          <p:nvPr/>
        </p:nvSpPr>
        <p:spPr>
          <a:xfrm>
            <a:off x="8260200" y="16002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ítulo da coluna 3"/>
          <p:cNvSpPr/>
          <p:nvPr/>
        </p:nvSpPr>
        <p:spPr>
          <a:xfrm>
            <a:off x="8826840" y="1600200"/>
            <a:ext cx="26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Desenho e contexto brasileiro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Itens da coluna 3"/>
          <p:cNvSpPr/>
          <p:nvPr/>
        </p:nvSpPr>
        <p:spPr>
          <a:xfrm>
            <a:off x="8260200" y="2240280"/>
            <a:ext cx="3197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Acemoglu e Restrepo (2020)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Identificação por exposição diferencial.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Ulyssea (2020); Meghir, Narita e Robin (2015)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Informalidade heterogênea; fronteira com o setor formal atravessada com frequência.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Lacuna"/>
          <p:cNvSpPr/>
          <p:nvPr/>
        </p:nvSpPr>
        <p:spPr>
          <a:xfrm>
            <a:off x="548640" y="5074920"/>
            <a:ext cx="11091240" cy="9140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pc="201" strike="noStrike">
                <a:solidFill>
                  <a:schemeClr val="accent5"/>
                </a:solidFill>
                <a:effectLst/>
                <a:uFillTx/>
                <a:latin typeface="Calibri"/>
              </a:rPr>
              <a:t>LACUNA E RELEVÂNCIA  </a:t>
            </a: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CONTEXTO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TENSÃO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7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98E0B-29C9-46F8-B097-0361A48B4268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PNAD Contínua segue a mesma pessoa por cinco trimestres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55" name="Número-chave 1"/>
          <p:cNvSpPr/>
          <p:nvPr/>
        </p:nvSpPr>
        <p:spPr>
          <a:xfrm>
            <a:off x="548640" y="1417320"/>
            <a:ext cx="3565800" cy="105120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Valor 1"/>
          <p:cNvSpPr/>
          <p:nvPr/>
        </p:nvSpPr>
        <p:spPr>
          <a:xfrm>
            <a:off x="731520" y="149040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27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ótulo 1"/>
          <p:cNvSpPr/>
          <p:nvPr/>
        </p:nvSpPr>
        <p:spPr>
          <a:xfrm>
            <a:off x="731520" y="205740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trimestres de origem, de 2019T1 a 2025T3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Número-chave 2"/>
          <p:cNvSpPr/>
          <p:nvPr/>
        </p:nvSpPr>
        <p:spPr>
          <a:xfrm>
            <a:off x="548640" y="2587680"/>
            <a:ext cx="3565800" cy="105120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Valor 2"/>
          <p:cNvSpPr/>
          <p:nvPr/>
        </p:nvSpPr>
        <p:spPr>
          <a:xfrm>
            <a:off x="731520" y="266076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413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ótulo 2"/>
          <p:cNvSpPr/>
          <p:nvPr/>
        </p:nvSpPr>
        <p:spPr>
          <a:xfrm>
            <a:off x="731520" y="32277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ocupações na estimação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Número-chave 3"/>
          <p:cNvSpPr/>
          <p:nvPr/>
        </p:nvSpPr>
        <p:spPr>
          <a:xfrm>
            <a:off x="548640" y="3758040"/>
            <a:ext cx="3565800" cy="105120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Valor 3"/>
          <p:cNvSpPr/>
          <p:nvPr/>
        </p:nvSpPr>
        <p:spPr>
          <a:xfrm>
            <a:off x="731520" y="383148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31.145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ótulo 3"/>
          <p:cNvSpPr/>
          <p:nvPr/>
        </p:nvSpPr>
        <p:spPr>
          <a:xfrm>
            <a:off x="731520" y="439812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unidades primárias de amostragem (UPAs)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gra do par"/>
          <p:cNvSpPr/>
          <p:nvPr/>
        </p:nvSpPr>
        <p:spPr>
          <a:xfrm>
            <a:off x="548640" y="4983480"/>
            <a:ext cx="3565800" cy="10054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2520" rIns="2520" bIns="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Par pessoa-trimestre reconstruído: 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UPA, domicílio, ordem, sexo, dia e mês de nascimento e idade coerentes.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ítulo do gráfico"/>
          <p:cNvSpPr/>
          <p:nvPr/>
        </p:nvSpPr>
        <p:spPr>
          <a:xfrm>
            <a:off x="4434840" y="1371600"/>
            <a:ext cx="7205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Cada desfecho usa a sua parte da base (pessoas-transições)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" name="Chart 0"/>
          <p:cNvGraphicFramePr/>
          <p:nvPr/>
        </p:nvGraphicFramePr>
        <p:xfrm>
          <a:off x="4434840" y="1783080"/>
          <a:ext cx="7205040" cy="416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São pessoas-transições, e não pessoas únicas: o mesmo indivíduo contribui com até quatro pares.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8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A577BF-F1A6-49EC-8539-08EF1D3EB2EB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exposição à IA varia muito entre as ocupações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71" name="Etapa da ponte 1"/>
          <p:cNvSpPr/>
          <p:nvPr/>
        </p:nvSpPr>
        <p:spPr>
          <a:xfrm>
            <a:off x="548640" y="1463040"/>
            <a:ext cx="4480200" cy="749520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3240" rIns="324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COD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classificação da PNAD Contínua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eta 1"/>
          <p:cNvSpPr/>
          <p:nvPr/>
        </p:nvSpPr>
        <p:spPr>
          <a:xfrm>
            <a:off x="2560320" y="2231280"/>
            <a:ext cx="4568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Etapa da ponte 2"/>
          <p:cNvSpPr/>
          <p:nvPr/>
        </p:nvSpPr>
        <p:spPr>
          <a:xfrm>
            <a:off x="548640" y="2468880"/>
            <a:ext cx="4480200" cy="749520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3240" rIns="324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ISCO-08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classificação internacional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eta 2"/>
          <p:cNvSpPr/>
          <p:nvPr/>
        </p:nvSpPr>
        <p:spPr>
          <a:xfrm>
            <a:off x="2560320" y="3237120"/>
            <a:ext cx="4568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Etapa da ponte 3"/>
          <p:cNvSpPr/>
          <p:nvPr/>
        </p:nvSpPr>
        <p:spPr>
          <a:xfrm>
            <a:off x="548640" y="3474720"/>
            <a:ext cx="4480200" cy="749520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3240" rIns="324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SOC 2010 → AIOE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índice de Felten, Raj e Seamans (2021)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Nota da ponte"/>
          <p:cNvSpPr/>
          <p:nvPr/>
        </p:nvSpPr>
        <p:spPr>
          <a:xfrm>
            <a:off x="548640" y="4498920"/>
            <a:ext cx="4480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Entre os códigos SOC ligados a um mesmo COD, o peso é uniforme: hipótese de construção, declarada como tal.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obertura 1"/>
          <p:cNvSpPr/>
          <p:nvPr/>
        </p:nvSpPr>
        <p:spPr>
          <a:xfrm>
            <a:off x="548640" y="5120640"/>
            <a:ext cx="1401840" cy="895680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8"/>
          <p:cNvSpPr/>
          <p:nvPr/>
        </p:nvSpPr>
        <p:spPr>
          <a:xfrm>
            <a:off x="548640" y="5157360"/>
            <a:ext cx="140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416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548640" y="5614560"/>
            <a:ext cx="140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códigos com AIOE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obertura 2"/>
          <p:cNvSpPr/>
          <p:nvPr/>
        </p:nvSpPr>
        <p:spPr>
          <a:xfrm>
            <a:off x="2088000" y="5120640"/>
            <a:ext cx="1401840" cy="895680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2088000" y="5157360"/>
            <a:ext cx="140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413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2088000" y="5614560"/>
            <a:ext cx="140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 estimação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obertura 3"/>
          <p:cNvSpPr/>
          <p:nvPr/>
        </p:nvSpPr>
        <p:spPr>
          <a:xfrm>
            <a:off x="3627000" y="5120640"/>
            <a:ext cx="1401840" cy="895680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3627000" y="5157360"/>
            <a:ext cx="140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1,08%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3627000" y="5614560"/>
            <a:ext cx="140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peso sem AIOE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ítulo do gráfico"/>
          <p:cNvSpPr/>
          <p:nvPr/>
        </p:nvSpPr>
        <p:spPr>
          <a:xfrm>
            <a:off x="5394960" y="1371600"/>
            <a:ext cx="624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As ocupações se espalham por toda a escala do AIOE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Chart 0"/>
          <p:cNvGraphicFramePr/>
          <p:nvPr/>
        </p:nvGraphicFramePr>
        <p:xfrm>
          <a:off x="5394960" y="1783080"/>
          <a:ext cx="6244920" cy="3245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8" name="Sentido do eixo"/>
          <p:cNvSpPr/>
          <p:nvPr/>
        </p:nvSpPr>
        <p:spPr>
          <a:xfrm>
            <a:off x="5394960" y="5029200"/>
            <a:ext cx="624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← menos exposta</a:t>
            </a: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                                                                    </a:t>
            </a: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mais exposta →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Estatísticas do AIOE"/>
          <p:cNvSpPr/>
          <p:nvPr/>
        </p:nvSpPr>
        <p:spPr>
          <a:xfrm>
            <a:off x="5394960" y="5321880"/>
            <a:ext cx="624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média 0,0053 · desvio-padrão 0,9445 · correlação com a teletrabalhabilidade: 0,702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Aviso de leitura"/>
          <p:cNvSpPr/>
          <p:nvPr/>
        </p:nvSpPr>
        <p:spPr>
          <a:xfrm>
            <a:off x="5394960" y="5669280"/>
            <a:ext cx="6244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Menor AIOE quer dizer menos exposição, e não emprego pior.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de Felten, Raj e Seamans (2021), Dingel e Neiman (2020) e da PNADC/IBGE. Distribuição entre códigos, e não entre trabalhadores.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9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8CE179-36C3-4164-9D6C-9425769536B1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Sete desfechos: vínculo, mobilidade e direção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95" name="Família I"/>
          <p:cNvSpPr/>
          <p:nvPr/>
        </p:nvSpPr>
        <p:spPr>
          <a:xfrm>
            <a:off x="548640" y="1417320"/>
            <a:ext cx="3562920" cy="361152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Família I (número)"/>
          <p:cNvSpPr/>
          <p:nvPr/>
        </p:nvSpPr>
        <p:spPr>
          <a:xfrm>
            <a:off x="731520" y="160020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ítulo da família I"/>
          <p:cNvSpPr/>
          <p:nvPr/>
        </p:nvSpPr>
        <p:spPr>
          <a:xfrm>
            <a:off x="1371600" y="1554480"/>
            <a:ext cx="255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Continuidade e vínculo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Desfechos da família I"/>
          <p:cNvSpPr/>
          <p:nvPr/>
        </p:nvSpPr>
        <p:spPr>
          <a:xfrm>
            <a:off x="777240" y="2377440"/>
            <a:ext cx="31057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Pareamento (teste de atrito)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a entrevista seguinte foi encontrada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Saída do emprego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destino não está ocupado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De formal para informal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destino é ocupado e informal, entre origens formais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Família II"/>
          <p:cNvSpPr/>
          <p:nvPr/>
        </p:nvSpPr>
        <p:spPr>
          <a:xfrm>
            <a:off x="4312800" y="1417320"/>
            <a:ext cx="3562920" cy="361152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Família II (número)"/>
          <p:cNvSpPr/>
          <p:nvPr/>
        </p:nvSpPr>
        <p:spPr>
          <a:xfrm>
            <a:off x="4495680" y="160020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II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ítulo da família II"/>
          <p:cNvSpPr/>
          <p:nvPr/>
        </p:nvSpPr>
        <p:spPr>
          <a:xfrm>
            <a:off x="5135760" y="1554480"/>
            <a:ext cx="255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Mobilidade ocupacional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Desfechos da família II"/>
          <p:cNvSpPr/>
          <p:nvPr/>
        </p:nvSpPr>
        <p:spPr>
          <a:xfrm>
            <a:off x="4541400" y="2377440"/>
            <a:ext cx="31057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Muda de ocupação (2 dígitos)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código muda nos dois primeiros dígitos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Muda de ocupação (3 dígitos)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código muda nos três primeiros dígitos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amília III"/>
          <p:cNvSpPr/>
          <p:nvPr/>
        </p:nvSpPr>
        <p:spPr>
          <a:xfrm>
            <a:off x="8077320" y="1417320"/>
            <a:ext cx="3562920" cy="361152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Família III (número)"/>
          <p:cNvSpPr/>
          <p:nvPr/>
        </p:nvSpPr>
        <p:spPr>
          <a:xfrm>
            <a:off x="8260200" y="160020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III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ítulo da família III"/>
          <p:cNvSpPr/>
          <p:nvPr/>
        </p:nvSpPr>
        <p:spPr>
          <a:xfrm>
            <a:off x="8900280" y="1554480"/>
            <a:ext cx="255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Deslocamento no gradiente de exposição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Desfechos da família III"/>
          <p:cNvSpPr/>
          <p:nvPr/>
        </p:nvSpPr>
        <p:spPr>
          <a:xfrm>
            <a:off x="8305920" y="2377440"/>
            <a:ext cx="31057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Menos exposta (descendente)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AIOE do destino é menor que o da origem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Mais exposta (ascendente)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AIOE do destino é maior que o da origem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servação"/>
          <p:cNvSpPr/>
          <p:nvPr/>
        </p:nvSpPr>
        <p:spPr>
          <a:xfrm>
            <a:off x="548640" y="5212080"/>
            <a:ext cx="11091240" cy="82260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Duas regras. </a:t>
            </a: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Destino não observado nunca vira zero. As duas direções se leem juntas: quem está no topo da exposição tem mais espaço para descer do que para subir.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10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839180-93B1-4012-A6D7-6107A7D2C8FF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Sem grupo de controle, comparo intensidades de exposição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111" name="Equação estimada"/>
          <p:cNvSpPr/>
          <p:nvPr/>
        </p:nvSpPr>
        <p:spPr>
          <a:xfrm>
            <a:off x="548640" y="1417320"/>
            <a:ext cx="11091240" cy="1599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" tIns="4320" rIns="4320" bIns="252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2300" b="0" i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y  =  </a:t>
            </a: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β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(AIOE × Pós)  +  </a:t>
            </a:r>
            <a:r>
              <a:rPr lang="pt-BR" sz="23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γ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(Teletrabalho × Pós)  +  idade  +  idade²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       +  α</a:t>
            </a:r>
            <a:r>
              <a:rPr lang="pt-BR" sz="2300" b="0" u="none" strike="noStrike" baseline="-4000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ocupação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 +  λ</a:t>
            </a:r>
            <a:r>
              <a:rPr lang="pt-BR" sz="2300" b="0" u="none" strike="noStrike" baseline="-4000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UF×trimestre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 +  efeitos fixos categóricos  +  ε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Bloco: β: parâmetro de interesse"/>
          <p:cNvSpPr/>
          <p:nvPr/>
        </p:nvSpPr>
        <p:spPr>
          <a:xfrm>
            <a:off x="548640" y="3246120"/>
            <a:ext cx="3562920" cy="169128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β: parâmetro de interesse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Mudança entre pré e pós, em pontos percentuais por unidade de AIOE (cerca de um desvio-padrão entre ocupações).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Bloco: Efeitos fixos"/>
          <p:cNvSpPr/>
          <p:nvPr/>
        </p:nvSpPr>
        <p:spPr>
          <a:xfrm>
            <a:off x="4312800" y="3246120"/>
            <a:ext cx="3562920" cy="169128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Efeitos fixos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Ocupação de origem · UF × trimestre · sexo, cor ou raça, escolaridade, tempo no emprego, tamanho do estabelecimento e setor.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Bloco: Estimação e inferência"/>
          <p:cNvSpPr/>
          <p:nvPr/>
        </p:nvSpPr>
        <p:spPr>
          <a:xfrm>
            <a:off x="8077320" y="3246120"/>
            <a:ext cx="3562920" cy="169128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Estimação e inferência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 de probabilidade linear ponderado pelo peso da origem. Erros-padrão por UPA, de 30.360 a 31.145 grupos.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eríodo pré"/>
          <p:cNvSpPr/>
          <p:nvPr/>
        </p:nvSpPr>
        <p:spPr>
          <a:xfrm>
            <a:off x="548640" y="5212080"/>
            <a:ext cx="6161760" cy="4568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Pré · 2019T1 a 2022T3 · 15 trimestres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eríodo pós"/>
          <p:cNvSpPr/>
          <p:nvPr/>
        </p:nvSpPr>
        <p:spPr>
          <a:xfrm>
            <a:off x="6710760" y="5212080"/>
            <a:ext cx="4929120" cy="4568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Pós · 2022T4 a 2025T3 · 12 trimestres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Marco"/>
          <p:cNvSpPr/>
          <p:nvPr/>
        </p:nvSpPr>
        <p:spPr>
          <a:xfrm>
            <a:off x="6710400" y="5074920"/>
            <a:ext cx="360" cy="731520"/>
          </a:xfrm>
          <a:prstGeom prst="line">
            <a:avLst/>
          </a:prstGeom>
          <a:ln w="31750">
            <a:solidFill>
              <a:srgbClr val="B08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Nota do desenho"/>
          <p:cNvSpPr/>
          <p:nvPr/>
        </p:nvSpPr>
        <p:spPr>
          <a:xfrm>
            <a:off x="548640" y="587052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Tratamento contínuo: não há grupo tratado e grupo de controle, e sim uma intensidade de exposição que varia entre ocupações.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11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16B8F4-CDE6-4210-9F00-A2EA2D2B19AC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mobilidade subiu em todas as faixas de exposição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122" name="Título do gráfico"/>
          <p:cNvSpPr/>
          <p:nvPr/>
        </p:nvSpPr>
        <p:spPr>
          <a:xfrm>
            <a:off x="548640" y="137160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Quase tudo subiu; só a saída do emprego ficou parada (%)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Chart 0"/>
          <p:cNvGraphicFramePr/>
          <p:nvPr/>
        </p:nvGraphicFramePr>
        <p:xfrm>
          <a:off x="548640" y="1737360"/>
          <a:ext cx="5943240" cy="429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4" name="Título do gráfico"/>
          <p:cNvSpPr/>
          <p:nvPr/>
        </p:nvSpPr>
        <p:spPr>
          <a:xfrm>
            <a:off x="6903720" y="1371600"/>
            <a:ext cx="4736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Ficar na mesma faixa caiu em todas (pós − pré, p.p.)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Chart 1"/>
          <p:cNvGraphicFramePr/>
          <p:nvPr/>
        </p:nvGraphicFramePr>
        <p:xfrm>
          <a:off x="6903720" y="2011680"/>
          <a:ext cx="4736160" cy="260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6" name="Legenda das faixas"/>
          <p:cNvSpPr/>
          <p:nvPr/>
        </p:nvSpPr>
        <p:spPr>
          <a:xfrm>
            <a:off x="6903720" y="1737360"/>
            <a:ext cx="4736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Q1 = menor exposição · Q5 = maior exposição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arta: Tensão"/>
          <p:cNvSpPr/>
          <p:nvPr/>
        </p:nvSpPr>
        <p:spPr>
          <a:xfrm>
            <a:off x="6903720" y="4709160"/>
            <a:ext cx="4736160" cy="1298160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2880" rIns="2880" bIns="144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3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TENSÃO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mobilidade subiu em todas as faixas, e não só nas mais expostas. Então, a IA explica alguma parte desse movimento?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Médias ponderadas pelo peso da origem. Teste de Wald de igualdade das matrizes: χ² = 3.040,1 (20 g.l.).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12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0B285A-0256-47D5-95B0-B374A0B09E83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Mais exposição, mais mudança para ocupações menos expostas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132" name="Legenda: Deslocamento no gradiente"/>
          <p:cNvSpPr/>
          <p:nvPr/>
        </p:nvSpPr>
        <p:spPr>
          <a:xfrm>
            <a:off x="548640" y="1481400"/>
            <a:ext cx="145800" cy="145800"/>
          </a:xfrm>
          <a:prstGeom prst="ellipse">
            <a:avLst/>
          </a:prstGeom>
          <a:solidFill>
            <a:srgbClr val="0064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74988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Deslocamento no gradiente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Legenda: Mobilidade ocupacional"/>
          <p:cNvSpPr/>
          <p:nvPr/>
        </p:nvSpPr>
        <p:spPr>
          <a:xfrm>
            <a:off x="2949120" y="1481400"/>
            <a:ext cx="145800" cy="145800"/>
          </a:xfrm>
          <a:prstGeom prst="ellipse">
            <a:avLst/>
          </a:prstGeom>
          <a:solidFill>
            <a:srgbClr val="3F8F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315000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Mobilidade ocupacional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Legenda: Vínculo"/>
          <p:cNvSpPr/>
          <p:nvPr/>
        </p:nvSpPr>
        <p:spPr>
          <a:xfrm>
            <a:off x="5121720" y="1481400"/>
            <a:ext cx="145800" cy="145800"/>
          </a:xfrm>
          <a:prstGeom prst="ellipse">
            <a:avLst/>
          </a:prstGeom>
          <a:solidFill>
            <a:srgbClr val="0B3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532260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Vínculo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Legenda: Teste de atrito"/>
          <p:cNvSpPr/>
          <p:nvPr/>
        </p:nvSpPr>
        <p:spPr>
          <a:xfrm>
            <a:off x="6155640" y="1481400"/>
            <a:ext cx="145800" cy="145800"/>
          </a:xfrm>
          <a:prstGeom prst="ellipse">
            <a:avLst/>
          </a:prstGeom>
          <a:solidFill>
            <a:srgbClr val="5F73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635688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Teste de atrito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rade -2"/>
          <p:cNvSpPr/>
          <p:nvPr/>
        </p:nvSpPr>
        <p:spPr>
          <a:xfrm>
            <a:off x="388620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361188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−2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rade -1"/>
          <p:cNvSpPr/>
          <p:nvPr/>
        </p:nvSpPr>
        <p:spPr>
          <a:xfrm>
            <a:off x="467244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439812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−1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rade 0"/>
          <p:cNvSpPr/>
          <p:nvPr/>
        </p:nvSpPr>
        <p:spPr>
          <a:xfrm>
            <a:off x="5458680" y="1783080"/>
            <a:ext cx="360" cy="3611880"/>
          </a:xfrm>
          <a:prstGeom prst="line">
            <a:avLst/>
          </a:prstGeom>
          <a:ln w="19050">
            <a:solidFill>
              <a:srgbClr val="1028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18472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rade 1"/>
          <p:cNvSpPr/>
          <p:nvPr/>
        </p:nvSpPr>
        <p:spPr>
          <a:xfrm>
            <a:off x="624528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597096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+1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rade 2"/>
          <p:cNvSpPr/>
          <p:nvPr/>
        </p:nvSpPr>
        <p:spPr>
          <a:xfrm>
            <a:off x="703152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675756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+2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rade 3"/>
          <p:cNvSpPr/>
          <p:nvPr/>
        </p:nvSpPr>
        <p:spPr>
          <a:xfrm>
            <a:off x="781812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754380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+3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ítulo do eixo"/>
          <p:cNvSpPr/>
          <p:nvPr/>
        </p:nvSpPr>
        <p:spPr>
          <a:xfrm>
            <a:off x="3063240" y="5687640"/>
            <a:ext cx="557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Efeito de AIOE × pós (p.p. por unidade de AIOE), com IC de 95%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ótulo: Transição para menor AIOE"/>
          <p:cNvSpPr/>
          <p:nvPr/>
        </p:nvSpPr>
        <p:spPr>
          <a:xfrm>
            <a:off x="548640" y="19432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menor AIOE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IC 95%: Transição para menor AIOE"/>
          <p:cNvSpPr/>
          <p:nvPr/>
        </p:nvSpPr>
        <p:spPr>
          <a:xfrm>
            <a:off x="7017480" y="2125800"/>
            <a:ext cx="323280" cy="360"/>
          </a:xfrm>
          <a:prstGeom prst="line">
            <a:avLst/>
          </a:prstGeom>
          <a:ln w="3175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Extremo do IC"/>
          <p:cNvSpPr/>
          <p:nvPr/>
        </p:nvSpPr>
        <p:spPr>
          <a:xfrm>
            <a:off x="7017480" y="205272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Extremo do IC"/>
          <p:cNvSpPr/>
          <p:nvPr/>
        </p:nvSpPr>
        <p:spPr>
          <a:xfrm>
            <a:off x="7340760" y="205272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Estimativa: Transição para menor AIOE"/>
          <p:cNvSpPr/>
          <p:nvPr/>
        </p:nvSpPr>
        <p:spPr>
          <a:xfrm>
            <a:off x="7096320" y="2043720"/>
            <a:ext cx="164160" cy="164160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Valor: Transição para menor AIOE"/>
          <p:cNvSpPr/>
          <p:nvPr/>
        </p:nvSpPr>
        <p:spPr>
          <a:xfrm>
            <a:off x="6721560" y="17420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+2,19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ótulo: Muda de ocupação (3 dígitos)"/>
          <p:cNvSpPr/>
          <p:nvPr/>
        </p:nvSpPr>
        <p:spPr>
          <a:xfrm>
            <a:off x="548640" y="244620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 de ocupação (3 dígitos)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IC 95%: Muda de ocupação (3 dígitos)"/>
          <p:cNvSpPr/>
          <p:nvPr/>
        </p:nvSpPr>
        <p:spPr>
          <a:xfrm>
            <a:off x="5925960" y="2628720"/>
            <a:ext cx="419760" cy="360"/>
          </a:xfrm>
          <a:prstGeom prst="line">
            <a:avLst/>
          </a:prstGeom>
          <a:ln w="3175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Extremo do IC"/>
          <p:cNvSpPr/>
          <p:nvPr/>
        </p:nvSpPr>
        <p:spPr>
          <a:xfrm>
            <a:off x="5925960" y="255564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Extremo do IC"/>
          <p:cNvSpPr/>
          <p:nvPr/>
        </p:nvSpPr>
        <p:spPr>
          <a:xfrm>
            <a:off x="6345720" y="255564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Estimativa: Muda de ocupação (3 dígitos)"/>
          <p:cNvSpPr/>
          <p:nvPr/>
        </p:nvSpPr>
        <p:spPr>
          <a:xfrm>
            <a:off x="6053760" y="2546640"/>
            <a:ext cx="164160" cy="164160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Valor: Muda de ocupação (3 dígitos)"/>
          <p:cNvSpPr/>
          <p:nvPr/>
        </p:nvSpPr>
        <p:spPr>
          <a:xfrm>
            <a:off x="5679000" y="22449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+0,86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ótulo: Muda de ocupação (2 dígitos)"/>
          <p:cNvSpPr/>
          <p:nvPr/>
        </p:nvSpPr>
        <p:spPr>
          <a:xfrm>
            <a:off x="548640" y="294912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 de ocupação (2 dígitos)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IC 95%: Muda de ocupação (2 dígitos)"/>
          <p:cNvSpPr/>
          <p:nvPr/>
        </p:nvSpPr>
        <p:spPr>
          <a:xfrm>
            <a:off x="5479920" y="3131640"/>
            <a:ext cx="394920" cy="360"/>
          </a:xfrm>
          <a:prstGeom prst="line">
            <a:avLst/>
          </a:prstGeom>
          <a:ln w="3175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Extremo do IC"/>
          <p:cNvSpPr/>
          <p:nvPr/>
        </p:nvSpPr>
        <p:spPr>
          <a:xfrm>
            <a:off x="5479920" y="305856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Extremo do IC"/>
          <p:cNvSpPr/>
          <p:nvPr/>
        </p:nvSpPr>
        <p:spPr>
          <a:xfrm>
            <a:off x="5874840" y="305856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Estimativa: Muda de ocupação (2 dígitos)"/>
          <p:cNvSpPr/>
          <p:nvPr/>
        </p:nvSpPr>
        <p:spPr>
          <a:xfrm>
            <a:off x="5595120" y="3049560"/>
            <a:ext cx="164160" cy="164160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Valor: Muda de ocupação (2 dígitos)"/>
          <p:cNvSpPr/>
          <p:nvPr/>
        </p:nvSpPr>
        <p:spPr>
          <a:xfrm>
            <a:off x="5220360" y="274788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+0,28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ótulo: Saída do emprego"/>
          <p:cNvSpPr/>
          <p:nvPr/>
        </p:nvSpPr>
        <p:spPr>
          <a:xfrm>
            <a:off x="548640" y="34520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Saída do emprego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IC 95%: Saída do emprego"/>
          <p:cNvSpPr/>
          <p:nvPr/>
        </p:nvSpPr>
        <p:spPr>
          <a:xfrm>
            <a:off x="5145840" y="3634560"/>
            <a:ext cx="231840" cy="360"/>
          </a:xfrm>
          <a:prstGeom prst="line">
            <a:avLst/>
          </a:prstGeom>
          <a:ln w="3175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Extremo do IC"/>
          <p:cNvSpPr/>
          <p:nvPr/>
        </p:nvSpPr>
        <p:spPr>
          <a:xfrm>
            <a:off x="5145840" y="356148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Extremo do IC"/>
          <p:cNvSpPr/>
          <p:nvPr/>
        </p:nvSpPr>
        <p:spPr>
          <a:xfrm>
            <a:off x="5377680" y="356148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Estimativa: Saída do emprego"/>
          <p:cNvSpPr/>
          <p:nvPr/>
        </p:nvSpPr>
        <p:spPr>
          <a:xfrm>
            <a:off x="5180040" y="3552480"/>
            <a:ext cx="164160" cy="164160"/>
          </a:xfrm>
          <a:prstGeom prst="ellipse">
            <a:avLst/>
          </a:prstGeom>
          <a:solidFill>
            <a:srgbClr val="0B3B2A"/>
          </a:solidFill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Valor: Saída do emprego"/>
          <p:cNvSpPr/>
          <p:nvPr/>
        </p:nvSpPr>
        <p:spPr>
          <a:xfrm>
            <a:off x="4805280" y="32508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−0,25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ótulo: Pareamento (teste de atrito)"/>
          <p:cNvSpPr/>
          <p:nvPr/>
        </p:nvSpPr>
        <p:spPr>
          <a:xfrm>
            <a:off x="548640" y="39549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Pareamento (teste de atrito)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IC 95%: Pareamento (teste de atrito)"/>
          <p:cNvSpPr/>
          <p:nvPr/>
        </p:nvSpPr>
        <p:spPr>
          <a:xfrm>
            <a:off x="5037120" y="4137480"/>
            <a:ext cx="433440" cy="360"/>
          </a:xfrm>
          <a:prstGeom prst="line">
            <a:avLst/>
          </a:prstGeom>
          <a:ln w="3175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Extremo do IC"/>
          <p:cNvSpPr/>
          <p:nvPr/>
        </p:nvSpPr>
        <p:spPr>
          <a:xfrm>
            <a:off x="5037120" y="4064400"/>
            <a:ext cx="360" cy="146160"/>
          </a:xfrm>
          <a:prstGeom prst="line">
            <a:avLst/>
          </a:prstGeom>
          <a:ln w="2540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Extremo do IC"/>
          <p:cNvSpPr/>
          <p:nvPr/>
        </p:nvSpPr>
        <p:spPr>
          <a:xfrm>
            <a:off x="5470560" y="4064400"/>
            <a:ext cx="360" cy="146160"/>
          </a:xfrm>
          <a:prstGeom prst="line">
            <a:avLst/>
          </a:prstGeom>
          <a:ln w="2540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Estimativa: Pareamento (teste de atrito)"/>
          <p:cNvSpPr/>
          <p:nvPr/>
        </p:nvSpPr>
        <p:spPr>
          <a:xfrm>
            <a:off x="5171400" y="4055400"/>
            <a:ext cx="164160" cy="164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Valor: Pareamento (teste de atrito)"/>
          <p:cNvSpPr/>
          <p:nvPr/>
        </p:nvSpPr>
        <p:spPr>
          <a:xfrm>
            <a:off x="4796640" y="375372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−0,26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ótulo: Formal → informal"/>
          <p:cNvSpPr/>
          <p:nvPr/>
        </p:nvSpPr>
        <p:spPr>
          <a:xfrm>
            <a:off x="548640" y="44578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Formal → informal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IC 95%: Formal → informal"/>
          <p:cNvSpPr/>
          <p:nvPr/>
        </p:nvSpPr>
        <p:spPr>
          <a:xfrm>
            <a:off x="4784040" y="4640400"/>
            <a:ext cx="290880" cy="360"/>
          </a:xfrm>
          <a:prstGeom prst="line">
            <a:avLst/>
          </a:prstGeom>
          <a:ln w="3175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Extremo do IC"/>
          <p:cNvSpPr/>
          <p:nvPr/>
        </p:nvSpPr>
        <p:spPr>
          <a:xfrm>
            <a:off x="4784040" y="456732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Extremo do IC"/>
          <p:cNvSpPr/>
          <p:nvPr/>
        </p:nvSpPr>
        <p:spPr>
          <a:xfrm>
            <a:off x="5074920" y="456732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Estimativa: Formal → informal"/>
          <p:cNvSpPr/>
          <p:nvPr/>
        </p:nvSpPr>
        <p:spPr>
          <a:xfrm>
            <a:off x="4847400" y="4558320"/>
            <a:ext cx="164160" cy="164160"/>
          </a:xfrm>
          <a:prstGeom prst="ellipse">
            <a:avLst/>
          </a:prstGeom>
          <a:solidFill>
            <a:srgbClr val="0B3B2A"/>
          </a:solidFill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Valor: Formal → informal"/>
          <p:cNvSpPr/>
          <p:nvPr/>
        </p:nvSpPr>
        <p:spPr>
          <a:xfrm>
            <a:off x="4472640" y="42566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−0,67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ótulo: Transição para maior AIOE"/>
          <p:cNvSpPr/>
          <p:nvPr/>
        </p:nvSpPr>
        <p:spPr>
          <a:xfrm>
            <a:off x="548640" y="496080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maior AIOE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IC 95%: Transição para maior AIOE"/>
          <p:cNvSpPr/>
          <p:nvPr/>
        </p:nvSpPr>
        <p:spPr>
          <a:xfrm>
            <a:off x="4227480" y="5143320"/>
            <a:ext cx="318240" cy="360"/>
          </a:xfrm>
          <a:prstGeom prst="line">
            <a:avLst/>
          </a:prstGeom>
          <a:ln w="3175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Extremo do IC"/>
          <p:cNvSpPr/>
          <p:nvPr/>
        </p:nvSpPr>
        <p:spPr>
          <a:xfrm>
            <a:off x="4227480" y="507024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Extremo do IC"/>
          <p:cNvSpPr/>
          <p:nvPr/>
        </p:nvSpPr>
        <p:spPr>
          <a:xfrm>
            <a:off x="4545720" y="507024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Estimativa: Transição para maior AIOE"/>
          <p:cNvSpPr/>
          <p:nvPr/>
        </p:nvSpPr>
        <p:spPr>
          <a:xfrm>
            <a:off x="4304160" y="5061240"/>
            <a:ext cx="164160" cy="164160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Valor: Transição para maior AIOE"/>
          <p:cNvSpPr/>
          <p:nvPr/>
        </p:nvSpPr>
        <p:spPr>
          <a:xfrm>
            <a:off x="3929040" y="47595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−1,36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Destaque 1"/>
          <p:cNvSpPr/>
          <p:nvPr/>
        </p:nvSpPr>
        <p:spPr>
          <a:xfrm>
            <a:off x="8229600" y="1417320"/>
            <a:ext cx="3410280" cy="1371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Valor do destaque 1"/>
          <p:cNvSpPr/>
          <p:nvPr/>
        </p:nvSpPr>
        <p:spPr>
          <a:xfrm>
            <a:off x="8412480" y="149040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+2,19 p.p.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o do destaque 1"/>
          <p:cNvSpPr/>
          <p:nvPr/>
        </p:nvSpPr>
        <p:spPr>
          <a:xfrm>
            <a:off x="8412480" y="2011680"/>
            <a:ext cx="304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ocupação menos exposta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cerca de 12,6% da taxa pós, de 17,4%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Destaque 2"/>
          <p:cNvSpPr/>
          <p:nvPr/>
        </p:nvSpPr>
        <p:spPr>
          <a:xfrm>
            <a:off x="8229600" y="2880360"/>
            <a:ext cx="3410280" cy="1371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Valor do destaque 2"/>
          <p:cNvSpPr/>
          <p:nvPr/>
        </p:nvSpPr>
        <p:spPr>
          <a:xfrm>
            <a:off x="8412480" y="295344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−1,36 p.p.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o do destaque 2"/>
          <p:cNvSpPr/>
          <p:nvPr/>
        </p:nvSpPr>
        <p:spPr>
          <a:xfrm>
            <a:off x="8412480" y="3474720"/>
            <a:ext cx="304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ocupação mais exposta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as duas margens direcionais se leem juntas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Destaque 3"/>
          <p:cNvSpPr/>
          <p:nvPr/>
        </p:nvSpPr>
        <p:spPr>
          <a:xfrm>
            <a:off x="8229600" y="4343400"/>
            <a:ext cx="3410280" cy="1371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Valor do destaque 3"/>
          <p:cNvSpPr/>
          <p:nvPr/>
        </p:nvSpPr>
        <p:spPr>
          <a:xfrm>
            <a:off x="8412480" y="441648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+0,86 · +0,28 p.p.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o do destaque 3"/>
          <p:cNvSpPr/>
          <p:nvPr/>
        </p:nvSpPr>
        <p:spPr>
          <a:xfrm>
            <a:off x="8412480" y="4937760"/>
            <a:ext cx="304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mudança de ocupação (3 e 2 dígitos)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 = 0,030 no de 2 dígitos: não citar isoladamente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Erros-padrão por UPA; sete desfechos, sem correção para multiplicidade.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13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70E42B-0CFD-4030-8D23-89E0B4F78929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Mais exposição veio com o vínculo no emprego preservado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208" name="Efeito 1"/>
          <p:cNvSpPr/>
          <p:nvPr/>
        </p:nvSpPr>
        <p:spPr>
          <a:xfrm>
            <a:off x="548640" y="1417320"/>
            <a:ext cx="3562920" cy="16455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Valor 1"/>
          <p:cNvSpPr/>
          <p:nvPr/>
        </p:nvSpPr>
        <p:spPr>
          <a:xfrm>
            <a:off x="731520" y="150876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−0,25 p.p.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o 1"/>
          <p:cNvSpPr/>
          <p:nvPr/>
        </p:nvSpPr>
        <p:spPr>
          <a:xfrm>
            <a:off x="731520" y="226764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saída do emprego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exposição × pós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Efeito 2"/>
          <p:cNvSpPr/>
          <p:nvPr/>
        </p:nvSpPr>
        <p:spPr>
          <a:xfrm>
            <a:off x="4312800" y="1417320"/>
            <a:ext cx="3562920" cy="16455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Valor 2"/>
          <p:cNvSpPr/>
          <p:nvPr/>
        </p:nvSpPr>
        <p:spPr>
          <a:xfrm>
            <a:off x="4495680" y="150876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−0,67 p.p.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o 2"/>
          <p:cNvSpPr/>
          <p:nvPr/>
        </p:nvSpPr>
        <p:spPr>
          <a:xfrm>
            <a:off x="4495680" y="226764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 formal para informal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exposição × pós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Efeito 3"/>
          <p:cNvSpPr/>
          <p:nvPr/>
        </p:nvSpPr>
        <p:spPr>
          <a:xfrm>
            <a:off x="8077320" y="1417320"/>
            <a:ext cx="3562920" cy="16455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Valor 3"/>
          <p:cNvSpPr/>
          <p:nvPr/>
        </p:nvSpPr>
        <p:spPr>
          <a:xfrm>
            <a:off x="8260200" y="150876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3"/>
                </a:solidFill>
                <a:effectLst/>
                <a:uFillTx/>
                <a:latin typeface="Cambria"/>
                <a:ea typeface="Cambria"/>
              </a:rPr>
              <a:t>+1,73 p.p.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o 3"/>
          <p:cNvSpPr/>
          <p:nvPr/>
        </p:nvSpPr>
        <p:spPr>
          <a:xfrm>
            <a:off x="8260200" y="226764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 formal para informal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teletrabalhabilidade × pós (painel B)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ste de atrito"/>
          <p:cNvSpPr/>
          <p:nvPr/>
        </p:nvSpPr>
        <p:spPr>
          <a:xfrm>
            <a:off x="548640" y="3291840"/>
            <a:ext cx="7086240" cy="1599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3240" rIns="3240" bIns="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Teste de atrito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Pareamento: −0,261 p.p., p = 0,064. </a:t>
            </a: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Não rejeita a estabilidade do gradiente de pareamento, mas o resultado está perto do limiar e o sinal é negativo. A seleção longitudinal não está descartada.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Como ler"/>
          <p:cNvSpPr/>
          <p:nvPr/>
        </p:nvSpPr>
        <p:spPr>
          <a:xfrm>
            <a:off x="7836480" y="3291840"/>
            <a:ext cx="3803400" cy="1599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3240" rIns="3240" bIns="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Como ler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íntese"/>
          <p:cNvSpPr/>
          <p:nvPr/>
        </p:nvSpPr>
        <p:spPr>
          <a:xfrm>
            <a:off x="548640" y="5120640"/>
            <a:ext cx="11091240" cy="77688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Mais exposição à IA, vínculo preservado: menos saída do emprego e menos informalização.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Efeitos em pontos percentuais por unidade do índice.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14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41F8E6-F582-412C-94AA-564010238400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Os dados mostram associação, ainda não causalidade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224" name="Coluna: O que os resultados sustentam"/>
          <p:cNvSpPr/>
          <p:nvPr/>
        </p:nvSpPr>
        <p:spPr>
          <a:xfrm>
            <a:off x="548640" y="1417320"/>
            <a:ext cx="5408280" cy="45716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Marca: O que os resultados sustentam"/>
          <p:cNvSpPr/>
          <p:nvPr/>
        </p:nvSpPr>
        <p:spPr>
          <a:xfrm>
            <a:off x="777240" y="162756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✓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ítulo: O que os resultados sustentam"/>
          <p:cNvSpPr/>
          <p:nvPr/>
        </p:nvSpPr>
        <p:spPr>
          <a:xfrm>
            <a:off x="1508760" y="1627560"/>
            <a:ext cx="421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O que os resultados sustentam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Itens: O que os resultados sustentam"/>
          <p:cNvSpPr/>
          <p:nvPr/>
        </p:nvSpPr>
        <p:spPr>
          <a:xfrm>
            <a:off x="822960" y="2377440"/>
            <a:ext cx="485964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Aumento generalizado das taxas medidas de rotatividade ocupacional, em todas as faixas de exposição.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Gradiente condicional detectável: +2,19 p.p. por unidade de AIOE na transição para ocupação menos exposta.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Nas margens de vínculo, sinal oposto ao da leitura alarmista.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Coluna: O que não sustentam"/>
          <p:cNvSpPr/>
          <p:nvPr/>
        </p:nvSpPr>
        <p:spPr>
          <a:xfrm>
            <a:off x="6231600" y="1417320"/>
            <a:ext cx="5408280" cy="45716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Marca: O que não sustentam"/>
          <p:cNvSpPr/>
          <p:nvPr/>
        </p:nvSpPr>
        <p:spPr>
          <a:xfrm>
            <a:off x="6460200" y="1627560"/>
            <a:ext cx="548280" cy="548280"/>
          </a:xfrm>
          <a:prstGeom prst="ellipse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✕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ítulo: O que não sustentam"/>
          <p:cNvSpPr/>
          <p:nvPr/>
        </p:nvSpPr>
        <p:spPr>
          <a:xfrm>
            <a:off x="7191720" y="1627560"/>
            <a:ext cx="421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O que não sustentam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Itens: O que não sustentam"/>
          <p:cNvSpPr/>
          <p:nvPr/>
        </p:nvSpPr>
        <p:spPr>
          <a:xfrm>
            <a:off x="6505920" y="2377440"/>
            <a:ext cx="485964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Efeito causal: cenário único, sem estudo de evento nem teste de tendências pré-marco.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Adoção de IA: o tratamento é exposição potencial, num marco único e nacional.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Estabilidade da medida: a mudança de ocupação (3 dígitos) cai de 30,0% em 2019T4 para 15,3% em 2020T1 e volta a 34,3% em 2021T4.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Seleção longitudinal e horizonte maior que um trimestre.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ldNum" idx="15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C6E8FE-EB6F-4AD9-A5CE-7D3F91CD489F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Mudou a direção, não o vínculo; a causa segue em aberto</a:t>
            </a:r>
            <a:endParaRPr lang="pt-BR" sz="30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235" name="Carta: Resolução"/>
          <p:cNvSpPr/>
          <p:nvPr/>
        </p:nvSpPr>
        <p:spPr>
          <a:xfrm>
            <a:off x="548640" y="1371600"/>
            <a:ext cx="5257440" cy="41144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ótulo"/>
          <p:cNvSpPr/>
          <p:nvPr/>
        </p:nvSpPr>
        <p:spPr>
          <a:xfrm>
            <a:off x="777240" y="153612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RESOLUÇÃO · A RESPOSTA EM TRÊS NÍVEIS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Marca: Descritivo"/>
          <p:cNvSpPr/>
          <p:nvPr/>
        </p:nvSpPr>
        <p:spPr>
          <a:xfrm>
            <a:off x="777240" y="2148840"/>
            <a:ext cx="548280" cy="5482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✓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o: Descritivo"/>
          <p:cNvSpPr/>
          <p:nvPr/>
        </p:nvSpPr>
        <p:spPr>
          <a:xfrm>
            <a:off x="1508760" y="192024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Descritivo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mobilidade subiu para todos, e não só para os mais expostos.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Marca: Associação condicional"/>
          <p:cNvSpPr/>
          <p:nvPr/>
        </p:nvSpPr>
        <p:spPr>
          <a:xfrm>
            <a:off x="777240" y="3319200"/>
            <a:ext cx="548280" cy="5482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✓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o: Associação condicional"/>
          <p:cNvSpPr/>
          <p:nvPr/>
        </p:nvSpPr>
        <p:spPr>
          <a:xfrm>
            <a:off x="1508760" y="309060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Associação condicional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Gradiente detectável, da ordem de 2 p.p. por unidade de AIOE. Vínculo sem deterioração.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Marca: Causal"/>
          <p:cNvSpPr/>
          <p:nvPr/>
        </p:nvSpPr>
        <p:spPr>
          <a:xfrm>
            <a:off x="777240" y="4489560"/>
            <a:ext cx="548280" cy="54828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✕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o: Causal"/>
          <p:cNvSpPr/>
          <p:nvPr/>
        </p:nvSpPr>
        <p:spPr>
          <a:xfrm>
            <a:off x="1508760" y="426096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Causal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desenho atual não sustenta a afirmação.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ótulo"/>
          <p:cNvSpPr/>
          <p:nvPr/>
        </p:nvSpPr>
        <p:spPr>
          <a:xfrm>
            <a:off x="6217920" y="137160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AGENDA, EM ORDEM DE PRIORIDADE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Passo 1"/>
          <p:cNvSpPr/>
          <p:nvPr/>
        </p:nvSpPr>
        <p:spPr>
          <a:xfrm>
            <a:off x="6217920" y="179208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asso 1 (texto)"/>
          <p:cNvSpPr/>
          <p:nvPr/>
        </p:nvSpPr>
        <p:spPr>
          <a:xfrm>
            <a:off x="6858000" y="173736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Tratar a quebra de medida de 2020 e 2021 e definir a janela homogênea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Passo 2"/>
          <p:cNvSpPr/>
          <p:nvPr/>
        </p:nvSpPr>
        <p:spPr>
          <a:xfrm>
            <a:off x="6217920" y="256032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asso 2 (texto)"/>
          <p:cNvSpPr/>
          <p:nvPr/>
        </p:nvSpPr>
        <p:spPr>
          <a:xfrm>
            <a:off x="6858000" y="250560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Estudo de evento e teste de tendências anteriores ao marco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asso 3"/>
          <p:cNvSpPr/>
          <p:nvPr/>
        </p:nvSpPr>
        <p:spPr>
          <a:xfrm>
            <a:off x="6217920" y="332856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asso 3 (texto)"/>
          <p:cNvSpPr/>
          <p:nvPr/>
        </p:nvSpPr>
        <p:spPr>
          <a:xfrm>
            <a:off x="6858000" y="327348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Bateria de sensibilidade: janelas, agrupamento, tendência por exposição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Passo 4"/>
          <p:cNvSpPr/>
          <p:nvPr/>
        </p:nvSpPr>
        <p:spPr>
          <a:xfrm>
            <a:off x="6217920" y="409644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4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asso 4 (texto)"/>
          <p:cNvSpPr/>
          <p:nvPr/>
        </p:nvSpPr>
        <p:spPr>
          <a:xfrm>
            <a:off x="6858000" y="404172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Medida específica para modelos de linguagem e placebo com teletrabalho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Passo 5"/>
          <p:cNvSpPr/>
          <p:nvPr/>
        </p:nvSpPr>
        <p:spPr>
          <a:xfrm>
            <a:off x="6217920" y="486468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5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asso 5 (texto)"/>
          <p:cNvSpPr/>
          <p:nvPr/>
        </p:nvSpPr>
        <p:spPr>
          <a:xfrm>
            <a:off x="6858000" y="480960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Tendências não paralelas e estimadores para tratamento contínuo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Extensões"/>
          <p:cNvSpPr/>
          <p:nvPr/>
        </p:nvSpPr>
        <p:spPr>
          <a:xfrm>
            <a:off x="6217920" y="5596200"/>
            <a:ext cx="542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Extensões, por último: rendimentos, dimensão regional e margem de entrada no mercado de trabalho.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Agradecimento"/>
          <p:cNvSpPr/>
          <p:nvPr/>
        </p:nvSpPr>
        <p:spPr>
          <a:xfrm>
            <a:off x="548640" y="566928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Obrigado. Perguntas?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4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l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16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83B09E-60A3-4230-B6D0-337E7599D835}" type="slidenum">
              <a:rPr lang="pt-BR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erde acadêmico">
  <a:themeElements>
    <a:clrScheme name="Verde acadêmico">
      <a:dk1>
        <a:srgbClr val="10281D"/>
      </a:dk1>
      <a:lt1>
        <a:srgbClr val="FFFFFF"/>
      </a:lt1>
      <a:dk2>
        <a:srgbClr val="0B3B2A"/>
      </a:dk2>
      <a:lt2>
        <a:srgbClr val="EEF4F0"/>
      </a:lt2>
      <a:accent1>
        <a:srgbClr val="006437"/>
      </a:accent1>
      <a:accent2>
        <a:srgbClr val="0B3B2A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Verde acadêmico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LibreOffice/26.2.6.3$Windows_X86_64 LibreOffice_project/8221e31b3ac356a1623c672912a3d2b492f7e3d1</Application>
  <AppVersion>15.0000</AppVersion>
  <Words>0</Words>
  <Paragraphs>0</Paragraphs>
  <Company>IDP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2026-10-12T12:15:56Z</dcterms:created>
  <dc:creator>Ricardo Carvalho</dc:creator>
  <dc:description/>
  <dc:language>pt-BR</dc:language>
  <cp:lastModifiedBy/>
  <dcterms:modified xsi:type="dcterms:W3CDTF">2026-10-12T09:23:28Z</dcterms:modified>
  <cp:revision>2</cp:revision>
  <dc:subject>Apresentação da dissertação de mestrado, resultados preliminares</dc:subject>
  <dc:title>Exposição ocupacional à inteligência artificial e transições no mercado de trabalho brasileiro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