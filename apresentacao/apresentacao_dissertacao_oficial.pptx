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5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Pareamento (todas as origens)</c:v>
                </c:pt>
                <c:pt idx="1">
                  <c:v>Saída do emprego (pares)</c:v>
                </c:pt>
                <c:pt idx="2">
                  <c:v>Muda de ocupação (destino ocupado)</c:v>
                </c:pt>
                <c:pt idx="3">
                  <c:v>Margens direcionais (AIOE nos dois lados)</c:v>
                </c:pt>
                <c:pt idx="4">
                  <c:v>Informalização (origem formal)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gapWidth val="45"/>
        <c:overlap val="0"/>
        <c:axId val="12666758"/>
        <c:axId val="76109868"/>
      </c:barChart>
      <c:catAx>
        <c:axId val="12666758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6109868"/>
        <c:crosses val="autoZero"/>
        <c:auto val="1"/>
        <c:lblAlgn val="ctr"/>
        <c:lblOffset val="100"/>
        <c:noMultiLvlLbl val="0"/>
      </c:catAx>
      <c:valAx>
        <c:axId val="76109868"/>
        <c:scaling>
          <c:orientation val="minMax"/>
          <c:max val="5000000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1266675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25"/>
                <c:pt idx="0">
                  <c:v>-2,1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-1,6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-1,0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-0,4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0,2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0,7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1,3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gapWidth val="6"/>
        <c:overlap val="0"/>
        <c:axId val="66926469"/>
        <c:axId val="20208582"/>
      </c:barChart>
      <c:catAx>
        <c:axId val="6692646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0208582"/>
        <c:crosses val="autoZero"/>
        <c:auto val="1"/>
        <c:lblAlgn val="ctr"/>
        <c:lblOffset val="100"/>
        <c:noMultiLvlLbl val="0"/>
      </c:catAx>
      <c:valAx>
        <c:axId val="20208582"/>
        <c:scaling>
          <c:orientation val="minMax"/>
          <c:max val="45"/>
          <c:min val="0"/>
        </c:scaling>
        <c:delete val="0"/>
        <c:axPos val="l"/>
        <c:majorGridlines>
          <c:spPr>
            <a:ln w="9360">
              <a:solidFill>
                <a:srgbClr val="DCE6E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5F7367"/>
                </a:solidFill>
                <a:uFillTx/>
                <a:latin typeface="Calibri"/>
              </a:defRPr>
            </a:pPr>
          </a:p>
        </c:txPr>
        <c:crossAx val="66926469"/>
        <c:crosses val="autoZero"/>
        <c:crossBetween val="between"/>
        <c:majorUnit val="15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gapWidth val="40"/>
        <c:overlap val="0"/>
        <c:axId val="90781511"/>
        <c:axId val="8061146"/>
      </c:barChart>
      <c:catAx>
        <c:axId val="90781511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8061146"/>
        <c:crosses val="autoZero"/>
        <c:auto val="1"/>
        <c:lblAlgn val="ctr"/>
        <c:lblOffset val="100"/>
        <c:noMultiLvlLbl val="0"/>
      </c:catAx>
      <c:valAx>
        <c:axId val="8061146"/>
        <c:scaling>
          <c:orientation val="minMax"/>
          <c:max val="38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90781511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300" b="0" u="none" strike="noStrike">
              <a:solidFill>
                <a:srgbClr val="10281D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gapWidth val="40"/>
        <c:overlap val="0"/>
        <c:axId val="75377195"/>
        <c:axId val="222389"/>
      </c:barChart>
      <c:catAx>
        <c:axId val="753771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22389"/>
        <c:crosses val="autoZero"/>
        <c:auto val="1"/>
        <c:lblAlgn val="ctr"/>
        <c:lblOffset val="100"/>
        <c:noMultiLvlLbl val="0"/>
      </c:catAx>
      <c:valAx>
        <c:axId val="222389"/>
        <c:scaling>
          <c:orientation val="minMax"/>
          <c:max val="0"/>
          <c:min val="-1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537719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Clique para mover o slide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686224-19A8-4FEB-A68B-2FF06BFA16FE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 de 12 · tempo previsto 0:45 · ao terminar, o relógio marca 0:45]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Oi, pessoal! Sou o Ricardo Carvalho da Costa. Agradeço a presença de todos, em especial à banca, o Dr. Rodrigo Batista e o Dr. Abel Ferreira, e ao meu professor e orientador, o Dr. Danny.</a:t>
            </a:r>
          </a:p>
          <a:p/>
          <a:p>
            <a:r>
              <a:t>Nos próximos minutos, vou contar uma história em três partes: o contexto, a tensão e a resolução. E tudo começa com uma pergunta simples: depois do ChatGPT, o trabalho no Brasil mudou mais para quem está nas ocupações mais expostas à inteligência artificial?</a:t>
            </a:r>
          </a:p>
        </p:txBody>
      </p:sp>
      <p:sp>
        <p:nvSpPr>
          <p:cNvPr id="260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BDFEF-3DD2-4D3B-A21E-E78A1747328E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2 de 12 · CONTEXTO · tempo previsto 1:35 · ao terminar, o relógio marca 2:20]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Vou começar pelo contexto. Em 30 de novembro de 2022, o ChatGPT ficou disponível para qualquer pessoa. De um dia para o outro, todo mundo passou a ter uma ferramenta que escreve, resume e até programa.</a:t>
            </a:r>
          </a:p>
          <a:p/>
          <a:p>
            <a:r>
              <a:t>Para quem estuda o mercado de trabalho, essa data é um presente: é certa, vale para o Brasil inteiro e ninguém escolheu participar.</a:t>
            </a:r>
          </a:p>
          <a:p/>
          <a:p>
            <a:r>
              <a:t>A pergunta da minha dissertação é esta: quem trabalha em ocupações mais expostas à IA passou a mudar de trabalho de um jeito diferente depois dessa data?</a:t>
            </a:r>
          </a:p>
          <a:p/>
          <a:p>
            <a:r>
              <a:t>Isso importa porque mudar de trabalho mexe com a renda, com a informalidade e com a qualificação que o país vai precisar. E quase tudo o que sabemos vem de países ricos.</a:t>
            </a:r>
          </a:p>
          <a:p/>
          <a:p>
            <a:r>
              <a:t>Duas palavras-chave. Exposição é uma característica da ocupação, não da pessoa: mede o quanto as tarefas daquele trabalho se parecem com o que a IA faz. E transição é o que acontece com a mesma pessoa de um trimestre para o outro.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um patch de balanceamento em Street Fighter: a atualização chega para o jogo inteiro no mesmo dia, mas Ryu e Zangief sentem o ajuste de formas diferentes. A exposição é o personagem: alguns sentem mais o patch do que outros.</a:t>
            </a:r>
          </a:p>
        </p:txBody>
      </p:sp>
      <p:sp>
        <p:nvSpPr>
          <p:cNvPr id="263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446D58-3B0C-4985-9C64-1FDB237D9F3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3 de 12 · CONTEXTO · tempo previsto 1:10 · ao terminar, o relógio marca 3:30]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que já se sabe sobre o tema? A pesquisa anda em três frentes.</a:t>
            </a:r>
          </a:p>
          <a:p/>
          <a:p>
            <a:r>
              <a:t>A primeira mede a exposição. Felten, Raj e Seamans criaram o índice que eu uso, o AIOE, que liga as habilidades de cada ocupação ao que a IA consegue fazer.</a:t>
            </a:r>
          </a:p>
          <a:p/>
          <a:p>
            <a:r>
              <a:t>A segunda observa quem já usa IA. Numa central de atendimento, a produtividade subiu. Na Dinamarca, dois anos depois, salários e horas quase não mudaram.</a:t>
            </a:r>
          </a:p>
          <a:p/>
          <a:p>
            <a:r>
              <a:t>A terceira me dá o método e o contexto brasileiro, em que as pessoas entram e saem da informalidade o tempo todo.</a:t>
            </a:r>
          </a:p>
          <a:p/>
          <a:p>
            <a:r>
              <a:t>E aqui está a lacuna: no Brasil, nenhuma pesquisa grande pergunta quem usa IA no trabalho. Por isso uso o que existe: a exposição da ocupação, numa pesquisa feita nos domicílios.</a:t>
            </a:r>
          </a:p>
        </p:txBody>
      </p:sp>
      <p:sp>
        <p:nvSpPr>
          <p:cNvPr id="266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8E2C4E-5066-425C-9958-4949521E1B80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4 de 12 · TENSÃO · tempo previsto 1:05 · ao terminar, o relógio marca 4:35]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Agora começa a tensão, e o primeiro obstáculo está nos dados.</a:t>
            </a:r>
          </a:p>
          <a:p/>
          <a:p>
            <a:r>
              <a:t>Uso a PNAD Contínua do IBGE, de 2019 a 2025. Cada domicílio é entrevistado cinco vezes, uma por trimestre, o que permite acompanhar a mesma pessoa. O problema é que a pesquisa não tem um número de identificação confiável para cada pessoa. Então eu reconstruí os pares: mesmo domicílio, mesmo sexo, mesma data de aniversário e idade coerente.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gráfico.]</a:t>
            </a:r>
            <a:r>
              <a:t> São quase quatro milhões de pares possíveis, e cerca de 80% encontram a entrevista seguinte. Cada resultado usa a sua parte da base, por isso as barras têm tamanhos diferentes.</a:t>
            </a:r>
          </a:p>
          <a:p/>
          <a:p>
            <a:r>
              <a:t>Um detalhe: eu conto transições, não pessoas. A mesma pessoa pode aparecer até quatro vezes.</a:t>
            </a:r>
          </a:p>
        </p:txBody>
      </p:sp>
      <p:sp>
        <p:nvSpPr>
          <p:cNvPr id="269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D77DDD-9615-4ED1-B9C0-A248F7FB304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5 de 12 · TENSÃO · tempo previsto 1:15 · ao terminar, o relógio marca 5:50]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segundo obstáculo é a medida. O índice foi feito para as ocupações dos Estados Unidos, e a PNAD usa a classificação brasileira. Então construí uma ponte em duas etapas: da classificação brasileira para a internacional, e dela para a americana. Quando uma ocupação brasileira equivale a várias americanas, cada uma recebe o mesmo peso.</a:t>
            </a:r>
          </a:p>
          <a:p/>
          <a:p>
            <a:r>
              <a:t>A cobertura ficou boa: 416 ocupações recebem o índice, e só cerca de 1% da amostra fica de fora. </a:t>
            </a:r>
            <a:r>
              <a:rPr i="1" b="1">
                <a:solidFill>
                  <a:srgbClr val="7F7F7F"/>
                </a:solidFill>
              </a:rPr>
              <a:t>[Aponte para o histograma.]</a:t>
            </a:r>
            <a:r>
              <a:t> As ocupações se espalham por toda a escala.</a:t>
            </a:r>
          </a:p>
          <a:p/>
          <a:p>
            <a:r>
              <a:t>E há outro obstáculo: as ocupações mais expostas à IA também são as que mais podem ser feitas de casa. A correlação é de 0,7. Por isso o teletrabalho entra no modelo, para a IA não levar o crédito pelo que foi efeito da pandemia.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78633D-66A8-4723-85F4-F781191298E3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6 de 12 · TENSÃO · tempo previsto 1:05 · ao terminar, o relógio marca 6:55]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saber se o trabalho mudou, olho para sete resultados, em três grupos.</a:t>
            </a:r>
          </a:p>
          <a:p/>
          <a:p>
            <a:r>
              <a:t>O primeiro é o vínculo: a pessoa saiu do emprego? Foi do formal para o informal? E, para conferir, ela apareceu de novo na entrevista seguinte?</a:t>
            </a:r>
          </a:p>
          <a:p/>
          <a:p>
            <a:r>
              <a:t>O segundo é a mobilidade: a pessoa mudou de ocupação?</a:t>
            </a:r>
          </a:p>
          <a:p/>
          <a:p>
            <a:r>
              <a:t>O terceiro é a direção: foi para uma ocupação menos exposta à IA, ou para uma mais exposta?</a:t>
            </a:r>
          </a:p>
          <a:p/>
          <a:p>
            <a:r>
              <a:t>Duas regras. Quando não sei para onde a pessoa foi, não conto esse caso: nunca assumo que ela ficou parada. E as duas direções se leem juntas, porque quem já está no topo da exposição tem mais espaço para descer do que para subir.</a:t>
            </a:r>
          </a:p>
        </p:txBody>
      </p:sp>
      <p:sp>
        <p:nvSpPr>
          <p:cNvPr id="275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95BD0F-3388-4F45-9054-3DA7F551437C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7 de 12 · TENSÃO · tempo previsto 1:20 · ao terminar, o relógio marca 8:15]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último obstáculo é o desenho do estudo. Não existe um grupo que recebeu a IA e outro que não recebeu: o ChatGPT chegou para todos no mesmo dia. O que muda é a intensidade.</a:t>
            </a:r>
          </a:p>
          <a:p/>
          <a:p>
            <a:r>
              <a:t>Por isso uso diferenças em diferenças com tratamento contínuo. Em palavras simples: comparo o antes e o depois do marco e pergunto se a mudança foi maior nas ocupações mais expostas. O antes tem quinze trimestres; o depois, doze.</a:t>
            </a:r>
          </a:p>
          <a:p/>
          <a:p>
            <a:r>
              <a:t>O número que mais importa é o beta, em destaque na equação: quantos pontos percentuais a mais cada resultado mudou, para cada unidade a mais de exposição.</a:t>
            </a:r>
          </a:p>
          <a:p/>
          <a:p>
            <a:r>
              <a:t>O modelo também leva em conta teletrabalho, idade, ocupação de origem, estado e trimestre, sexo, escolaridade e setor. E os erros são calculados por área de coleta, em mais de 30 mil grupos.</a:t>
            </a:r>
          </a:p>
        </p:txBody>
      </p:sp>
      <p:sp>
        <p:nvSpPr>
          <p:cNvPr id="278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05943E-0051-4092-858B-2CAE0E66B386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8 de 12 · TENSÃO · tempo previsto 1:10 · ao terminar, o relógio marca 9:25]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Antes de qualquer modelo, vamos olhar os dados brutos. E aqui a tensão aumenta.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de barras deitadas.]</a:t>
            </a:r>
            <a:r>
              <a:t> Estas são as médias antes e depois do marco. Mudar de ocupação ficou bem mais comum: de cerca de 24% para 32%. Ir para uma ocupação menos exposta subiu, mas ir para uma mais exposta subiu quase igual. A passagem do formal para o informal também subiu. Só a saída do emprego ficou parada.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das cinco faixas, Q1 a Q5.]</a:t>
            </a:r>
            <a:r>
              <a:t> Agora as cinco faixas de exposição. Em todas, ficar na mesma faixa ficou menos comum.</a:t>
            </a:r>
          </a:p>
          <a:p/>
          <a:p>
            <a:r>
              <a:t>Ou seja: a mobilidade subiu para todo mundo, não só para quem está mais exposto. Essa é a tensão do trabalho: se tudo se mexeu, a IA explica alguma parte desse movimento? É isso que o modelo vai responder.</a:t>
            </a:r>
          </a:p>
        </p:txBody>
      </p:sp>
      <p:sp>
        <p:nvSpPr>
          <p:cNvPr id="281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CE3BFC-A041-467D-B755-05F79CDEAC8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9 de 12 · RESOLUÇÃO · tempo previsto 1:25 · ao terminar, o relógio marca 10:50]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esta é a resposta principal. Cada ponto do gráfico é o beta de um resultado, e a linha ao redor é a margem de erro.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primeiro ponto do gráfico.]</a:t>
            </a:r>
            <a:r>
              <a:t> O resultado mais forte é a direção: quanto mais exposta a ocupação de origem, mais as pessoas foram para ocupações menos expostas. São cerca de 2,2 pontos percentuais a mais por unidade de exposição, perto de um oitavo da taxa depois do marco. </a:t>
            </a:r>
            <a:r>
              <a:rPr i="1" b="1">
                <a:solidFill>
                  <a:srgbClr val="7F7F7F"/>
                </a:solidFill>
              </a:rPr>
              <a:t>[Aponte para o último ponto do gráfico.]</a:t>
            </a:r>
            <a:r>
              <a:t> E o caminho contrário, ir para uma ocupação mais exposta, ficou 1,4 ponto menor.</a:t>
            </a:r>
          </a:p>
          <a:p/>
          <a:p>
            <a:r>
              <a:t>Mudar de ocupação também ficou um pouco mais comum nas ocupações mais expostas: quase um ponto a mais.</a:t>
            </a:r>
          </a:p>
          <a:p/>
          <a:p>
            <a:r>
              <a:t>Duas ressalvas. Parte do resultado de direção é mecânica, porque quem está no topo tem mais espaço para descer. E são sete testes ao mesmo tempo, sem correção para isso: o resultado mais fraco não deve ser citado sozinho.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Pense no scouter do Dragon Ball: ele mostra o nível de poder de cada lutador, mas não diz quem vai ganhar a luta, nem por quê. O beta é o scouter: mostra a força da relação, não prova a causa.</a:t>
            </a:r>
          </a:p>
        </p:txBody>
      </p:sp>
      <p:sp>
        <p:nvSpPr>
          <p:cNvPr id="284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567166-7457-40EE-BB7F-FD8DE762EF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10 de 12 · RESOLUÇÃO · tempo previsto 1:25 · ao terminar, o relógio marca 12:15]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o emprego, como ficou? Aqui vem a surpresa. </a:t>
            </a:r>
            <a:r>
              <a:rPr i="1" b="1">
                <a:solidFill>
                  <a:srgbClr val="7F7F7F"/>
                </a:solidFill>
              </a:rPr>
              <a:t>[Aponte para os dois primeiros números.]</a:t>
            </a:r>
            <a:r>
              <a:t> Era de se esperar que os mais expostos perdessem o emprego ou caíssem na informalidade, mas não foi isso que apareceu. Mais exposição veio com um pouco menos de saída do emprego e menos passagem do formal para o informal.</a:t>
            </a:r>
          </a:p>
          <a:p/>
          <a:p>
            <a:r>
              <a:t>O terceiro número mostra que, na informalidade, quem aparece associado é o teletrabalho, não a IA. Como os índices têm escalas diferentes, não dá para dizer qual força pesa mais.</a:t>
            </a:r>
          </a:p>
          <a:p/>
          <a:p>
            <a:r>
              <a:t>Uma explicação possível vem de Autor e Thompson: a tecnologia pode manter o emprego e mudar o salário. Mas eu não observo salários, então é uma hipótese, não um teste.</a:t>
            </a:r>
          </a:p>
          <a:p/>
          <a:p>
            <a:r>
              <a:t>Por fim, o controle: a chance de reencontrar a pessoa quase variou com a exposição, perto do limite de significância. Não posso descartar que as perdas de entrevista influenciem o resultado.</a:t>
            </a:r>
          </a:p>
        </p:txBody>
      </p:sp>
      <p:sp>
        <p:nvSpPr>
          <p:cNvPr id="287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CE89BA-CDD0-485A-B899-5A5D77BF05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11 de 12 · RESOLUÇÃO · tempo previsto 1:20 · ao terminar, o relógio marca 13:35]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Então, o que esses resultados permitem dizer, e o que não permitem?</a:t>
            </a:r>
          </a:p>
          <a:p/>
          <a:p>
            <a:r>
              <a:t>Permitem três coisas: a mobilidade subiu para todos; existe um gradiente, de cerca de 2 pontos por unidade de exposição, em direção a ocupações menos expostas; e o vínculo dos mais expostos não piorou.</a:t>
            </a:r>
          </a:p>
          <a:p/>
          <a:p>
            <a:r>
              <a:t>Não permitem dizer que a IA causou isso. Falta o estudo de evento, que testa se as ocupações já se comportavam diferente antes do marco. Eu não observo quem usa IA, só quem está exposto. E o marco é um só, para o país inteiro.</a:t>
            </a:r>
          </a:p>
          <a:p/>
          <a:p>
            <a:r>
              <a:t>E há o limite mais sério: no começo de 2020, quando a entrevista passou a ser por telefone, a taxa medida de mudança de ocupação caiu pela metade, de 30% para 15%, e só voltou no fim de 2021. A causa dessa quebra ainda não está demonstrada.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Foi como um save corrompido no meio do jogo: mudou a forma de medir, e isso pode ter bagunçado o placar por um tempo.</a:t>
            </a:r>
          </a:p>
        </p:txBody>
      </p:sp>
      <p:sp>
        <p:nvSpPr>
          <p:cNvPr id="290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28BD91-40EA-4831-9FD7-1E95938DEE9B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12 de 12 · RESOLUÇÃO · tempo previsto 1:25 · ao terminar, o relógio marca 15:00]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fechar, a resposta em três níveis.</a:t>
            </a:r>
          </a:p>
          <a:p/>
          <a:p>
            <a:r>
              <a:t>Primeiro, o que os dados mostram: depois do ChatGPT, a mobilidade subiu para todos, não só para os mais expostos.</a:t>
            </a:r>
          </a:p>
          <a:p/>
          <a:p>
            <a:r>
              <a:t>Segundo, a associação: existe um gradiente de cerca de 2 pontos por unidade de exposição, em direção a ocupações menos expostas, e o vínculo não piorou.</a:t>
            </a:r>
          </a:p>
          <a:p/>
          <a:p>
            <a:r>
              <a:t>Terceiro, a causalidade: o desenho atual ainda não permite afirmá-la.</a:t>
            </a:r>
          </a:p>
          <a:p/>
          <a:p>
            <a:r>
              <a:t>O que entrego hoje é uma descrição cuidadosa e um caminho claro até a resposta causal, se ela existir. São cinco passos: tratar a quebra de 2020 e 2021; fazer o estudo de evento; rodar testes de sensibilidade; usar uma medida feita para modelos de linguagem, com um placebo de teletrabalho; e aplicar métodos próprios para tratamento contínuo. Salários e outras extensões vêm depois.</a:t>
            </a:r>
          </a:p>
          <a:p/>
          <a:p>
            <a:r>
              <a:t>Muito obrigado. Fico à disposição para as perguntas.</a:t>
            </a:r>
          </a:p>
        </p:txBody>
      </p:sp>
      <p:sp>
        <p:nvSpPr>
          <p:cNvPr id="293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581907-969F-40AF-9677-85889B6E20FA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9A9E1-3AA1-46B4-99A2-632EFEE25F19}" type="slidenum"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ERTURA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Subtítulo</a:t>
            </a:r>
            <a:endParaRPr lang="en-US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ECHO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9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5BA53D-5322-4531-82BB-1C27000D55B5}" type="slidenum"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ircunferência maior"/>
          <p:cNvSpPr/>
          <p:nvPr/>
        </p:nvSpPr>
        <p:spPr>
          <a:xfrm>
            <a:off x="9052560" y="2743200"/>
            <a:ext cx="5851800" cy="585180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ircunferência menor"/>
          <p:cNvSpPr/>
          <p:nvPr/>
        </p:nvSpPr>
        <p:spPr>
          <a:xfrm>
            <a:off x="10241280" y="4114800"/>
            <a:ext cx="3657240" cy="365724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Rótulo"/>
          <p:cNvSpPr/>
          <p:nvPr/>
        </p:nvSpPr>
        <p:spPr>
          <a:xfrm>
            <a:off x="822960" y="868680"/>
            <a:ext cx="8777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DISSERTAÇÃO DE MESTRADO · RESULTADOS PRELIMINARES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Exposição ocupacional à inteligência artificial e transições no mercado de trabalho brasileiro</a:t>
            </a:r>
            <a:endParaRPr lang="pt-BR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evidências de painel da PNAD Contínua após o lançamento público do ChatGPT</a:t>
            </a:r>
            <a:endParaRPr lang="pt-BR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  <p:sp>
        <p:nvSpPr>
          <p:cNvPr id="22" name="Autoria"/>
          <p:cNvSpPr/>
          <p:nvPr/>
        </p:nvSpPr>
        <p:spPr>
          <a:xfrm>
            <a:off x="822960" y="507492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Ricardo Carvalho da Costa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Orientador: Prof. Dr. Danny de Castro Soares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Instituto Brasileiro de Ensino, Desenvolvimento e Pesquisa · Brasília · 2026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IA chegou para todos no mesmo dia. O trabalho mudou?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4" name="Carta: Contexto"/>
          <p:cNvSpPr/>
          <p:nvPr/>
        </p:nvSpPr>
        <p:spPr>
          <a:xfrm>
            <a:off x="548640" y="1371600"/>
            <a:ext cx="11091240" cy="95976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Em 30/11/2022, o ChatGPT chegou ao público: uma IA que escreve, resume e programa ficou ao alcance de qualquer trabalhador.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Rótulo"/>
          <p:cNvSpPr/>
          <p:nvPr/>
        </p:nvSpPr>
        <p:spPr>
          <a:xfrm>
            <a:off x="548640" y="2450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A PERGUNTA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ergunta de pesquisa"/>
          <p:cNvSpPr/>
          <p:nvPr/>
        </p:nvSpPr>
        <p:spPr>
          <a:xfrm>
            <a:off x="548640" y="2697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i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Quem trabalha em ocupações mais expostas à IA passou a mudar de trabalho de um jeito diferente depois desse marco?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eríodo pré"/>
          <p:cNvSpPr/>
          <p:nvPr/>
        </p:nvSpPr>
        <p:spPr>
          <a:xfrm>
            <a:off x="548640" y="3840480"/>
            <a:ext cx="6161760" cy="4201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ANTES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eríodo pós"/>
          <p:cNvSpPr/>
          <p:nvPr/>
        </p:nvSpPr>
        <p:spPr>
          <a:xfrm>
            <a:off x="6710760" y="3840480"/>
            <a:ext cx="4929120" cy="4201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DEPOIS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Marco"/>
          <p:cNvSpPr/>
          <p:nvPr/>
        </p:nvSpPr>
        <p:spPr>
          <a:xfrm>
            <a:off x="6710400" y="3749040"/>
            <a:ext cx="360" cy="6217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ótulo do marco"/>
          <p:cNvSpPr/>
          <p:nvPr/>
        </p:nvSpPr>
        <p:spPr>
          <a:xfrm>
            <a:off x="4333320" y="351144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30/11/2022 · ChatGPT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4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1026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Definição: Exposição"/>
          <p:cNvSpPr/>
          <p:nvPr/>
        </p:nvSpPr>
        <p:spPr>
          <a:xfrm>
            <a:off x="54864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Quanto as tarefas da ocupação se parecem com o que a IA faz. Não é uso de IA nem risco de demissão.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Definição: Transição"/>
          <p:cNvSpPr/>
          <p:nvPr/>
        </p:nvSpPr>
        <p:spPr>
          <a:xfrm>
            <a:off x="431280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Transição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que acontece com a mesma pessoa de um trimestre para o seguinte.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Definição: Marco"/>
          <p:cNvSpPr/>
          <p:nvPr/>
        </p:nvSpPr>
        <p:spPr>
          <a:xfrm>
            <a:off x="807732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Marco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lançamento do ChatGPT: data certa, vale para o país inteiro e ninguém da amostra o escolheu.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FA752C-5909-433E-AD90-4541F207CC5E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literatura mede a exposição; o Brasil não mede o uso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9" name="Coluna 1"/>
          <p:cNvSpPr/>
          <p:nvPr/>
        </p:nvSpPr>
        <p:spPr>
          <a:xfrm>
            <a:off x="54864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Número 1"/>
          <p:cNvSpPr/>
          <p:nvPr/>
        </p:nvSpPr>
        <p:spPr>
          <a:xfrm>
            <a:off x="73152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ítulo da coluna 1"/>
          <p:cNvSpPr/>
          <p:nvPr/>
        </p:nvSpPr>
        <p:spPr>
          <a:xfrm>
            <a:off x="129852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Medir a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Itens da coluna 1"/>
          <p:cNvSpPr/>
          <p:nvPr/>
        </p:nvSpPr>
        <p:spPr>
          <a:xfrm>
            <a:off x="73152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Felten, Raj e Seamans (2021)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AIOE: liga as habilidades de cada ocupação a aplicações de 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Eloundou et al. (2024)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Exposição tarefa a tarefa, específica para modelos de linguagem.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oluna 2"/>
          <p:cNvSpPr/>
          <p:nvPr/>
        </p:nvSpPr>
        <p:spPr>
          <a:xfrm>
            <a:off x="431280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Número 2"/>
          <p:cNvSpPr/>
          <p:nvPr/>
        </p:nvSpPr>
        <p:spPr>
          <a:xfrm>
            <a:off x="449568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ítulo da coluna 2"/>
          <p:cNvSpPr/>
          <p:nvPr/>
        </p:nvSpPr>
        <p:spPr>
          <a:xfrm>
            <a:off x="506268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Observar adoção e resultados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Itens da coluna 2"/>
          <p:cNvSpPr/>
          <p:nvPr/>
        </p:nvSpPr>
        <p:spPr>
          <a:xfrm>
            <a:off x="449568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Brynjolfsson, Li e Raymond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Ganho de produtividade numa central de atendimento.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Humlum e Vestergaard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Dinamarca: efeitos nulos e precisos sobre rendimentos e horas.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oluna 3"/>
          <p:cNvSpPr/>
          <p:nvPr/>
        </p:nvSpPr>
        <p:spPr>
          <a:xfrm>
            <a:off x="807732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Número 3"/>
          <p:cNvSpPr/>
          <p:nvPr/>
        </p:nvSpPr>
        <p:spPr>
          <a:xfrm>
            <a:off x="826020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ítulo da coluna 3"/>
          <p:cNvSpPr/>
          <p:nvPr/>
        </p:nvSpPr>
        <p:spPr>
          <a:xfrm>
            <a:off x="882684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Desenho e contexto brasileiro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Itens da coluna 3"/>
          <p:cNvSpPr/>
          <p:nvPr/>
        </p:nvSpPr>
        <p:spPr>
          <a:xfrm>
            <a:off x="826020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Acemoglu e Restrepo (2020)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Identificação por exposição diferencial.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Ulyssea (2020); Meghir, Narita e Robin (2015)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Informalidade heterogênea; fronteira com o setor formal atravessada com frequência.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Lacuna"/>
          <p:cNvSpPr/>
          <p:nvPr/>
        </p:nvSpPr>
        <p:spPr>
          <a:xfrm>
            <a:off x="548640" y="5074920"/>
            <a:ext cx="11091240" cy="9140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pc="201" strike="noStrike">
                <a:solidFill>
                  <a:schemeClr val="accent5"/>
                </a:solidFill>
                <a:effectLst/>
                <a:uFillTx/>
                <a:latin typeface="Calibri"/>
              </a:rPr>
              <a:t>LACUNA E RELEVÂNCIA  </a:t>
            </a: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Com tanta informalidade, o Brasil pode reagir à IA de outro jeito que os países ricos, mas não há medida direta do uso de IA. Por isso: exposição ocupacional num painel domiciliar.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7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F0BA58-1DC1-4AF0-86E4-0AED958836C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PNAD Contínua segue a mesma pessoa por cinco trimestres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55" name="Número-chave 1"/>
          <p:cNvSpPr/>
          <p:nvPr/>
        </p:nvSpPr>
        <p:spPr>
          <a:xfrm>
            <a:off x="548640" y="141732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Valor 1"/>
          <p:cNvSpPr/>
          <p:nvPr/>
        </p:nvSpPr>
        <p:spPr>
          <a:xfrm>
            <a:off x="731520" y="149040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27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ótulo 1"/>
          <p:cNvSpPr/>
          <p:nvPr/>
        </p:nvSpPr>
        <p:spPr>
          <a:xfrm>
            <a:off x="731520" y="20574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trimestres de origem, de 2019T1 a 2025T3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Número-chave 2"/>
          <p:cNvSpPr/>
          <p:nvPr/>
        </p:nvSpPr>
        <p:spPr>
          <a:xfrm>
            <a:off x="548640" y="258768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Valor 2"/>
          <p:cNvSpPr/>
          <p:nvPr/>
        </p:nvSpPr>
        <p:spPr>
          <a:xfrm>
            <a:off x="731520" y="266076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ótulo 2"/>
          <p:cNvSpPr/>
          <p:nvPr/>
        </p:nvSpPr>
        <p:spPr>
          <a:xfrm>
            <a:off x="731520" y="322776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ocupações na estimação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Número-chave 3"/>
          <p:cNvSpPr/>
          <p:nvPr/>
        </p:nvSpPr>
        <p:spPr>
          <a:xfrm>
            <a:off x="548640" y="375804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Valor 3"/>
          <p:cNvSpPr/>
          <p:nvPr/>
        </p:nvSpPr>
        <p:spPr>
          <a:xfrm>
            <a:off x="731520" y="383148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31.145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ótulo 3"/>
          <p:cNvSpPr/>
          <p:nvPr/>
        </p:nvSpPr>
        <p:spPr>
          <a:xfrm>
            <a:off x="731520" y="439812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unidades primárias de amostragem (UPAs)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gra do par"/>
          <p:cNvSpPr/>
          <p:nvPr/>
        </p:nvSpPr>
        <p:spPr>
          <a:xfrm>
            <a:off x="548640" y="4983480"/>
            <a:ext cx="3565800" cy="100548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520" rIns="252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 pessoa-trimestre reconstruído: 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UPA, domicílio, ordem, sexo, dia e mês de nascimento e idade coerentes.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ítulo do gráfico"/>
          <p:cNvSpPr/>
          <p:nvPr/>
        </p:nvSpPr>
        <p:spPr>
          <a:xfrm>
            <a:off x="4434840" y="1371600"/>
            <a:ext cx="7205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Cada desfecho usa a sua parte da base (pessoas-transições)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Chart 0"/>
          <p:cNvGraphicFramePr/>
          <p:nvPr/>
        </p:nvGraphicFramePr>
        <p:xfrm>
          <a:off x="4434840" y="1783080"/>
          <a:ext cx="7205040" cy="4160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São pessoas-transições, e não pessoas únicas: o mesmo indivíduo contribui com até quatro pares.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8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620D3A-6CFC-4878-8067-8976110A753A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exposição à IA varia muito entre as ocupações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71" name="Etapa da ponte 1"/>
          <p:cNvSpPr/>
          <p:nvPr/>
        </p:nvSpPr>
        <p:spPr>
          <a:xfrm>
            <a:off x="548640" y="146304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COD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da PNAD Contínua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eta 1"/>
          <p:cNvSpPr/>
          <p:nvPr/>
        </p:nvSpPr>
        <p:spPr>
          <a:xfrm>
            <a:off x="2560320" y="223128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Etapa da ponte 2"/>
          <p:cNvSpPr/>
          <p:nvPr/>
        </p:nvSpPr>
        <p:spPr>
          <a:xfrm>
            <a:off x="548640" y="246888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ISCO-08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internacional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eta 2"/>
          <p:cNvSpPr/>
          <p:nvPr/>
        </p:nvSpPr>
        <p:spPr>
          <a:xfrm>
            <a:off x="2560320" y="323712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Etapa da ponte 3"/>
          <p:cNvSpPr/>
          <p:nvPr/>
        </p:nvSpPr>
        <p:spPr>
          <a:xfrm>
            <a:off x="548640" y="347472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SOC 2010 → AIOE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índice de Felten, Raj e Seamans (2021)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Nota da ponte"/>
          <p:cNvSpPr/>
          <p:nvPr/>
        </p:nvSpPr>
        <p:spPr>
          <a:xfrm>
            <a:off x="548640" y="4498920"/>
            <a:ext cx="44802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Entre os códigos SOC ligados a um mesmo COD, o peso é uniforme: hipótese de construção, declarada como tal.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obertura 1"/>
          <p:cNvSpPr/>
          <p:nvPr/>
        </p:nvSpPr>
        <p:spPr>
          <a:xfrm>
            <a:off x="54864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8"/>
          <p:cNvSpPr/>
          <p:nvPr/>
        </p:nvSpPr>
        <p:spPr>
          <a:xfrm>
            <a:off x="54864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416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54864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códigos com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obertura 2"/>
          <p:cNvSpPr/>
          <p:nvPr/>
        </p:nvSpPr>
        <p:spPr>
          <a:xfrm>
            <a:off x="2088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2088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2088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estimação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obertura 3"/>
          <p:cNvSpPr/>
          <p:nvPr/>
        </p:nvSpPr>
        <p:spPr>
          <a:xfrm>
            <a:off x="3627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3627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1,08%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3627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peso sem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ítulo do gráfico"/>
          <p:cNvSpPr/>
          <p:nvPr/>
        </p:nvSpPr>
        <p:spPr>
          <a:xfrm>
            <a:off x="5394960" y="1371600"/>
            <a:ext cx="6244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As ocupações se espalham por toda a escala do AIOE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Chart 0"/>
          <p:cNvGraphicFramePr/>
          <p:nvPr/>
        </p:nvGraphicFramePr>
        <p:xfrm>
          <a:off x="5394960" y="1783080"/>
          <a:ext cx="6244920" cy="3245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8" name="Sentido do eixo"/>
          <p:cNvSpPr/>
          <p:nvPr/>
        </p:nvSpPr>
        <p:spPr>
          <a:xfrm>
            <a:off x="5394960" y="502920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← menos exposta</a:t>
            </a: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                                                                         </a:t>
            </a: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mais exposta →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Estatísticas do AIOE"/>
          <p:cNvSpPr/>
          <p:nvPr/>
        </p:nvSpPr>
        <p:spPr>
          <a:xfrm>
            <a:off x="5394960" y="532188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média 0,0053 · desvio-padrão 0,9445 · correlação com a teletrabalhabilidade: 0,702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viso de leitura"/>
          <p:cNvSpPr/>
          <p:nvPr/>
        </p:nvSpPr>
        <p:spPr>
          <a:xfrm>
            <a:off x="5394960" y="5669280"/>
            <a:ext cx="6244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Menor AIOE quer dizer menos exposição, e não emprego pior.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de Felten, Raj e Seamans (2021), Dingel e Neiman (2020) e da PNADC/IBGE. Distribuição entre códigos, e não entre trabalhadores.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9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986D32-973E-445A-9872-8C1E3E4907CF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Sete desfechos: vínculo, mobilidade e direção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95" name="Família I"/>
          <p:cNvSpPr/>
          <p:nvPr/>
        </p:nvSpPr>
        <p:spPr>
          <a:xfrm>
            <a:off x="54864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Família I (número)"/>
          <p:cNvSpPr/>
          <p:nvPr/>
        </p:nvSpPr>
        <p:spPr>
          <a:xfrm>
            <a:off x="73152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ítulo da família I"/>
          <p:cNvSpPr/>
          <p:nvPr/>
        </p:nvSpPr>
        <p:spPr>
          <a:xfrm>
            <a:off x="137160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Continuidade e vínculo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Desfechos da família I"/>
          <p:cNvSpPr/>
          <p:nvPr/>
        </p:nvSpPr>
        <p:spPr>
          <a:xfrm>
            <a:off x="77724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a entrevista seguinte foi encontrada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Saída do emprego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não está ocupado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De formal para informal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é ocupado e informal, entre origens formais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Família II"/>
          <p:cNvSpPr/>
          <p:nvPr/>
        </p:nvSpPr>
        <p:spPr>
          <a:xfrm>
            <a:off x="431280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Família II (número)"/>
          <p:cNvSpPr/>
          <p:nvPr/>
        </p:nvSpPr>
        <p:spPr>
          <a:xfrm>
            <a:off x="449568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ítulo da família II"/>
          <p:cNvSpPr/>
          <p:nvPr/>
        </p:nvSpPr>
        <p:spPr>
          <a:xfrm>
            <a:off x="513576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Mobilidade ocupacional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Desfechos da família II"/>
          <p:cNvSpPr/>
          <p:nvPr/>
        </p:nvSpPr>
        <p:spPr>
          <a:xfrm>
            <a:off x="454140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dois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três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amília III"/>
          <p:cNvSpPr/>
          <p:nvPr/>
        </p:nvSpPr>
        <p:spPr>
          <a:xfrm>
            <a:off x="807732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Família III (número)"/>
          <p:cNvSpPr/>
          <p:nvPr/>
        </p:nvSpPr>
        <p:spPr>
          <a:xfrm>
            <a:off x="826020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ítulo da família III"/>
          <p:cNvSpPr/>
          <p:nvPr/>
        </p:nvSpPr>
        <p:spPr>
          <a:xfrm>
            <a:off x="890028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Deslocamento no gradiente de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Desfechos da família III"/>
          <p:cNvSpPr/>
          <p:nvPr/>
        </p:nvSpPr>
        <p:spPr>
          <a:xfrm>
            <a:off x="830592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Menos exposta (descendente)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menor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Mais exposta (ascendente)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maior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Observação"/>
          <p:cNvSpPr/>
          <p:nvPr/>
        </p:nvSpPr>
        <p:spPr>
          <a:xfrm>
            <a:off x="548640" y="5212080"/>
            <a:ext cx="11091240" cy="82260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Duas regras. </a:t>
            </a: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Destino não observado nunca vira zero. As duas direções se leem juntas: quem está no topo da exposição tem mais espaço para descer do que para subir.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0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A532D8-B75D-4C2E-9BDD-4C583B6D0194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Sem grupo de controle, comparo intensidades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11" name="Equação estimada"/>
          <p:cNvSpPr/>
          <p:nvPr/>
        </p:nvSpPr>
        <p:spPr>
          <a:xfrm>
            <a:off x="548640" y="1417320"/>
            <a:ext cx="11091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" tIns="4320" rIns="4320" bIns="252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y  =  </a:t>
            </a: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β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(AIOE × Pós)  +  </a:t>
            </a:r>
            <a:r>
              <a:rPr lang="pt-BR" sz="23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γ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(Teletrabalho × Pós)  +  idade  +  idade²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      +  α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ocupação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λ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UF×trimestre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efeitos fixos categóricos  +  ε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Bloco: β: parâmetro de interesse"/>
          <p:cNvSpPr/>
          <p:nvPr/>
        </p:nvSpPr>
        <p:spPr>
          <a:xfrm>
            <a:off x="54864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β: parâmetro de interesse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entre pré e pós, em pontos percentuais por unidade de AIOE (cerca de um desvio-padrão entre ocupações).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Bloco: Efeitos fixos"/>
          <p:cNvSpPr/>
          <p:nvPr/>
        </p:nvSpPr>
        <p:spPr>
          <a:xfrm>
            <a:off x="431280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Efeitos fixos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Ocupação de origem · UF × trimestre · sexo, cor ou raça, escolaridade, tempo no emprego, tamanho do estabelecimento e setor.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loco: Estimação e inferência"/>
          <p:cNvSpPr/>
          <p:nvPr/>
        </p:nvSpPr>
        <p:spPr>
          <a:xfrm>
            <a:off x="807732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Estimação e inferência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 de probabilidade linear ponderado pelo peso da origem. Erros-padrão por UPA, de 30.360 a 31.145 grupos.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eríodo pré"/>
          <p:cNvSpPr/>
          <p:nvPr/>
        </p:nvSpPr>
        <p:spPr>
          <a:xfrm>
            <a:off x="548640" y="5212080"/>
            <a:ext cx="6161760" cy="45684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Pré · 2019T1 a 2022T3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eríodo pós"/>
          <p:cNvSpPr/>
          <p:nvPr/>
        </p:nvSpPr>
        <p:spPr>
          <a:xfrm>
            <a:off x="6710760" y="5212080"/>
            <a:ext cx="4929120" cy="4568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Pós · 2022T4 a 2025T3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Marco"/>
          <p:cNvSpPr/>
          <p:nvPr/>
        </p:nvSpPr>
        <p:spPr>
          <a:xfrm>
            <a:off x="6710400" y="5074920"/>
            <a:ext cx="360" cy="7315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Nota do desenho"/>
          <p:cNvSpPr/>
          <p:nvPr/>
        </p:nvSpPr>
        <p:spPr>
          <a:xfrm>
            <a:off x="548640" y="587052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Tratamento contínuo: não há grupo tratado e grupo de controle, e sim uma intensidade de exposição que varia entre ocupações.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1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288C25-5AC6-4AAD-AC88-B0F0A878C19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mobilidade subiu em todas as faixas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22" name="Título do gráfico"/>
          <p:cNvSpPr/>
          <p:nvPr/>
        </p:nvSpPr>
        <p:spPr>
          <a:xfrm>
            <a:off x="548640" y="137160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Quase tudo subiu; só a saída do emprego ficou parada (%)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Chart 0"/>
          <p:cNvGraphicFramePr/>
          <p:nvPr/>
        </p:nvGraphicFramePr>
        <p:xfrm>
          <a:off x="548640" y="1737360"/>
          <a:ext cx="5943240" cy="429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4" name="Título do gráfico"/>
          <p:cNvSpPr/>
          <p:nvPr/>
        </p:nvSpPr>
        <p:spPr>
          <a:xfrm>
            <a:off x="6903720" y="1371600"/>
            <a:ext cx="4736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Ficar na mesma faixa caiu em todas (pós − pré, p.p.)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5" name="Chart 1"/>
          <p:cNvGraphicFramePr/>
          <p:nvPr/>
        </p:nvGraphicFramePr>
        <p:xfrm>
          <a:off x="6903720" y="2011680"/>
          <a:ext cx="4736160" cy="2605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6" name="Legenda das faixas"/>
          <p:cNvSpPr/>
          <p:nvPr/>
        </p:nvSpPr>
        <p:spPr>
          <a:xfrm>
            <a:off x="6903720" y="173736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Q1 = menor exposição · Q5 = maior exposição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arta: Tensão"/>
          <p:cNvSpPr/>
          <p:nvPr/>
        </p:nvSpPr>
        <p:spPr>
          <a:xfrm>
            <a:off x="6903720" y="4709160"/>
            <a:ext cx="4736160" cy="1298160"/>
          </a:xfrm>
          <a:prstGeom prst="roundRect">
            <a:avLst>
              <a:gd name="adj" fmla="val 7042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880" rIns="288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TENSÃO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em todas as faixas, e não só nas mais expostas. Então, a IA explica alguma parte desse movimento?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Médias ponderadas pelo peso da origem. Teste de Wald de igualdade das matrizes: χ² = 3.040,1 (20 g.l.).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ldNum" idx="1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9790B4-303F-47DA-9EA5-CB5115552EC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exposição, mais mudança para ocupações menos expostas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32" name="Legenda: Deslocamento no gradiente"/>
          <p:cNvSpPr/>
          <p:nvPr/>
        </p:nvSpPr>
        <p:spPr>
          <a:xfrm>
            <a:off x="548640" y="1481400"/>
            <a:ext cx="145800" cy="145800"/>
          </a:xfrm>
          <a:prstGeom prst="ellipse">
            <a:avLst/>
          </a:prstGeom>
          <a:solidFill>
            <a:srgbClr val="0064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749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Deslocamento no gradiente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Legenda: Mobilidade ocupacional"/>
          <p:cNvSpPr/>
          <p:nvPr/>
        </p:nvSpPr>
        <p:spPr>
          <a:xfrm>
            <a:off x="2949120" y="1481400"/>
            <a:ext cx="145800" cy="145800"/>
          </a:xfrm>
          <a:prstGeom prst="ellipse">
            <a:avLst/>
          </a:prstGeom>
          <a:solidFill>
            <a:srgbClr val="3F8F6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31500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Mobilidade ocupacional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Legenda: Vínculo"/>
          <p:cNvSpPr/>
          <p:nvPr/>
        </p:nvSpPr>
        <p:spPr>
          <a:xfrm>
            <a:off x="5121720" y="1481400"/>
            <a:ext cx="145800" cy="145800"/>
          </a:xfrm>
          <a:prstGeom prst="ellipse">
            <a:avLst/>
          </a:prstGeom>
          <a:solidFill>
            <a:srgbClr val="0B3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53226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Vínculo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Legenda: Teste de atrito"/>
          <p:cNvSpPr/>
          <p:nvPr/>
        </p:nvSpPr>
        <p:spPr>
          <a:xfrm>
            <a:off x="6155640" y="1481400"/>
            <a:ext cx="145800" cy="145800"/>
          </a:xfrm>
          <a:prstGeom prst="ellipse">
            <a:avLst/>
          </a:prstGeom>
          <a:solidFill>
            <a:srgbClr val="5F736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6356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Teste de atrito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rade -2"/>
          <p:cNvSpPr/>
          <p:nvPr/>
        </p:nvSpPr>
        <p:spPr>
          <a:xfrm>
            <a:off x="388620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361188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rade -1"/>
          <p:cNvSpPr/>
          <p:nvPr/>
        </p:nvSpPr>
        <p:spPr>
          <a:xfrm>
            <a:off x="467244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43981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rade 0"/>
          <p:cNvSpPr/>
          <p:nvPr/>
        </p:nvSpPr>
        <p:spPr>
          <a:xfrm>
            <a:off x="5458680" y="1783080"/>
            <a:ext cx="360" cy="3611880"/>
          </a:xfrm>
          <a:prstGeom prst="line">
            <a:avLst/>
          </a:prstGeom>
          <a:ln w="19050">
            <a:solidFill>
              <a:srgbClr val="1028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1847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0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rade 1"/>
          <p:cNvSpPr/>
          <p:nvPr/>
        </p:nvSpPr>
        <p:spPr>
          <a:xfrm>
            <a:off x="624528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59709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rade 2"/>
          <p:cNvSpPr/>
          <p:nvPr/>
        </p:nvSpPr>
        <p:spPr>
          <a:xfrm>
            <a:off x="70315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67575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rade 3"/>
          <p:cNvSpPr/>
          <p:nvPr/>
        </p:nvSpPr>
        <p:spPr>
          <a:xfrm>
            <a:off x="78181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754380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ítulo do eixo"/>
          <p:cNvSpPr/>
          <p:nvPr/>
        </p:nvSpPr>
        <p:spPr>
          <a:xfrm>
            <a:off x="3063240" y="5687640"/>
            <a:ext cx="5577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Efeito de AIOE × pós (p.p. por unidade de AIOE), com IC de 95%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ótulo: Transição para menor AIOE"/>
          <p:cNvSpPr/>
          <p:nvPr/>
        </p:nvSpPr>
        <p:spPr>
          <a:xfrm>
            <a:off x="548640" y="19432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menor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IC 95%: Transição para menor AIOE"/>
          <p:cNvSpPr/>
          <p:nvPr/>
        </p:nvSpPr>
        <p:spPr>
          <a:xfrm>
            <a:off x="7017480" y="2125800"/>
            <a:ext cx="32328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Extremo do IC"/>
          <p:cNvSpPr/>
          <p:nvPr/>
        </p:nvSpPr>
        <p:spPr>
          <a:xfrm>
            <a:off x="701748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Extremo do IC"/>
          <p:cNvSpPr/>
          <p:nvPr/>
        </p:nvSpPr>
        <p:spPr>
          <a:xfrm>
            <a:off x="734076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Estimativa: Transição para menor AIOE"/>
          <p:cNvSpPr/>
          <p:nvPr/>
        </p:nvSpPr>
        <p:spPr>
          <a:xfrm>
            <a:off x="7096320" y="204372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Valor: Transição para menor AIOE"/>
          <p:cNvSpPr/>
          <p:nvPr/>
        </p:nvSpPr>
        <p:spPr>
          <a:xfrm>
            <a:off x="6721560" y="17420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+2,19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ótulo: Muda de ocupação (3 dígitos)"/>
          <p:cNvSpPr/>
          <p:nvPr/>
        </p:nvSpPr>
        <p:spPr>
          <a:xfrm>
            <a:off x="548640" y="24462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IC 95%: Muda de ocupação (3 dígitos)"/>
          <p:cNvSpPr/>
          <p:nvPr/>
        </p:nvSpPr>
        <p:spPr>
          <a:xfrm>
            <a:off x="5925960" y="2628720"/>
            <a:ext cx="41976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Extremo do IC"/>
          <p:cNvSpPr/>
          <p:nvPr/>
        </p:nvSpPr>
        <p:spPr>
          <a:xfrm>
            <a:off x="592596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Extremo do IC"/>
          <p:cNvSpPr/>
          <p:nvPr/>
        </p:nvSpPr>
        <p:spPr>
          <a:xfrm>
            <a:off x="634572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Estimativa: Muda de ocupação (3 dígitos)"/>
          <p:cNvSpPr/>
          <p:nvPr/>
        </p:nvSpPr>
        <p:spPr>
          <a:xfrm>
            <a:off x="6053760" y="254664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Valor: Muda de ocupação (3 dígitos)"/>
          <p:cNvSpPr/>
          <p:nvPr/>
        </p:nvSpPr>
        <p:spPr>
          <a:xfrm>
            <a:off x="5679000" y="22449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+0,86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ótulo: Muda de ocupação (2 dígitos)"/>
          <p:cNvSpPr/>
          <p:nvPr/>
        </p:nvSpPr>
        <p:spPr>
          <a:xfrm>
            <a:off x="548640" y="294912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IC 95%: Muda de ocupação (2 dígitos)"/>
          <p:cNvSpPr/>
          <p:nvPr/>
        </p:nvSpPr>
        <p:spPr>
          <a:xfrm>
            <a:off x="5479920" y="3131640"/>
            <a:ext cx="39492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Extremo do IC"/>
          <p:cNvSpPr/>
          <p:nvPr/>
        </p:nvSpPr>
        <p:spPr>
          <a:xfrm>
            <a:off x="547992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Extremo do IC"/>
          <p:cNvSpPr/>
          <p:nvPr/>
        </p:nvSpPr>
        <p:spPr>
          <a:xfrm>
            <a:off x="587484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Estimativa: Muda de ocupação (2 dígitos)"/>
          <p:cNvSpPr/>
          <p:nvPr/>
        </p:nvSpPr>
        <p:spPr>
          <a:xfrm>
            <a:off x="5595120" y="304956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Valor: Muda de ocupação (2 dígitos)"/>
          <p:cNvSpPr/>
          <p:nvPr/>
        </p:nvSpPr>
        <p:spPr>
          <a:xfrm>
            <a:off x="5220360" y="274788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+0,28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ótulo: Saída do emprego"/>
          <p:cNvSpPr/>
          <p:nvPr/>
        </p:nvSpPr>
        <p:spPr>
          <a:xfrm>
            <a:off x="548640" y="345204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IC 95%: Saída do emprego"/>
          <p:cNvSpPr/>
          <p:nvPr/>
        </p:nvSpPr>
        <p:spPr>
          <a:xfrm>
            <a:off x="5145840" y="3634560"/>
            <a:ext cx="23184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Extremo do IC"/>
          <p:cNvSpPr/>
          <p:nvPr/>
        </p:nvSpPr>
        <p:spPr>
          <a:xfrm>
            <a:off x="514584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Extremo do IC"/>
          <p:cNvSpPr/>
          <p:nvPr/>
        </p:nvSpPr>
        <p:spPr>
          <a:xfrm>
            <a:off x="537768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stimativa: Saída do emprego"/>
          <p:cNvSpPr/>
          <p:nvPr/>
        </p:nvSpPr>
        <p:spPr>
          <a:xfrm>
            <a:off x="5180040" y="355248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Valor: Saída do emprego"/>
          <p:cNvSpPr/>
          <p:nvPr/>
        </p:nvSpPr>
        <p:spPr>
          <a:xfrm>
            <a:off x="4805280" y="32508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ótulo: Pareamento (teste de atrito)"/>
          <p:cNvSpPr/>
          <p:nvPr/>
        </p:nvSpPr>
        <p:spPr>
          <a:xfrm>
            <a:off x="548640" y="395496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IC 95%: Pareamento (teste de atrito)"/>
          <p:cNvSpPr/>
          <p:nvPr/>
        </p:nvSpPr>
        <p:spPr>
          <a:xfrm>
            <a:off x="5037120" y="4137480"/>
            <a:ext cx="433440" cy="360"/>
          </a:xfrm>
          <a:prstGeom prst="line">
            <a:avLst/>
          </a:prstGeom>
          <a:ln w="3175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xtremo do IC"/>
          <p:cNvSpPr/>
          <p:nvPr/>
        </p:nvSpPr>
        <p:spPr>
          <a:xfrm>
            <a:off x="503712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xtremo do IC"/>
          <p:cNvSpPr/>
          <p:nvPr/>
        </p:nvSpPr>
        <p:spPr>
          <a:xfrm>
            <a:off x="547056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Estimativa: Pareamento (teste de atrito)"/>
          <p:cNvSpPr/>
          <p:nvPr/>
        </p:nvSpPr>
        <p:spPr>
          <a:xfrm>
            <a:off x="5171400" y="4055400"/>
            <a:ext cx="164160" cy="164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Valor: Pareamento (teste de atrito)"/>
          <p:cNvSpPr/>
          <p:nvPr/>
        </p:nvSpPr>
        <p:spPr>
          <a:xfrm>
            <a:off x="4796640" y="375372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ótulo: Formal → informal"/>
          <p:cNvSpPr/>
          <p:nvPr/>
        </p:nvSpPr>
        <p:spPr>
          <a:xfrm>
            <a:off x="548640" y="44578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Formal → informal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IC 95%: Formal → informal"/>
          <p:cNvSpPr/>
          <p:nvPr/>
        </p:nvSpPr>
        <p:spPr>
          <a:xfrm>
            <a:off x="4784040" y="4640400"/>
            <a:ext cx="29088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xtremo do IC"/>
          <p:cNvSpPr/>
          <p:nvPr/>
        </p:nvSpPr>
        <p:spPr>
          <a:xfrm>
            <a:off x="478404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xtremo do IC"/>
          <p:cNvSpPr/>
          <p:nvPr/>
        </p:nvSpPr>
        <p:spPr>
          <a:xfrm>
            <a:off x="507492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stimativa: Formal → informal"/>
          <p:cNvSpPr/>
          <p:nvPr/>
        </p:nvSpPr>
        <p:spPr>
          <a:xfrm>
            <a:off x="4847400" y="455832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Valor: Formal → informal"/>
          <p:cNvSpPr/>
          <p:nvPr/>
        </p:nvSpPr>
        <p:spPr>
          <a:xfrm>
            <a:off x="4472640" y="42566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−0,67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ótulo: Transição para maior AIOE"/>
          <p:cNvSpPr/>
          <p:nvPr/>
        </p:nvSpPr>
        <p:spPr>
          <a:xfrm>
            <a:off x="548640" y="49608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maior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IC 95%: Transição para maior AIOE"/>
          <p:cNvSpPr/>
          <p:nvPr/>
        </p:nvSpPr>
        <p:spPr>
          <a:xfrm>
            <a:off x="4227480" y="5143320"/>
            <a:ext cx="31824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xtremo do IC"/>
          <p:cNvSpPr/>
          <p:nvPr/>
        </p:nvSpPr>
        <p:spPr>
          <a:xfrm>
            <a:off x="422748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xtremo do IC"/>
          <p:cNvSpPr/>
          <p:nvPr/>
        </p:nvSpPr>
        <p:spPr>
          <a:xfrm>
            <a:off x="454572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stimativa: Transição para maior AIOE"/>
          <p:cNvSpPr/>
          <p:nvPr/>
        </p:nvSpPr>
        <p:spPr>
          <a:xfrm>
            <a:off x="4304160" y="506124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Valor: Transição para maior AIOE"/>
          <p:cNvSpPr/>
          <p:nvPr/>
        </p:nvSpPr>
        <p:spPr>
          <a:xfrm>
            <a:off x="3929040" y="47595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−1,36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Destaque 1"/>
          <p:cNvSpPr/>
          <p:nvPr/>
        </p:nvSpPr>
        <p:spPr>
          <a:xfrm>
            <a:off x="8229600" y="141732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Valor do destaque 1"/>
          <p:cNvSpPr/>
          <p:nvPr/>
        </p:nvSpPr>
        <p:spPr>
          <a:xfrm>
            <a:off x="8412480" y="149040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+2,19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o do destaque 1"/>
          <p:cNvSpPr/>
          <p:nvPr/>
        </p:nvSpPr>
        <p:spPr>
          <a:xfrm>
            <a:off x="8412480" y="2011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menos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cerca de 12,6% da taxa pós, de 17,4%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Destaque 2"/>
          <p:cNvSpPr/>
          <p:nvPr/>
        </p:nvSpPr>
        <p:spPr>
          <a:xfrm>
            <a:off x="8229600" y="288036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Valor do destaque 2"/>
          <p:cNvSpPr/>
          <p:nvPr/>
        </p:nvSpPr>
        <p:spPr>
          <a:xfrm>
            <a:off x="8412480" y="295344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−1,36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o do destaque 2"/>
          <p:cNvSpPr/>
          <p:nvPr/>
        </p:nvSpPr>
        <p:spPr>
          <a:xfrm>
            <a:off x="8412480" y="347472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mais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as duas margens direcionais se leem juntas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Destaque 3"/>
          <p:cNvSpPr/>
          <p:nvPr/>
        </p:nvSpPr>
        <p:spPr>
          <a:xfrm>
            <a:off x="8229600" y="434340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Valor do destaque 3"/>
          <p:cNvSpPr/>
          <p:nvPr/>
        </p:nvSpPr>
        <p:spPr>
          <a:xfrm>
            <a:off x="8412480" y="441648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+0,86 · +0,28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o do destaque 3"/>
          <p:cNvSpPr/>
          <p:nvPr/>
        </p:nvSpPr>
        <p:spPr>
          <a:xfrm>
            <a:off x="8412480" y="493776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de ocupação (3 e 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p = 0,030 no de 2 dígitos: não citar isoladamente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Erros-padrão por UPA; sete desfechos, sem correção para multiplicidade.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3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0A953E-EA32-40CB-800D-D846F21F8500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 veio com o vínculo no emprego preservado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08" name="Efeito 1"/>
          <p:cNvSpPr/>
          <p:nvPr/>
        </p:nvSpPr>
        <p:spPr>
          <a:xfrm>
            <a:off x="54864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Valor 1"/>
          <p:cNvSpPr/>
          <p:nvPr/>
        </p:nvSpPr>
        <p:spPr>
          <a:xfrm>
            <a:off x="73152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−0,25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o 1"/>
          <p:cNvSpPr/>
          <p:nvPr/>
        </p:nvSpPr>
        <p:spPr>
          <a:xfrm>
            <a:off x="73152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feito 2"/>
          <p:cNvSpPr/>
          <p:nvPr/>
        </p:nvSpPr>
        <p:spPr>
          <a:xfrm>
            <a:off x="431280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Valor 2"/>
          <p:cNvSpPr/>
          <p:nvPr/>
        </p:nvSpPr>
        <p:spPr>
          <a:xfrm>
            <a:off x="449568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−0,67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o 2"/>
          <p:cNvSpPr/>
          <p:nvPr/>
        </p:nvSpPr>
        <p:spPr>
          <a:xfrm>
            <a:off x="449568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feito 3"/>
          <p:cNvSpPr/>
          <p:nvPr/>
        </p:nvSpPr>
        <p:spPr>
          <a:xfrm>
            <a:off x="807732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Valor 3"/>
          <p:cNvSpPr/>
          <p:nvPr/>
        </p:nvSpPr>
        <p:spPr>
          <a:xfrm>
            <a:off x="826020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3"/>
                </a:solidFill>
                <a:effectLst/>
                <a:uFillTx/>
                <a:latin typeface="Cambria"/>
                <a:ea typeface="Cambria"/>
              </a:rPr>
              <a:t>+1,73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o 3"/>
          <p:cNvSpPr/>
          <p:nvPr/>
        </p:nvSpPr>
        <p:spPr>
          <a:xfrm>
            <a:off x="826020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teletrabalhabilidade × pós (painel B)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ste de atrito"/>
          <p:cNvSpPr/>
          <p:nvPr/>
        </p:nvSpPr>
        <p:spPr>
          <a:xfrm>
            <a:off x="548640" y="3291840"/>
            <a:ext cx="7086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Teste de atrito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Pareamento: −0,261 p.p., p = 0,064. </a:t>
            </a: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Não rejeita a estabilidade do gradiente de pareamento, mas o resultado está perto do limiar e o sinal é negativo. A seleção longitudinal não está descartada.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omo ler"/>
          <p:cNvSpPr/>
          <p:nvPr/>
        </p:nvSpPr>
        <p:spPr>
          <a:xfrm>
            <a:off x="7836480" y="3291840"/>
            <a:ext cx="380340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Como ler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íntese"/>
          <p:cNvSpPr/>
          <p:nvPr/>
        </p:nvSpPr>
        <p:spPr>
          <a:xfrm>
            <a:off x="548640" y="5120640"/>
            <a:ext cx="11091240" cy="77688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exposição à IA, vínculo preservado: menos saída do emprego e menos informalização.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Efeitos em pontos percentuais por unidade do índice.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14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B7548-F9C3-48A8-B0F0-EC34691E3062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Os dados mostram associação, ainda não causalidade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24" name="Coluna: O que os resultados sustentam"/>
          <p:cNvSpPr/>
          <p:nvPr/>
        </p:nvSpPr>
        <p:spPr>
          <a:xfrm>
            <a:off x="54864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Marca: O que os resultados sustentam"/>
          <p:cNvSpPr/>
          <p:nvPr/>
        </p:nvSpPr>
        <p:spPr>
          <a:xfrm>
            <a:off x="777240" y="162756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ítulo: O que os resultados sustentam"/>
          <p:cNvSpPr/>
          <p:nvPr/>
        </p:nvSpPr>
        <p:spPr>
          <a:xfrm>
            <a:off x="150876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os resultados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Itens: O que os resultados sustentam"/>
          <p:cNvSpPr/>
          <p:nvPr/>
        </p:nvSpPr>
        <p:spPr>
          <a:xfrm>
            <a:off x="82296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Aumento generalizado das taxas medidas de rotatividade ocupacional, em todas as faixas de exposição.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Gradiente condicional detectável: +2,19 p.p. por unidade de AIOE na transição para ocupação menos exposta.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Nas margens de vínculo, sinal oposto ao da leitura alarmista.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oluna: O que não sustentam"/>
          <p:cNvSpPr/>
          <p:nvPr/>
        </p:nvSpPr>
        <p:spPr>
          <a:xfrm>
            <a:off x="623160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Marca: O que não sustentam"/>
          <p:cNvSpPr/>
          <p:nvPr/>
        </p:nvSpPr>
        <p:spPr>
          <a:xfrm>
            <a:off x="6460200" y="1627560"/>
            <a:ext cx="548280" cy="548280"/>
          </a:xfrm>
          <a:prstGeom prst="ellipse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ítulo: O que não sustentam"/>
          <p:cNvSpPr/>
          <p:nvPr/>
        </p:nvSpPr>
        <p:spPr>
          <a:xfrm>
            <a:off x="719172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não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Itens: O que não sustentam"/>
          <p:cNvSpPr/>
          <p:nvPr/>
        </p:nvSpPr>
        <p:spPr>
          <a:xfrm>
            <a:off x="650592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Efeito causal: cenário único, sem estudo de evento nem teste de tendências pré-marco.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Adoção de IA: o tratamento é exposição potencial, num marco único e nacional.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Estabilidade da medida: a mudança de ocupação (3 dígitos) cai de 30,0% em 2019T4 para 15,3% em 2020T1 e volta a 34,3% em 2021T4.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Seleção longitudinal e horizonte maior que um trimestre.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sldNum" idx="15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FEDDE2-2B21-4330-AF5D-F6114E1AD3A8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Mudou a direção, não o vínculo; a causa segue em aberto</a:t>
            </a:r>
            <a:endParaRPr lang="pt-BR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35" name="Carta: Resolução"/>
          <p:cNvSpPr/>
          <p:nvPr/>
        </p:nvSpPr>
        <p:spPr>
          <a:xfrm>
            <a:off x="548640" y="1371600"/>
            <a:ext cx="5257440" cy="41144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ótulo"/>
          <p:cNvSpPr/>
          <p:nvPr/>
        </p:nvSpPr>
        <p:spPr>
          <a:xfrm>
            <a:off x="777240" y="15361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RESOLUÇÃO · A RESPOSTA EM TRÊS NÍVEIS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Marca: Descritivo"/>
          <p:cNvSpPr/>
          <p:nvPr/>
        </p:nvSpPr>
        <p:spPr>
          <a:xfrm>
            <a:off x="777240" y="214884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o: Descritivo"/>
          <p:cNvSpPr/>
          <p:nvPr/>
        </p:nvSpPr>
        <p:spPr>
          <a:xfrm>
            <a:off x="1508760" y="192024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Descritivo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para todos, e não só para os mais expostos.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Marca: Associação condicional"/>
          <p:cNvSpPr/>
          <p:nvPr/>
        </p:nvSpPr>
        <p:spPr>
          <a:xfrm>
            <a:off x="777240" y="331920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o: Associação condicional"/>
          <p:cNvSpPr/>
          <p:nvPr/>
        </p:nvSpPr>
        <p:spPr>
          <a:xfrm>
            <a:off x="1508760" y="309060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Associação condicional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Gradiente detectável, da ordem de 2 p.p. por unidade de AIOE. Vínculo sem deterioração.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Marca: Causal"/>
          <p:cNvSpPr/>
          <p:nvPr/>
        </p:nvSpPr>
        <p:spPr>
          <a:xfrm>
            <a:off x="777240" y="4489560"/>
            <a:ext cx="548280" cy="54828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o: Causal"/>
          <p:cNvSpPr/>
          <p:nvPr/>
        </p:nvSpPr>
        <p:spPr>
          <a:xfrm>
            <a:off x="1508760" y="426096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Causal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desenho atual não sustenta a afirmação.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ótulo"/>
          <p:cNvSpPr/>
          <p:nvPr/>
        </p:nvSpPr>
        <p:spPr>
          <a:xfrm>
            <a:off x="6217920" y="1371600"/>
            <a:ext cx="5421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AGENDA, EM ORDEM DE PRIORIDADE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Passo 1"/>
          <p:cNvSpPr/>
          <p:nvPr/>
        </p:nvSpPr>
        <p:spPr>
          <a:xfrm>
            <a:off x="6217920" y="17920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1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asso 1 (texto)"/>
          <p:cNvSpPr/>
          <p:nvPr/>
        </p:nvSpPr>
        <p:spPr>
          <a:xfrm>
            <a:off x="6858000" y="173736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Tratar a quebra de medida de 2020 e 2021 e definir a janela homogênea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Passo 2"/>
          <p:cNvSpPr/>
          <p:nvPr/>
        </p:nvSpPr>
        <p:spPr>
          <a:xfrm>
            <a:off x="6217920" y="256032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2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asso 2 (texto)"/>
          <p:cNvSpPr/>
          <p:nvPr/>
        </p:nvSpPr>
        <p:spPr>
          <a:xfrm>
            <a:off x="6858000" y="2505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Estudo de evento e teste de tendências anteriores ao marco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asso 3"/>
          <p:cNvSpPr/>
          <p:nvPr/>
        </p:nvSpPr>
        <p:spPr>
          <a:xfrm>
            <a:off x="6217920" y="332856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asso 3 (texto)"/>
          <p:cNvSpPr/>
          <p:nvPr/>
        </p:nvSpPr>
        <p:spPr>
          <a:xfrm>
            <a:off x="6858000" y="327348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Bateria de sensibilidade: janelas, agrupamento, tendência por exposição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Passo 4"/>
          <p:cNvSpPr/>
          <p:nvPr/>
        </p:nvSpPr>
        <p:spPr>
          <a:xfrm>
            <a:off x="6217920" y="409644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4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asso 4 (texto)"/>
          <p:cNvSpPr/>
          <p:nvPr/>
        </p:nvSpPr>
        <p:spPr>
          <a:xfrm>
            <a:off x="6858000" y="404172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Medida específica para modelos de linguagem e placebo com teletrabalho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Passo 5"/>
          <p:cNvSpPr/>
          <p:nvPr/>
        </p:nvSpPr>
        <p:spPr>
          <a:xfrm>
            <a:off x="6217920" y="48646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5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asso 5 (texto)"/>
          <p:cNvSpPr/>
          <p:nvPr/>
        </p:nvSpPr>
        <p:spPr>
          <a:xfrm>
            <a:off x="6858000" y="4809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Tendências não paralelas e estimadores para tratamento contínuo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Extensões"/>
          <p:cNvSpPr/>
          <p:nvPr/>
        </p:nvSpPr>
        <p:spPr>
          <a:xfrm>
            <a:off x="6217920" y="5596200"/>
            <a:ext cx="5421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Extensões, por último: rendimentos, dimensão regional e margem de entrada no mercado de trabalho.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Agradecimento"/>
          <p:cNvSpPr/>
          <p:nvPr/>
        </p:nvSpPr>
        <p:spPr>
          <a:xfrm>
            <a:off x="548640" y="5669280"/>
            <a:ext cx="5257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Obrigado. Perguntas?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l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1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6FED65-26FD-4C7B-89C6-59CFFF2119B2}" type="slidenum">
              <a: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LibreOffice/26.2.6.3$Windows_X86_64 LibreOffice_project/8221e31b3ac356a1623c672912a3d2b492f7e3d1</Application>
  <AppVersion>15.0000</AppVersion>
  <Words>0</Words>
  <Paragraphs>0</Paragraphs>
  <Company>IDP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2026-10-12T12:15:56Z</dcterms:created>
  <dc:creator>Ricardo Carvalho</dc:creator>
  <dc:description/>
  <dc:language>pt-BR</dc:language>
  <cp:lastModifiedBy/>
  <dcterms:modified xsi:type="dcterms:W3CDTF">2026-10-12T15:15:35Z</dcterms:modified>
  <cp:revision>55</cp:revision>
  <dc:subject>Apresentação da dissertação de mestrado, resultados preliminares</dc:subject>
  <dc:title>Exposição ocupacional à inteligência artificial e transições no mercado de trabalho brasileiro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